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48"/>
  </p:notesMasterIdLst>
  <p:handoutMasterIdLst>
    <p:handoutMasterId r:id="rId49"/>
  </p:handoutMasterIdLst>
  <p:sldIdLst>
    <p:sldId id="275" r:id="rId2"/>
    <p:sldId id="276" r:id="rId3"/>
    <p:sldId id="257" r:id="rId4"/>
    <p:sldId id="265" r:id="rId5"/>
    <p:sldId id="281" r:id="rId6"/>
    <p:sldId id="279" r:id="rId7"/>
    <p:sldId id="277" r:id="rId8"/>
    <p:sldId id="261" r:id="rId9"/>
    <p:sldId id="285" r:id="rId10"/>
    <p:sldId id="266" r:id="rId11"/>
    <p:sldId id="289" r:id="rId12"/>
    <p:sldId id="290" r:id="rId13"/>
    <p:sldId id="270" r:id="rId14"/>
    <p:sldId id="291" r:id="rId15"/>
    <p:sldId id="294" r:id="rId16"/>
    <p:sldId id="296" r:id="rId17"/>
    <p:sldId id="297" r:id="rId18"/>
    <p:sldId id="298" r:id="rId19"/>
    <p:sldId id="299" r:id="rId20"/>
    <p:sldId id="300" r:id="rId21"/>
    <p:sldId id="301" r:id="rId22"/>
    <p:sldId id="302" r:id="rId23"/>
    <p:sldId id="303" r:id="rId24"/>
    <p:sldId id="304" r:id="rId25"/>
    <p:sldId id="305" r:id="rId26"/>
    <p:sldId id="306" r:id="rId27"/>
    <p:sldId id="307" r:id="rId28"/>
    <p:sldId id="308" r:id="rId29"/>
    <p:sldId id="309" r:id="rId30"/>
    <p:sldId id="310" r:id="rId31"/>
    <p:sldId id="311" r:id="rId32"/>
    <p:sldId id="312" r:id="rId33"/>
    <p:sldId id="313" r:id="rId34"/>
    <p:sldId id="314" r:id="rId35"/>
    <p:sldId id="315" r:id="rId36"/>
    <p:sldId id="316" r:id="rId37"/>
    <p:sldId id="271" r:id="rId38"/>
    <p:sldId id="319" r:id="rId39"/>
    <p:sldId id="320" r:id="rId40"/>
    <p:sldId id="321" r:id="rId41"/>
    <p:sldId id="322" r:id="rId42"/>
    <p:sldId id="323" r:id="rId43"/>
    <p:sldId id="324" r:id="rId44"/>
    <p:sldId id="272" r:id="rId45"/>
    <p:sldId id="325" r:id="rId46"/>
    <p:sldId id="269" r:id="rId4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F5050"/>
    <a:srgbClr val="0084BD"/>
    <a:srgbClr val="BC05B7"/>
    <a:srgbClr val="FF5757"/>
    <a:srgbClr val="00A5F1"/>
    <a:srgbClr val="00FE00"/>
    <a:srgbClr val="EC907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0160" autoAdjust="0"/>
    <p:restoredTop sz="94660"/>
  </p:normalViewPr>
  <p:slideViewPr>
    <p:cSldViewPr snapToGrid="0">
      <p:cViewPr varScale="1">
        <p:scale>
          <a:sx n="112" d="100"/>
          <a:sy n="112" d="100"/>
        </p:scale>
        <p:origin x="80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10/29/25</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10/29/25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9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C5DD3B49-F775-49FC-ACAD-45B074D1C945}"/>
              </a:ext>
            </a:extLst>
          </p:cNvPr>
          <p:cNvSpPr>
            <a:spLocks noGrp="1"/>
          </p:cNvSpPr>
          <p:nvPr>
            <p:ph type="title" hasCustomPrompt="1"/>
          </p:nvPr>
        </p:nvSpPr>
        <p:spPr>
          <a:xfrm>
            <a:off x="2380488" y="2365248"/>
            <a:ext cx="4383024" cy="2127504"/>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678804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10/29/25</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10/29/25</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 ………………………………………</a:t>
            </a:r>
          </a:p>
        </p:txBody>
      </p:sp>
    </p:spTree>
    <p:extLst>
      <p:ext uri="{BB962C8B-B14F-4D97-AF65-F5344CB8AC3E}">
        <p14:creationId xmlns:p14="http://schemas.microsoft.com/office/powerpoint/2010/main" val="314880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10/29/25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7985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10/29/25</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10/29/25</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938540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10/29/25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10/29/25</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1629018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10/29/25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10/29/25</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83" r:id="rId7"/>
    <p:sldLayoutId id="2147483679" r:id="rId8"/>
    <p:sldLayoutId id="2147483680" r:id="rId9"/>
    <p:sldLayoutId id="2147483681" r:id="rId10"/>
    <p:sldLayoutId id="2147483682" r:id="rId11"/>
    <p:sldLayoutId id="2147483678"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png"/><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8.png"/><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9.xml"/><Relationship Id="rId5" Type="http://schemas.openxmlformats.org/officeDocument/2006/relationships/image" Target="../media/image33.svg"/><Relationship Id="rId4" Type="http://schemas.openxmlformats.org/officeDocument/2006/relationships/image" Target="../media/image32.png"/></Relationships>
</file>

<file path=ppt/slides/_rels/slide45.xml.rels><?xml version="1.0" encoding="UTF-8" standalone="yes"?>
<Relationships xmlns="http://schemas.openxmlformats.org/package/2006/relationships"><Relationship Id="rId3" Type="http://schemas.openxmlformats.org/officeDocument/2006/relationships/hyperlink" Target="https://www.programiz.com/dsa/red-black-tree" TargetMode="External"/><Relationship Id="rId2" Type="http://schemas.openxmlformats.org/officeDocument/2006/relationships/hyperlink" Target="https://visualgo.net/en" TargetMode="External"/><Relationship Id="rId1" Type="http://schemas.openxmlformats.org/officeDocument/2006/relationships/slideLayout" Target="../slideLayouts/slideLayout8.xml"/><Relationship Id="rId4" Type="http://schemas.openxmlformats.org/officeDocument/2006/relationships/hyperlink" Target="https://en.wikipedia.org/wiki/Red%E2%80%93black_tree"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2086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A3716-1A4C-0838-86B6-64CAAF77DF5B}"/>
              </a:ext>
            </a:extLst>
          </p:cNvPr>
          <p:cNvSpPr>
            <a:spLocks noGrp="1"/>
          </p:cNvSpPr>
          <p:nvPr>
            <p:ph type="title"/>
          </p:nvPr>
        </p:nvSpPr>
        <p:spPr>
          <a:xfrm>
            <a:off x="1586293" y="2365248"/>
            <a:ext cx="5971413" cy="1015245"/>
          </a:xfrm>
        </p:spPr>
        <p:txBody>
          <a:bodyPr/>
          <a:lstStyle/>
          <a:p>
            <a:r>
              <a:rPr lang="en-US" sz="6000" dirty="0"/>
              <a:t>PROJECT 1</a:t>
            </a:r>
          </a:p>
        </p:txBody>
      </p:sp>
      <p:sp>
        <p:nvSpPr>
          <p:cNvPr id="4" name="Title 6">
            <a:extLst>
              <a:ext uri="{FF2B5EF4-FFF2-40B4-BE49-F238E27FC236}">
                <a16:creationId xmlns:a16="http://schemas.microsoft.com/office/drawing/2014/main" id="{536A040F-06B6-E9F0-937F-1EA1B0206C25}"/>
              </a:ext>
            </a:extLst>
          </p:cNvPr>
          <p:cNvSpPr txBox="1">
            <a:spLocks/>
          </p:cNvSpPr>
          <p:nvPr/>
        </p:nvSpPr>
        <p:spPr>
          <a:xfrm>
            <a:off x="2575758" y="3477508"/>
            <a:ext cx="4981948" cy="1301558"/>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000" b="0" dirty="0">
                <a:solidFill>
                  <a:schemeClr val="bg1"/>
                </a:solidFill>
              </a:rPr>
              <a:t>GVHD: PGS.TS. </a:t>
            </a:r>
            <a:r>
              <a:rPr lang="en-US" sz="2000" b="0" dirty="0" err="1">
                <a:solidFill>
                  <a:schemeClr val="bg1"/>
                </a:solidFill>
              </a:rPr>
              <a:t>Nguyễn</a:t>
            </a:r>
            <a:r>
              <a:rPr lang="en-US" sz="2000" b="0" dirty="0">
                <a:solidFill>
                  <a:schemeClr val="bg1"/>
                </a:solidFill>
              </a:rPr>
              <a:t> </a:t>
            </a:r>
            <a:r>
              <a:rPr lang="en-US" sz="2000" b="0" dirty="0" err="1">
                <a:solidFill>
                  <a:schemeClr val="bg1"/>
                </a:solidFill>
              </a:rPr>
              <a:t>Khanh</a:t>
            </a:r>
            <a:r>
              <a:rPr lang="en-US" sz="2000" b="0" dirty="0">
                <a:solidFill>
                  <a:schemeClr val="bg1"/>
                </a:solidFill>
              </a:rPr>
              <a:t> </a:t>
            </a:r>
            <a:r>
              <a:rPr lang="en-US" sz="2000" b="0" dirty="0" err="1">
                <a:solidFill>
                  <a:schemeClr val="bg1"/>
                </a:solidFill>
              </a:rPr>
              <a:t>Văn</a:t>
            </a:r>
            <a:endParaRPr lang="en-US" sz="2000" b="0" dirty="0">
              <a:solidFill>
                <a:schemeClr val="bg1"/>
              </a:solidFill>
            </a:endParaRPr>
          </a:p>
          <a:p>
            <a:r>
              <a:rPr lang="en-US" sz="2000" b="0" dirty="0" err="1">
                <a:solidFill>
                  <a:schemeClr val="bg1"/>
                </a:solidFill>
              </a:rPr>
              <a:t>Họ</a:t>
            </a:r>
            <a:r>
              <a:rPr lang="en-US" sz="2000" b="0" dirty="0">
                <a:solidFill>
                  <a:schemeClr val="bg1"/>
                </a:solidFill>
              </a:rPr>
              <a:t> &amp; </a:t>
            </a:r>
            <a:r>
              <a:rPr lang="en-US" sz="2000" b="0" dirty="0" err="1">
                <a:solidFill>
                  <a:schemeClr val="bg1"/>
                </a:solidFill>
              </a:rPr>
              <a:t>Tên</a:t>
            </a:r>
            <a:r>
              <a:rPr lang="en-US" sz="2000" b="0" dirty="0">
                <a:solidFill>
                  <a:schemeClr val="bg1"/>
                </a:solidFill>
              </a:rPr>
              <a:t>: </a:t>
            </a:r>
            <a:r>
              <a:rPr lang="en-US" sz="2000" b="0" dirty="0" err="1">
                <a:solidFill>
                  <a:schemeClr val="bg1"/>
                </a:solidFill>
              </a:rPr>
              <a:t>Lộc</a:t>
            </a:r>
            <a:r>
              <a:rPr lang="en-US" sz="2000" b="0" dirty="0">
                <a:solidFill>
                  <a:schemeClr val="bg1"/>
                </a:solidFill>
              </a:rPr>
              <a:t> </a:t>
            </a:r>
            <a:r>
              <a:rPr lang="en-US" sz="2000" b="0" dirty="0" err="1">
                <a:solidFill>
                  <a:schemeClr val="bg1"/>
                </a:solidFill>
              </a:rPr>
              <a:t>Thị</a:t>
            </a:r>
            <a:r>
              <a:rPr lang="en-US" sz="2000" b="0" dirty="0">
                <a:solidFill>
                  <a:schemeClr val="bg1"/>
                </a:solidFill>
              </a:rPr>
              <a:t> </a:t>
            </a:r>
            <a:r>
              <a:rPr lang="en-US" sz="2000" b="0" dirty="0" err="1">
                <a:solidFill>
                  <a:schemeClr val="bg1"/>
                </a:solidFill>
              </a:rPr>
              <a:t>Vân</a:t>
            </a:r>
            <a:r>
              <a:rPr lang="en-US" sz="2000" b="0" dirty="0">
                <a:solidFill>
                  <a:schemeClr val="bg1"/>
                </a:solidFill>
              </a:rPr>
              <a:t> Anh</a:t>
            </a:r>
          </a:p>
          <a:p>
            <a:r>
              <a:rPr lang="en-US" sz="2000" b="0" dirty="0">
                <a:solidFill>
                  <a:schemeClr val="bg1"/>
                </a:solidFill>
              </a:rPr>
              <a:t>MSSV: 20215523</a:t>
            </a:r>
          </a:p>
          <a:p>
            <a:endParaRPr lang="en-US" sz="2000" b="0" dirty="0">
              <a:solidFill>
                <a:schemeClr val="bg1"/>
              </a:solidFill>
            </a:endParaRPr>
          </a:p>
          <a:p>
            <a:endParaRPr lang="en-US" sz="2000" b="0" dirty="0">
              <a:solidFill>
                <a:schemeClr val="bg1"/>
              </a:solidFill>
            </a:endParaRPr>
          </a:p>
          <a:p>
            <a:endParaRPr lang="en-US" sz="2000" b="0" dirty="0">
              <a:solidFill>
                <a:schemeClr val="bg1"/>
              </a:solidFill>
            </a:endParaRPr>
          </a:p>
        </p:txBody>
      </p:sp>
    </p:spTree>
    <p:extLst>
      <p:ext uri="{BB962C8B-B14F-4D97-AF65-F5344CB8AC3E}">
        <p14:creationId xmlns:p14="http://schemas.microsoft.com/office/powerpoint/2010/main" val="945003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584462" y="1938203"/>
            <a:ext cx="6273538"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dirty="0"/>
              <a:t>RED - BLACK TREE</a:t>
            </a:r>
          </a:p>
        </p:txBody>
      </p:sp>
      <p:sp>
        <p:nvSpPr>
          <p:cNvPr id="3" name="TextBox 2">
            <a:extLst>
              <a:ext uri="{FF2B5EF4-FFF2-40B4-BE49-F238E27FC236}">
                <a16:creationId xmlns:a16="http://schemas.microsoft.com/office/drawing/2014/main" id="{C1741901-9E80-9701-DBEF-B9C6EC025BCD}"/>
              </a:ext>
            </a:extLst>
          </p:cNvPr>
          <p:cNvSpPr txBox="1"/>
          <p:nvPr/>
        </p:nvSpPr>
        <p:spPr>
          <a:xfrm>
            <a:off x="584462" y="2602775"/>
            <a:ext cx="7348724" cy="276999"/>
          </a:xfrm>
          <a:prstGeom prst="rect">
            <a:avLst/>
          </a:prstGeom>
          <a:noFill/>
        </p:spPr>
        <p:txBody>
          <a:bodyPr wrap="square" rtlCol="0">
            <a:spAutoFit/>
          </a:bodyPr>
          <a:lstStyle/>
          <a:p>
            <a:r>
              <a:rPr lang="en-US" sz="1200" i="1" dirty="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a:t>
            </a:r>
            <a:r>
              <a:rPr lang="en-US" sz="1200" i="1" dirty="0" err="1">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cấu</a:t>
            </a:r>
            <a:r>
              <a:rPr lang="en-US" sz="1200" i="1" dirty="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 </a:t>
            </a:r>
            <a:r>
              <a:rPr lang="en-US" sz="1200" i="1" dirty="0" err="1">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trúc</a:t>
            </a:r>
            <a:r>
              <a:rPr lang="en-US" sz="1200" i="1" dirty="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 </a:t>
            </a:r>
            <a:r>
              <a:rPr lang="en-US" sz="1200" i="1" dirty="0" err="1">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dữ</a:t>
            </a:r>
            <a:r>
              <a:rPr lang="en-US" sz="1200" i="1" dirty="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 </a:t>
            </a:r>
            <a:r>
              <a:rPr lang="en-US" sz="1200" i="1" dirty="0" err="1">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liệu</a:t>
            </a:r>
            <a:r>
              <a:rPr lang="en-US" sz="1200" i="1" dirty="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 </a:t>
            </a:r>
            <a:r>
              <a:rPr lang="en-US" sz="1200" i="1" dirty="0" err="1">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cân</a:t>
            </a:r>
            <a:r>
              <a:rPr lang="en-US" sz="1200" i="1" dirty="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 </a:t>
            </a:r>
            <a:r>
              <a:rPr lang="en-US" sz="1200" i="1" dirty="0" err="1">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bằng</a:t>
            </a:r>
            <a:r>
              <a:rPr lang="en-US" sz="1200" i="1" dirty="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 </a:t>
            </a:r>
            <a:r>
              <a:rPr lang="en-US" sz="1200" i="1" dirty="0" err="1">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quan</a:t>
            </a:r>
            <a:r>
              <a:rPr lang="en-US" sz="1200" i="1" dirty="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 </a:t>
            </a:r>
            <a:r>
              <a:rPr lang="en-US" sz="1200" i="1" dirty="0" err="1">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trọng</a:t>
            </a:r>
            <a:r>
              <a:rPr lang="en-US" sz="1200" i="1" dirty="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 </a:t>
            </a:r>
            <a:r>
              <a:rPr lang="en-US" sz="1200" i="1" dirty="0" err="1">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trong</a:t>
            </a:r>
            <a:r>
              <a:rPr lang="en-US" sz="1200" i="1" dirty="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 khoa </a:t>
            </a:r>
            <a:r>
              <a:rPr lang="en-US" sz="1200" i="1" dirty="0" err="1">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học</a:t>
            </a:r>
            <a:r>
              <a:rPr lang="en-US" sz="1200" i="1" dirty="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 </a:t>
            </a:r>
            <a:r>
              <a:rPr lang="en-US" sz="1200" i="1" dirty="0" err="1">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máy</a:t>
            </a:r>
            <a:r>
              <a:rPr lang="en-US" sz="1200" i="1" dirty="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 </a:t>
            </a:r>
            <a:r>
              <a:rPr lang="en-US" sz="1200" i="1" dirty="0" err="1">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tính</a:t>
            </a:r>
            <a:r>
              <a:rPr lang="en-US" sz="1200" i="1" dirty="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 </a:t>
            </a:r>
            <a:r>
              <a:rPr lang="en-US" sz="1200" i="1" dirty="0" err="1">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giúp</a:t>
            </a:r>
            <a:r>
              <a:rPr lang="en-US" sz="1200" i="1" dirty="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 </a:t>
            </a:r>
            <a:r>
              <a:rPr lang="en-US" sz="1200" i="1" dirty="0" err="1">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tăng</a:t>
            </a:r>
            <a:r>
              <a:rPr lang="en-US" sz="1200" i="1" dirty="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 </a:t>
            </a:r>
            <a:r>
              <a:rPr lang="en-US" sz="1200" i="1" dirty="0" err="1">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tốc</a:t>
            </a:r>
            <a:r>
              <a:rPr lang="en-US" sz="1200" i="1" dirty="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 </a:t>
            </a:r>
            <a:r>
              <a:rPr lang="en-US" sz="1200" i="1" dirty="0" err="1">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các</a:t>
            </a:r>
            <a:r>
              <a:rPr lang="en-US" sz="1200" i="1" dirty="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 </a:t>
            </a:r>
            <a:r>
              <a:rPr lang="en-US" sz="1200" i="1" dirty="0" err="1">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thao</a:t>
            </a:r>
            <a:r>
              <a:rPr lang="en-US" sz="1200" i="1" dirty="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 </a:t>
            </a:r>
            <a:r>
              <a:rPr lang="en-US" sz="1200" i="1" dirty="0" err="1">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tác</a:t>
            </a:r>
            <a:r>
              <a:rPr lang="en-US" sz="1200" i="1" dirty="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 </a:t>
            </a:r>
            <a:r>
              <a:rPr lang="en-US" sz="1200" i="1" dirty="0" err="1">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tìm</a:t>
            </a:r>
            <a:r>
              <a:rPr lang="en-US" sz="1200" i="1" dirty="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 </a:t>
            </a:r>
            <a:r>
              <a:rPr lang="en-US" sz="1200" i="1" dirty="0" err="1">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kiếm</a:t>
            </a:r>
            <a:r>
              <a:rPr lang="en-US" sz="1200" i="1" dirty="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 </a:t>
            </a:r>
            <a:r>
              <a:rPr lang="en-US" sz="1200" i="1" dirty="0" err="1">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chèn</a:t>
            </a:r>
            <a:r>
              <a:rPr lang="en-US" sz="1200" i="1" dirty="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 </a:t>
            </a:r>
            <a:r>
              <a:rPr lang="en-US" sz="1200" i="1" dirty="0" err="1">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và</a:t>
            </a:r>
            <a:r>
              <a:rPr lang="en-US" sz="1200" i="1" dirty="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 </a:t>
            </a:r>
            <a:r>
              <a:rPr lang="en-US" sz="1200" i="1" dirty="0" err="1">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xóa</a:t>
            </a:r>
            <a:r>
              <a:rPr lang="en-US" sz="1200" i="1" dirty="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a:t>
            </a:r>
            <a:endParaRPr lang="en-VN" sz="1200" i="1" dirty="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endParaRPr>
          </a:p>
        </p:txBody>
      </p:sp>
      <p:sp>
        <p:nvSpPr>
          <p:cNvPr id="5" name="TextBox 4">
            <a:extLst>
              <a:ext uri="{FF2B5EF4-FFF2-40B4-BE49-F238E27FC236}">
                <a16:creationId xmlns:a16="http://schemas.microsoft.com/office/drawing/2014/main" id="{C47EF70A-8096-FF2E-9C02-48D2E0C66A54}"/>
              </a:ext>
            </a:extLst>
          </p:cNvPr>
          <p:cNvSpPr txBox="1"/>
          <p:nvPr/>
        </p:nvSpPr>
        <p:spPr>
          <a:xfrm>
            <a:off x="765810" y="2962564"/>
            <a:ext cx="3897630" cy="1754326"/>
          </a:xfrm>
          <a:prstGeom prst="rect">
            <a:avLst/>
          </a:prstGeom>
          <a:noFill/>
        </p:spPr>
        <p:txBody>
          <a:bodyPr wrap="square" rtlCol="0">
            <a:spAutoFit/>
          </a:bodyPr>
          <a:lstStyle/>
          <a:p>
            <a:pPr marL="342900" indent="-342900">
              <a:buAutoNum type="arabicPeriod"/>
            </a:pPr>
            <a:r>
              <a:rPr lang="en-VN" b="1" dirty="0">
                <a:solidFill>
                  <a:srgbClr val="C00000"/>
                </a:solidFill>
                <a:latin typeface="Lato" panose="020F0502020204030203" pitchFamily="34" charset="0"/>
                <a:ea typeface="Lato" panose="020F0502020204030203" pitchFamily="34" charset="0"/>
                <a:cs typeface="Lato" panose="020F0502020204030203" pitchFamily="34" charset="0"/>
              </a:rPr>
              <a:t>ĐẶT VẤN ĐỀ</a:t>
            </a:r>
          </a:p>
          <a:p>
            <a:pPr marL="342900" indent="-342900">
              <a:buAutoNum type="arabicPeriod"/>
            </a:pPr>
            <a:r>
              <a:rPr lang="en-VN" b="1" dirty="0">
                <a:solidFill>
                  <a:srgbClr val="C00000"/>
                </a:solidFill>
                <a:latin typeface="Lato" panose="020F0502020204030203" pitchFamily="34" charset="0"/>
                <a:ea typeface="Lato" panose="020F0502020204030203" pitchFamily="34" charset="0"/>
                <a:cs typeface="Lato" panose="020F0502020204030203" pitchFamily="34" charset="0"/>
              </a:rPr>
              <a:t>ĐỊNH NGHĨA VỀ CÂY ĐỎ ĐEN</a:t>
            </a:r>
          </a:p>
          <a:p>
            <a:pPr marL="342900" indent="-342900">
              <a:buAutoNum type="arabicPeriod"/>
            </a:pPr>
            <a:r>
              <a:rPr lang="en-VN" b="1" dirty="0">
                <a:solidFill>
                  <a:srgbClr val="C00000"/>
                </a:solidFill>
                <a:latin typeface="Lato" panose="020F0502020204030203" pitchFamily="34" charset="0"/>
                <a:ea typeface="Lato" panose="020F0502020204030203" pitchFamily="34" charset="0"/>
                <a:cs typeface="Lato" panose="020F0502020204030203" pitchFamily="34" charset="0"/>
              </a:rPr>
              <a:t>CẤU TRÚC VÀ TÍNH CHẤT</a:t>
            </a:r>
          </a:p>
          <a:p>
            <a:pPr marL="342900" indent="-342900">
              <a:buAutoNum type="arabicPeriod"/>
            </a:pPr>
            <a:r>
              <a:rPr lang="en-VN" b="1" dirty="0">
                <a:solidFill>
                  <a:srgbClr val="C00000"/>
                </a:solidFill>
                <a:latin typeface="Lato" panose="020F0502020204030203" pitchFamily="34" charset="0"/>
                <a:ea typeface="Lato" panose="020F0502020204030203" pitchFamily="34" charset="0"/>
                <a:cs typeface="Lato" panose="020F0502020204030203" pitchFamily="34" charset="0"/>
              </a:rPr>
              <a:t>THAO TÁC CƠ BẢN</a:t>
            </a:r>
          </a:p>
          <a:p>
            <a:pPr marL="342900" indent="-342900">
              <a:buAutoNum type="arabicPeriod"/>
            </a:pPr>
            <a:r>
              <a:rPr lang="en-VN" b="1" dirty="0">
                <a:solidFill>
                  <a:srgbClr val="C00000"/>
                </a:solidFill>
                <a:latin typeface="Lato" panose="020F0502020204030203" pitchFamily="34" charset="0"/>
                <a:ea typeface="Lato" panose="020F0502020204030203" pitchFamily="34" charset="0"/>
                <a:cs typeface="Lato" panose="020F0502020204030203" pitchFamily="34" charset="0"/>
              </a:rPr>
              <a:t>ỨNG DỤNG THỰC TẾ</a:t>
            </a:r>
          </a:p>
          <a:p>
            <a:pPr marL="342900" indent="-342900">
              <a:buAutoNum type="arabicPeriod"/>
            </a:pPr>
            <a:r>
              <a:rPr lang="en-VN" b="1" dirty="0">
                <a:solidFill>
                  <a:srgbClr val="C00000"/>
                </a:solidFill>
                <a:latin typeface="Lato" panose="020F0502020204030203" pitchFamily="34" charset="0"/>
                <a:ea typeface="Lato" panose="020F0502020204030203" pitchFamily="34" charset="0"/>
                <a:cs typeface="Lato" panose="020F0502020204030203" pitchFamily="34" charset="0"/>
              </a:rPr>
              <a:t>KẾT LUẬN</a:t>
            </a:r>
          </a:p>
        </p:txBody>
      </p:sp>
    </p:spTree>
    <p:extLst>
      <p:ext uri="{BB962C8B-B14F-4D97-AF65-F5344CB8AC3E}">
        <p14:creationId xmlns:p14="http://schemas.microsoft.com/office/powerpoint/2010/main" val="743172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4</a:t>
            </a:fld>
            <a:endParaRPr lang="en-US" dirty="0"/>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a:xfrm>
            <a:off x="235077" y="112903"/>
            <a:ext cx="8673846" cy="451739"/>
          </a:xfrm>
        </p:spPr>
        <p:txBody>
          <a:bodyPr/>
          <a:lstStyle/>
          <a:p>
            <a:r>
              <a:rPr lang="en-US" dirty="0"/>
              <a:t>ĐẶT VẤN ĐỀ</a:t>
            </a:r>
          </a:p>
        </p:txBody>
      </p:sp>
      <p:pic>
        <p:nvPicPr>
          <p:cNvPr id="19" name="Content Placeholder 18" descr="A diagram of a network&#10;&#10;Description automatically generated">
            <a:extLst>
              <a:ext uri="{FF2B5EF4-FFF2-40B4-BE49-F238E27FC236}">
                <a16:creationId xmlns:a16="http://schemas.microsoft.com/office/drawing/2014/main" id="{5CA67614-9A3C-363F-DCE4-ED9C2AC5D4E8}"/>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940560" y="1292815"/>
            <a:ext cx="6083300" cy="3771900"/>
          </a:xfrm>
        </p:spPr>
      </p:pic>
      <p:sp>
        <p:nvSpPr>
          <p:cNvPr id="20" name="TextBox 19">
            <a:extLst>
              <a:ext uri="{FF2B5EF4-FFF2-40B4-BE49-F238E27FC236}">
                <a16:creationId xmlns:a16="http://schemas.microsoft.com/office/drawing/2014/main" id="{DE3A8D82-F3F7-954A-28DB-42C90DE8D439}"/>
              </a:ext>
            </a:extLst>
          </p:cNvPr>
          <p:cNvSpPr txBox="1"/>
          <p:nvPr/>
        </p:nvSpPr>
        <p:spPr>
          <a:xfrm>
            <a:off x="969503" y="954261"/>
            <a:ext cx="5897880" cy="338554"/>
          </a:xfrm>
          <a:prstGeom prst="rect">
            <a:avLst/>
          </a:prstGeom>
          <a:noFill/>
        </p:spPr>
        <p:txBody>
          <a:bodyPr wrap="square" rtlCol="0">
            <a:spAutoFit/>
          </a:bodyPr>
          <a:lstStyle/>
          <a:p>
            <a:r>
              <a:rPr lang="en-VN" sz="1600" dirty="0">
                <a:latin typeface="Lato" panose="020F0502020204030203" pitchFamily="34" charset="0"/>
                <a:ea typeface="Lato" panose="020F0502020204030203" pitchFamily="34" charset="0"/>
                <a:cs typeface="Lato" panose="020F0502020204030203" pitchFamily="34" charset="0"/>
              </a:rPr>
              <a:t>- CÂY NHỊ PHÂN?</a:t>
            </a:r>
          </a:p>
        </p:txBody>
      </p:sp>
      <p:sp>
        <p:nvSpPr>
          <p:cNvPr id="22" name="TextBox 21">
            <a:extLst>
              <a:ext uri="{FF2B5EF4-FFF2-40B4-BE49-F238E27FC236}">
                <a16:creationId xmlns:a16="http://schemas.microsoft.com/office/drawing/2014/main" id="{05227D4D-072F-B0FD-92C8-07BCD3AAD5F1}"/>
              </a:ext>
            </a:extLst>
          </p:cNvPr>
          <p:cNvSpPr txBox="1"/>
          <p:nvPr/>
        </p:nvSpPr>
        <p:spPr>
          <a:xfrm>
            <a:off x="5212080" y="4930778"/>
            <a:ext cx="2811780" cy="369332"/>
          </a:xfrm>
          <a:prstGeom prst="rect">
            <a:avLst/>
          </a:prstGeom>
          <a:noFill/>
        </p:spPr>
        <p:txBody>
          <a:bodyPr wrap="square" rtlCol="0">
            <a:spAutoFit/>
          </a:bodyPr>
          <a:lstStyle/>
          <a:p>
            <a:r>
              <a:rPr lang="en-VN" i="1" dirty="0">
                <a:solidFill>
                  <a:srgbClr val="C00000"/>
                </a:solidFill>
                <a:latin typeface="Lato" panose="020F0502020204030203" pitchFamily="34" charset="0"/>
                <a:ea typeface="Lato" panose="020F0502020204030203" pitchFamily="34" charset="0"/>
                <a:cs typeface="Lato" panose="020F0502020204030203" pitchFamily="34" charset="0"/>
              </a:rPr>
              <a:t>Tối ưu hoá việc tìm kiếm? </a:t>
            </a:r>
          </a:p>
        </p:txBody>
      </p:sp>
      <p:pic>
        <p:nvPicPr>
          <p:cNvPr id="24" name="Picture 23" descr="A diagram of numbers and circles&#10;&#10;Description automatically generated">
            <a:extLst>
              <a:ext uri="{FF2B5EF4-FFF2-40B4-BE49-F238E27FC236}">
                <a16:creationId xmlns:a16="http://schemas.microsoft.com/office/drawing/2014/main" id="{271280E8-2ADA-381C-BBEB-D52607645E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28398" y="2578441"/>
            <a:ext cx="4102592" cy="3303375"/>
          </a:xfrm>
          <a:prstGeom prst="rect">
            <a:avLst/>
          </a:prstGeom>
        </p:spPr>
      </p:pic>
      <p:sp>
        <p:nvSpPr>
          <p:cNvPr id="4" name="TextBox 3">
            <a:extLst>
              <a:ext uri="{FF2B5EF4-FFF2-40B4-BE49-F238E27FC236}">
                <a16:creationId xmlns:a16="http://schemas.microsoft.com/office/drawing/2014/main" id="{31488111-318A-CDE9-8EE0-AA82BA94EEF7}"/>
              </a:ext>
            </a:extLst>
          </p:cNvPr>
          <p:cNvSpPr txBox="1"/>
          <p:nvPr/>
        </p:nvSpPr>
        <p:spPr>
          <a:xfrm>
            <a:off x="377190" y="1348442"/>
            <a:ext cx="3691890" cy="1077218"/>
          </a:xfrm>
          <a:prstGeom prst="rect">
            <a:avLst/>
          </a:prstGeom>
          <a:noFill/>
        </p:spPr>
        <p:txBody>
          <a:bodyPr wrap="square" rtlCol="0">
            <a:spAutoFit/>
          </a:bodyPr>
          <a:lstStyle/>
          <a:p>
            <a:pPr marL="285750" indent="-285750">
              <a:buFont typeface="Arial" panose="020B0604020202020204" pitchFamily="34" charset="0"/>
              <a:buChar char="•"/>
            </a:pPr>
            <a:r>
              <a:rPr lang="en-US" sz="1600" i="1" dirty="0" err="1">
                <a:latin typeface="Lato" panose="020F0502020204030203" pitchFamily="34" charset="0"/>
                <a:ea typeface="Lato" panose="020F0502020204030203" pitchFamily="34" charset="0"/>
                <a:cs typeface="Lato" panose="020F0502020204030203" pitchFamily="34" charset="0"/>
              </a:rPr>
              <a:t>tổ</a:t>
            </a:r>
            <a:r>
              <a:rPr lang="en-US" sz="1600" i="1" dirty="0">
                <a:latin typeface="Lato" panose="020F0502020204030203" pitchFamily="34" charset="0"/>
                <a:ea typeface="Lato" panose="020F0502020204030203" pitchFamily="34" charset="0"/>
                <a:cs typeface="Lato" panose="020F0502020204030203" pitchFamily="34" charset="0"/>
              </a:rPr>
              <a:t> </a:t>
            </a:r>
            <a:r>
              <a:rPr lang="en-US" sz="1600" i="1" dirty="0" err="1">
                <a:latin typeface="Lato" panose="020F0502020204030203" pitchFamily="34" charset="0"/>
                <a:ea typeface="Lato" panose="020F0502020204030203" pitchFamily="34" charset="0"/>
                <a:cs typeface="Lato" panose="020F0502020204030203" pitchFamily="34" charset="0"/>
              </a:rPr>
              <a:t>chức</a:t>
            </a:r>
            <a:r>
              <a:rPr lang="en-US" sz="1600" i="1" dirty="0">
                <a:latin typeface="Lato" panose="020F0502020204030203" pitchFamily="34" charset="0"/>
                <a:ea typeface="Lato" panose="020F0502020204030203" pitchFamily="34" charset="0"/>
                <a:cs typeface="Lato" panose="020F0502020204030203" pitchFamily="34" charset="0"/>
              </a:rPr>
              <a:t> </a:t>
            </a:r>
            <a:r>
              <a:rPr lang="en-US" sz="1600" i="1" dirty="0" err="1">
                <a:latin typeface="Lato" panose="020F0502020204030203" pitchFamily="34" charset="0"/>
                <a:ea typeface="Lato" panose="020F0502020204030203" pitchFamily="34" charset="0"/>
                <a:cs typeface="Lato" panose="020F0502020204030203" pitchFamily="34" charset="0"/>
              </a:rPr>
              <a:t>dữ</a:t>
            </a:r>
            <a:r>
              <a:rPr lang="en-US" sz="1600" i="1" dirty="0">
                <a:latin typeface="Lato" panose="020F0502020204030203" pitchFamily="34" charset="0"/>
                <a:ea typeface="Lato" panose="020F0502020204030203" pitchFamily="34" charset="0"/>
                <a:cs typeface="Lato" panose="020F0502020204030203" pitchFamily="34" charset="0"/>
              </a:rPr>
              <a:t> </a:t>
            </a:r>
            <a:r>
              <a:rPr lang="en-US" sz="1600" i="1" dirty="0" err="1">
                <a:latin typeface="Lato" panose="020F0502020204030203" pitchFamily="34" charset="0"/>
                <a:ea typeface="Lato" panose="020F0502020204030203" pitchFamily="34" charset="0"/>
                <a:cs typeface="Lato" panose="020F0502020204030203" pitchFamily="34" charset="0"/>
              </a:rPr>
              <a:t>liệu</a:t>
            </a:r>
            <a:r>
              <a:rPr lang="en-US" sz="1600" i="1" dirty="0">
                <a:latin typeface="Lato" panose="020F0502020204030203" pitchFamily="34" charset="0"/>
                <a:ea typeface="Lato" panose="020F0502020204030203" pitchFamily="34" charset="0"/>
                <a:cs typeface="Lato" panose="020F0502020204030203" pitchFamily="34" charset="0"/>
              </a:rPr>
              <a:t> </a:t>
            </a:r>
            <a:r>
              <a:rPr lang="en-US" sz="1600" i="1" dirty="0" err="1">
                <a:latin typeface="Lato" panose="020F0502020204030203" pitchFamily="34" charset="0"/>
                <a:ea typeface="Lato" panose="020F0502020204030203" pitchFamily="34" charset="0"/>
                <a:cs typeface="Lato" panose="020F0502020204030203" pitchFamily="34" charset="0"/>
              </a:rPr>
              <a:t>theo</a:t>
            </a:r>
            <a:r>
              <a:rPr lang="en-US" sz="1600" i="1" dirty="0">
                <a:latin typeface="Lato" panose="020F0502020204030203" pitchFamily="34" charset="0"/>
                <a:ea typeface="Lato" panose="020F0502020204030203" pitchFamily="34" charset="0"/>
                <a:cs typeface="Lato" panose="020F0502020204030203" pitchFamily="34" charset="0"/>
              </a:rPr>
              <a:t> </a:t>
            </a:r>
            <a:r>
              <a:rPr lang="en-US" sz="1600" i="1" dirty="0" err="1">
                <a:latin typeface="Lato" panose="020F0502020204030203" pitchFamily="34" charset="0"/>
                <a:ea typeface="Lato" panose="020F0502020204030203" pitchFamily="34" charset="0"/>
                <a:cs typeface="Lato" panose="020F0502020204030203" pitchFamily="34" charset="0"/>
              </a:rPr>
              <a:t>dạng</a:t>
            </a:r>
            <a:r>
              <a:rPr lang="en-US" sz="1600" i="1" dirty="0">
                <a:latin typeface="Lato" panose="020F0502020204030203" pitchFamily="34" charset="0"/>
                <a:ea typeface="Lato" panose="020F0502020204030203" pitchFamily="34" charset="0"/>
                <a:cs typeface="Lato" panose="020F0502020204030203" pitchFamily="34" charset="0"/>
              </a:rPr>
              <a:t> </a:t>
            </a:r>
            <a:r>
              <a:rPr lang="en-US" sz="1600" i="1" dirty="0" err="1">
                <a:latin typeface="Lato" panose="020F0502020204030203" pitchFamily="34" charset="0"/>
                <a:ea typeface="Lato" panose="020F0502020204030203" pitchFamily="34" charset="0"/>
                <a:cs typeface="Lato" panose="020F0502020204030203" pitchFamily="34" charset="0"/>
              </a:rPr>
              <a:t>phân</a:t>
            </a:r>
            <a:r>
              <a:rPr lang="en-US" sz="1600" i="1" dirty="0">
                <a:latin typeface="Lato" panose="020F0502020204030203" pitchFamily="34" charset="0"/>
                <a:ea typeface="Lato" panose="020F0502020204030203" pitchFamily="34" charset="0"/>
                <a:cs typeface="Lato" panose="020F0502020204030203" pitchFamily="34" charset="0"/>
              </a:rPr>
              <a:t> </a:t>
            </a:r>
            <a:r>
              <a:rPr lang="en-US" sz="1600" i="1" dirty="0" err="1">
                <a:latin typeface="Lato" panose="020F0502020204030203" pitchFamily="34" charset="0"/>
                <a:ea typeface="Lato" panose="020F0502020204030203" pitchFamily="34" charset="0"/>
                <a:cs typeface="Lato" panose="020F0502020204030203" pitchFamily="34" charset="0"/>
              </a:rPr>
              <a:t>cấp</a:t>
            </a:r>
            <a:endParaRPr lang="en-VN" sz="1600" i="1" dirty="0">
              <a:latin typeface="Lato" panose="020F0502020204030203" pitchFamily="34" charset="0"/>
              <a:ea typeface="Lato" panose="020F0502020204030203" pitchFamily="34" charset="0"/>
              <a:cs typeface="Lato" panose="020F0502020204030203" pitchFamily="34" charset="0"/>
            </a:endParaRPr>
          </a:p>
          <a:p>
            <a:pPr marL="285750" indent="-285750">
              <a:buFont typeface="Arial" panose="020B0604020202020204" pitchFamily="34" charset="0"/>
              <a:buChar char="•"/>
            </a:pPr>
            <a:r>
              <a:rPr lang="vi-VN" sz="1600" dirty="0"/>
              <a:t>nếu ta chỉ lưu trữ ngẫu nhiên, </a:t>
            </a:r>
            <a:r>
              <a:rPr lang="vi-VN" sz="1600" b="1" dirty="0"/>
              <a:t>thứ tự giữa các phần tử chưa được đảm bảo</a:t>
            </a:r>
            <a:endParaRPr lang="en-US" sz="1600" i="1"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92364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blinds(horizontal)">
                                      <p:cBhvr>
                                        <p:cTn id="1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5</a:t>
            </a:fld>
            <a:endParaRPr lang="en-US" dirty="0"/>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a:xfrm>
            <a:off x="235077" y="112903"/>
            <a:ext cx="8673846" cy="451739"/>
          </a:xfrm>
        </p:spPr>
        <p:txBody>
          <a:bodyPr/>
          <a:lstStyle/>
          <a:p>
            <a:r>
              <a:rPr lang="en-US" dirty="0"/>
              <a:t>ĐẶT VẤN ĐỀ</a:t>
            </a:r>
          </a:p>
        </p:txBody>
      </p:sp>
      <p:pic>
        <p:nvPicPr>
          <p:cNvPr id="19" name="Content Placeholder 18" descr="A diagram of a network&#10;&#10;Description automatically generated">
            <a:extLst>
              <a:ext uri="{FF2B5EF4-FFF2-40B4-BE49-F238E27FC236}">
                <a16:creationId xmlns:a16="http://schemas.microsoft.com/office/drawing/2014/main" id="{5CA67614-9A3C-363F-DCE4-ED9C2AC5D4E8}"/>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0" y="848232"/>
            <a:ext cx="3282584" cy="2035339"/>
          </a:xfrm>
        </p:spPr>
      </p:pic>
      <p:pic>
        <p:nvPicPr>
          <p:cNvPr id="7" name="Picture 6" descr="A diagram of numbers and circles&#10;&#10;Description automatically generated">
            <a:extLst>
              <a:ext uri="{FF2B5EF4-FFF2-40B4-BE49-F238E27FC236}">
                <a16:creationId xmlns:a16="http://schemas.microsoft.com/office/drawing/2014/main" id="{54BD2011-F2F8-370D-2B7D-7E51BC9CAA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0400" y="2148257"/>
            <a:ext cx="5943600" cy="4140279"/>
          </a:xfrm>
          <a:prstGeom prst="rect">
            <a:avLst/>
          </a:prstGeom>
        </p:spPr>
      </p:pic>
      <p:sp>
        <p:nvSpPr>
          <p:cNvPr id="8" name="TextBox 7">
            <a:extLst>
              <a:ext uri="{FF2B5EF4-FFF2-40B4-BE49-F238E27FC236}">
                <a16:creationId xmlns:a16="http://schemas.microsoft.com/office/drawing/2014/main" id="{9D23D1EE-C3B0-BE70-FA15-CA8DF05FD8AB}"/>
              </a:ext>
            </a:extLst>
          </p:cNvPr>
          <p:cNvSpPr txBox="1"/>
          <p:nvPr/>
        </p:nvSpPr>
        <p:spPr>
          <a:xfrm>
            <a:off x="5109210" y="1864667"/>
            <a:ext cx="2125980" cy="369332"/>
          </a:xfrm>
          <a:prstGeom prst="rect">
            <a:avLst/>
          </a:prstGeom>
          <a:noFill/>
        </p:spPr>
        <p:txBody>
          <a:bodyPr wrap="square" rtlCol="0">
            <a:spAutoFit/>
          </a:bodyPr>
          <a:lstStyle/>
          <a:p>
            <a:r>
              <a:rPr lang="en-VN" b="1" dirty="0">
                <a:solidFill>
                  <a:srgbClr val="C00000"/>
                </a:solidFill>
                <a:latin typeface="Lato" panose="020F0502020204030203" pitchFamily="34" charset="0"/>
                <a:ea typeface="Lato" panose="020F0502020204030203" pitchFamily="34" charset="0"/>
                <a:cs typeface="Lato" panose="020F0502020204030203" pitchFamily="34" charset="0"/>
              </a:rPr>
              <a:t>Binary Search Tree</a:t>
            </a:r>
          </a:p>
        </p:txBody>
      </p:sp>
      <p:sp>
        <p:nvSpPr>
          <p:cNvPr id="10" name="TextBox 9">
            <a:extLst>
              <a:ext uri="{FF2B5EF4-FFF2-40B4-BE49-F238E27FC236}">
                <a16:creationId xmlns:a16="http://schemas.microsoft.com/office/drawing/2014/main" id="{67CFD650-D8E1-4572-FDD0-36427F10A78E}"/>
              </a:ext>
            </a:extLst>
          </p:cNvPr>
          <p:cNvSpPr txBox="1"/>
          <p:nvPr/>
        </p:nvSpPr>
        <p:spPr>
          <a:xfrm>
            <a:off x="445770" y="4170555"/>
            <a:ext cx="2754630" cy="830997"/>
          </a:xfrm>
          <a:prstGeom prst="rect">
            <a:avLst/>
          </a:prstGeom>
          <a:noFill/>
        </p:spPr>
        <p:txBody>
          <a:bodyPr wrap="square" rtlCol="0">
            <a:spAutoFit/>
          </a:bodyPr>
          <a:lstStyle/>
          <a:p>
            <a:r>
              <a:rPr lang="en-VN" sz="1600" i="1" dirty="0">
                <a:effectLst/>
                <a:latin typeface="Lato" panose="020F0502020204030203" pitchFamily="34" charset="0"/>
                <a:ea typeface="Lato" panose="020F0502020204030203" pitchFamily="34" charset="0"/>
                <a:cs typeface="Lato" panose="020F0502020204030203" pitchFamily="34" charset="0"/>
              </a:rPr>
              <a:t>“Đây chính là </a:t>
            </a:r>
            <a:r>
              <a:rPr lang="en-VN" sz="1600" b="1" i="1" dirty="0">
                <a:effectLst/>
                <a:latin typeface="Lato" panose="020F0502020204030203" pitchFamily="34" charset="0"/>
                <a:ea typeface="Lato" panose="020F0502020204030203" pitchFamily="34" charset="0"/>
                <a:cs typeface="Lato" panose="020F0502020204030203" pitchFamily="34" charset="0"/>
              </a:rPr>
              <a:t>bước tiến đầu tiên</a:t>
            </a:r>
            <a:r>
              <a:rPr lang="en-VN" sz="1600" i="1" dirty="0">
                <a:effectLst/>
                <a:latin typeface="Lato" panose="020F0502020204030203" pitchFamily="34" charset="0"/>
                <a:ea typeface="Lato" panose="020F0502020204030203" pitchFamily="34" charset="0"/>
                <a:cs typeface="Lato" panose="020F0502020204030203" pitchFamily="34" charset="0"/>
              </a:rPr>
              <a:t> để tối ưu hóa việc lưu trữ và tìm kiếm dữ liệu.”</a:t>
            </a:r>
          </a:p>
        </p:txBody>
      </p:sp>
      <p:sp>
        <p:nvSpPr>
          <p:cNvPr id="15" name="TextBox 14">
            <a:extLst>
              <a:ext uri="{FF2B5EF4-FFF2-40B4-BE49-F238E27FC236}">
                <a16:creationId xmlns:a16="http://schemas.microsoft.com/office/drawing/2014/main" id="{618144C3-D978-5436-1EA1-E8DF00B5F6E5}"/>
              </a:ext>
            </a:extLst>
          </p:cNvPr>
          <p:cNvSpPr txBox="1"/>
          <p:nvPr/>
        </p:nvSpPr>
        <p:spPr>
          <a:xfrm>
            <a:off x="5623560" y="4624002"/>
            <a:ext cx="925830" cy="369332"/>
          </a:xfrm>
          <a:prstGeom prst="rect">
            <a:avLst/>
          </a:prstGeom>
          <a:noFill/>
        </p:spPr>
        <p:txBody>
          <a:bodyPr wrap="square" rtlCol="0">
            <a:spAutoFit/>
          </a:bodyPr>
          <a:lstStyle/>
          <a:p>
            <a:r>
              <a:rPr lang="en-VN" sz="1800" i="1" dirty="0">
                <a:effectLst/>
                <a:latin typeface="Lato" panose="020F0502020204030203" pitchFamily="34" charset="0"/>
                <a:ea typeface="Lato" panose="020F0502020204030203" pitchFamily="34" charset="0"/>
                <a:cs typeface="Lato" panose="020F0502020204030203" pitchFamily="34" charset="0"/>
              </a:rPr>
              <a:t>O(log n)</a:t>
            </a:r>
            <a:endParaRPr lang="en-VN" i="1"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53453457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6</a:t>
            </a:fld>
            <a:endParaRPr lang="en-US" dirty="0"/>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a:xfrm>
            <a:off x="235077" y="112903"/>
            <a:ext cx="8673846" cy="451739"/>
          </a:xfrm>
        </p:spPr>
        <p:txBody>
          <a:bodyPr/>
          <a:lstStyle/>
          <a:p>
            <a:r>
              <a:rPr lang="en-US" dirty="0"/>
              <a:t>ĐẶT VẤN ĐỀ</a:t>
            </a:r>
          </a:p>
        </p:txBody>
      </p:sp>
      <p:pic>
        <p:nvPicPr>
          <p:cNvPr id="5" name="Picture 4" descr="A diagram of red circles and lines&#10;&#10;Description automatically generated">
            <a:extLst>
              <a:ext uri="{FF2B5EF4-FFF2-40B4-BE49-F238E27FC236}">
                <a16:creationId xmlns:a16="http://schemas.microsoft.com/office/drawing/2014/main" id="{E2F526BD-5CDF-189C-2942-8E7C8720A907}"/>
              </a:ext>
            </a:extLst>
          </p:cNvPr>
          <p:cNvPicPr>
            <a:picLocks noChangeAspect="1"/>
          </p:cNvPicPr>
          <p:nvPr/>
        </p:nvPicPr>
        <p:blipFill rotWithShape="1">
          <a:blip r:embed="rId2">
            <a:extLst>
              <a:ext uri="{28A0092B-C50C-407E-A947-70E740481C1C}">
                <a14:useLocalDpi xmlns:a14="http://schemas.microsoft.com/office/drawing/2010/main" val="0"/>
              </a:ext>
            </a:extLst>
          </a:blip>
          <a:srcRect r="43791" b="23399"/>
          <a:stretch/>
        </p:blipFill>
        <p:spPr>
          <a:xfrm>
            <a:off x="4391262" y="1992508"/>
            <a:ext cx="4619388" cy="2992822"/>
          </a:xfrm>
          <a:prstGeom prst="rect">
            <a:avLst/>
          </a:prstGeom>
        </p:spPr>
      </p:pic>
      <p:sp>
        <p:nvSpPr>
          <p:cNvPr id="6" name="TextBox 5">
            <a:extLst>
              <a:ext uri="{FF2B5EF4-FFF2-40B4-BE49-F238E27FC236}">
                <a16:creationId xmlns:a16="http://schemas.microsoft.com/office/drawing/2014/main" id="{ECE155E1-2E3A-9AEE-ABE6-03A8EBF8BF3E}"/>
              </a:ext>
            </a:extLst>
          </p:cNvPr>
          <p:cNvSpPr txBox="1"/>
          <p:nvPr/>
        </p:nvSpPr>
        <p:spPr>
          <a:xfrm>
            <a:off x="6795135" y="2583693"/>
            <a:ext cx="240030" cy="369332"/>
          </a:xfrm>
          <a:prstGeom prst="rect">
            <a:avLst/>
          </a:prstGeom>
          <a:noFill/>
        </p:spPr>
        <p:txBody>
          <a:bodyPr wrap="square" rtlCol="0">
            <a:spAutoFit/>
          </a:bodyPr>
          <a:lstStyle/>
          <a:p>
            <a:r>
              <a:rPr lang="en-VN" dirty="0"/>
              <a:t>1</a:t>
            </a:r>
          </a:p>
        </p:txBody>
      </p:sp>
      <p:sp>
        <p:nvSpPr>
          <p:cNvPr id="7" name="TextBox 6">
            <a:extLst>
              <a:ext uri="{FF2B5EF4-FFF2-40B4-BE49-F238E27FC236}">
                <a16:creationId xmlns:a16="http://schemas.microsoft.com/office/drawing/2014/main" id="{023A5F48-E8B2-1287-5DE9-6D8207C01A31}"/>
              </a:ext>
            </a:extLst>
          </p:cNvPr>
          <p:cNvSpPr txBox="1"/>
          <p:nvPr/>
        </p:nvSpPr>
        <p:spPr>
          <a:xfrm>
            <a:off x="7256145" y="3129679"/>
            <a:ext cx="240030" cy="369332"/>
          </a:xfrm>
          <a:prstGeom prst="rect">
            <a:avLst/>
          </a:prstGeom>
          <a:noFill/>
        </p:spPr>
        <p:txBody>
          <a:bodyPr wrap="square" rtlCol="0">
            <a:spAutoFit/>
          </a:bodyPr>
          <a:lstStyle/>
          <a:p>
            <a:r>
              <a:rPr lang="en-VN" dirty="0"/>
              <a:t>2</a:t>
            </a:r>
          </a:p>
        </p:txBody>
      </p:sp>
      <p:sp>
        <p:nvSpPr>
          <p:cNvPr id="8" name="TextBox 7">
            <a:extLst>
              <a:ext uri="{FF2B5EF4-FFF2-40B4-BE49-F238E27FC236}">
                <a16:creationId xmlns:a16="http://schemas.microsoft.com/office/drawing/2014/main" id="{40E45D60-DAF0-7157-F78E-DB4459053988}"/>
              </a:ext>
            </a:extLst>
          </p:cNvPr>
          <p:cNvSpPr txBox="1"/>
          <p:nvPr/>
        </p:nvSpPr>
        <p:spPr>
          <a:xfrm>
            <a:off x="7781783" y="3741933"/>
            <a:ext cx="240030" cy="369332"/>
          </a:xfrm>
          <a:prstGeom prst="rect">
            <a:avLst/>
          </a:prstGeom>
          <a:noFill/>
        </p:spPr>
        <p:txBody>
          <a:bodyPr wrap="square" rtlCol="0">
            <a:spAutoFit/>
          </a:bodyPr>
          <a:lstStyle/>
          <a:p>
            <a:r>
              <a:rPr lang="en-VN" dirty="0"/>
              <a:t>3</a:t>
            </a:r>
          </a:p>
        </p:txBody>
      </p:sp>
      <p:sp>
        <p:nvSpPr>
          <p:cNvPr id="9" name="TextBox 8">
            <a:extLst>
              <a:ext uri="{FF2B5EF4-FFF2-40B4-BE49-F238E27FC236}">
                <a16:creationId xmlns:a16="http://schemas.microsoft.com/office/drawing/2014/main" id="{37CAF918-3040-F329-1553-C2B6AD39206C}"/>
              </a:ext>
            </a:extLst>
          </p:cNvPr>
          <p:cNvSpPr txBox="1"/>
          <p:nvPr/>
        </p:nvSpPr>
        <p:spPr>
          <a:xfrm>
            <a:off x="8284845" y="4370583"/>
            <a:ext cx="240030" cy="369332"/>
          </a:xfrm>
          <a:prstGeom prst="rect">
            <a:avLst/>
          </a:prstGeom>
          <a:noFill/>
        </p:spPr>
        <p:txBody>
          <a:bodyPr wrap="square" rtlCol="0">
            <a:spAutoFit/>
          </a:bodyPr>
          <a:lstStyle/>
          <a:p>
            <a:r>
              <a:rPr lang="en-VN" dirty="0"/>
              <a:t>4</a:t>
            </a:r>
          </a:p>
        </p:txBody>
      </p:sp>
      <p:sp>
        <p:nvSpPr>
          <p:cNvPr id="10" name="TextBox 9">
            <a:extLst>
              <a:ext uri="{FF2B5EF4-FFF2-40B4-BE49-F238E27FC236}">
                <a16:creationId xmlns:a16="http://schemas.microsoft.com/office/drawing/2014/main" id="{2D7A0504-11F2-3FF2-2D7C-7DF41A706C0B}"/>
              </a:ext>
            </a:extLst>
          </p:cNvPr>
          <p:cNvSpPr txBox="1"/>
          <p:nvPr/>
        </p:nvSpPr>
        <p:spPr>
          <a:xfrm>
            <a:off x="4526280" y="4324863"/>
            <a:ext cx="240030" cy="369332"/>
          </a:xfrm>
          <a:prstGeom prst="rect">
            <a:avLst/>
          </a:prstGeom>
          <a:noFill/>
        </p:spPr>
        <p:txBody>
          <a:bodyPr wrap="square" rtlCol="0">
            <a:spAutoFit/>
          </a:bodyPr>
          <a:lstStyle/>
          <a:p>
            <a:r>
              <a:rPr lang="en-VN" dirty="0"/>
              <a:t>1</a:t>
            </a:r>
          </a:p>
        </p:txBody>
      </p:sp>
      <p:sp>
        <p:nvSpPr>
          <p:cNvPr id="11" name="TextBox 10">
            <a:extLst>
              <a:ext uri="{FF2B5EF4-FFF2-40B4-BE49-F238E27FC236}">
                <a16:creationId xmlns:a16="http://schemas.microsoft.com/office/drawing/2014/main" id="{6BA1DB9B-54FA-0FB7-7BDC-D0C9112DA6D7}"/>
              </a:ext>
            </a:extLst>
          </p:cNvPr>
          <p:cNvSpPr txBox="1"/>
          <p:nvPr/>
        </p:nvSpPr>
        <p:spPr>
          <a:xfrm>
            <a:off x="5005864" y="3692223"/>
            <a:ext cx="240030" cy="369332"/>
          </a:xfrm>
          <a:prstGeom prst="rect">
            <a:avLst/>
          </a:prstGeom>
          <a:noFill/>
        </p:spPr>
        <p:txBody>
          <a:bodyPr wrap="square" rtlCol="0">
            <a:spAutoFit/>
          </a:bodyPr>
          <a:lstStyle/>
          <a:p>
            <a:r>
              <a:rPr lang="en-VN" dirty="0"/>
              <a:t>2</a:t>
            </a:r>
          </a:p>
        </p:txBody>
      </p:sp>
      <p:sp>
        <p:nvSpPr>
          <p:cNvPr id="12" name="TextBox 11">
            <a:extLst>
              <a:ext uri="{FF2B5EF4-FFF2-40B4-BE49-F238E27FC236}">
                <a16:creationId xmlns:a16="http://schemas.microsoft.com/office/drawing/2014/main" id="{4BC9D198-E211-5162-5B31-7AE5D9CAACB2}"/>
              </a:ext>
            </a:extLst>
          </p:cNvPr>
          <p:cNvSpPr txBox="1"/>
          <p:nvPr/>
        </p:nvSpPr>
        <p:spPr>
          <a:xfrm>
            <a:off x="5461373" y="3118249"/>
            <a:ext cx="240030" cy="369332"/>
          </a:xfrm>
          <a:prstGeom prst="rect">
            <a:avLst/>
          </a:prstGeom>
          <a:noFill/>
        </p:spPr>
        <p:txBody>
          <a:bodyPr wrap="square" rtlCol="0">
            <a:spAutoFit/>
          </a:bodyPr>
          <a:lstStyle/>
          <a:p>
            <a:r>
              <a:rPr lang="en-VN" dirty="0"/>
              <a:t>3</a:t>
            </a:r>
          </a:p>
        </p:txBody>
      </p:sp>
      <p:sp>
        <p:nvSpPr>
          <p:cNvPr id="13" name="TextBox 12">
            <a:extLst>
              <a:ext uri="{FF2B5EF4-FFF2-40B4-BE49-F238E27FC236}">
                <a16:creationId xmlns:a16="http://schemas.microsoft.com/office/drawing/2014/main" id="{EDDAE128-EB63-062C-4A1C-AD9CDE26D077}"/>
              </a:ext>
            </a:extLst>
          </p:cNvPr>
          <p:cNvSpPr txBox="1"/>
          <p:nvPr/>
        </p:nvSpPr>
        <p:spPr>
          <a:xfrm>
            <a:off x="5888450" y="2544082"/>
            <a:ext cx="240030" cy="369332"/>
          </a:xfrm>
          <a:prstGeom prst="rect">
            <a:avLst/>
          </a:prstGeom>
          <a:noFill/>
        </p:spPr>
        <p:txBody>
          <a:bodyPr wrap="square" rtlCol="0">
            <a:spAutoFit/>
          </a:bodyPr>
          <a:lstStyle/>
          <a:p>
            <a:r>
              <a:rPr lang="en-VN" dirty="0"/>
              <a:t>4</a:t>
            </a:r>
          </a:p>
        </p:txBody>
      </p:sp>
      <p:pic>
        <p:nvPicPr>
          <p:cNvPr id="18" name="Content Placeholder 17" descr="A diagram of numbers and circles&#10;&#10;Description automatically generated">
            <a:extLst>
              <a:ext uri="{FF2B5EF4-FFF2-40B4-BE49-F238E27FC236}">
                <a16:creationId xmlns:a16="http://schemas.microsoft.com/office/drawing/2014/main" id="{7A07B72F-306C-9CC1-64A5-9CCEDA3D3E42}"/>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479034" y="915415"/>
            <a:ext cx="3692487" cy="2572166"/>
          </a:xfrm>
        </p:spPr>
      </p:pic>
      <p:sp>
        <p:nvSpPr>
          <p:cNvPr id="19" name="TextBox 18">
            <a:extLst>
              <a:ext uri="{FF2B5EF4-FFF2-40B4-BE49-F238E27FC236}">
                <a16:creationId xmlns:a16="http://schemas.microsoft.com/office/drawing/2014/main" id="{D6630CC5-5783-E8A2-8399-648286F0DD2E}"/>
              </a:ext>
            </a:extLst>
          </p:cNvPr>
          <p:cNvSpPr txBox="1"/>
          <p:nvPr/>
        </p:nvSpPr>
        <p:spPr>
          <a:xfrm>
            <a:off x="6199513" y="3557267"/>
            <a:ext cx="628650" cy="369332"/>
          </a:xfrm>
          <a:prstGeom prst="rect">
            <a:avLst/>
          </a:prstGeom>
          <a:noFill/>
        </p:spPr>
        <p:txBody>
          <a:bodyPr wrap="square" rtlCol="0">
            <a:spAutoFit/>
          </a:bodyPr>
          <a:lstStyle/>
          <a:p>
            <a:r>
              <a:rPr lang="en-VN" i="1" dirty="0">
                <a:latin typeface="Lato" panose="020F0502020204030203" pitchFamily="34" charset="0"/>
                <a:ea typeface="Lato" panose="020F0502020204030203" pitchFamily="34" charset="0"/>
                <a:cs typeface="Lato" panose="020F0502020204030203" pitchFamily="34" charset="0"/>
              </a:rPr>
              <a:t>O(n)</a:t>
            </a:r>
          </a:p>
        </p:txBody>
      </p:sp>
      <p:sp>
        <p:nvSpPr>
          <p:cNvPr id="22" name="Up Arrow Callout 21">
            <a:extLst>
              <a:ext uri="{FF2B5EF4-FFF2-40B4-BE49-F238E27FC236}">
                <a16:creationId xmlns:a16="http://schemas.microsoft.com/office/drawing/2014/main" id="{9A24BCE7-3123-99BA-DE5C-99ED1C60C5B3}"/>
              </a:ext>
            </a:extLst>
          </p:cNvPr>
          <p:cNvSpPr/>
          <p:nvPr/>
        </p:nvSpPr>
        <p:spPr>
          <a:xfrm>
            <a:off x="5229737" y="4681491"/>
            <a:ext cx="2568202" cy="855414"/>
          </a:xfrm>
          <a:prstGeom prst="upArrow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VN" dirty="0">
                <a:latin typeface="Lato" panose="020F0502020204030203" pitchFamily="34" charset="0"/>
                <a:ea typeface="Lato" panose="020F0502020204030203" pitchFamily="34" charset="0"/>
                <a:cs typeface="Lato" panose="020F0502020204030203" pitchFamily="34" charset="0"/>
              </a:rPr>
              <a:t>Cây suy biến</a:t>
            </a:r>
          </a:p>
        </p:txBody>
      </p:sp>
    </p:spTree>
    <p:extLst>
      <p:ext uri="{BB962C8B-B14F-4D97-AF65-F5344CB8AC3E}">
        <p14:creationId xmlns:p14="http://schemas.microsoft.com/office/powerpoint/2010/main" val="106087753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7</a:t>
            </a:fld>
            <a:endParaRPr lang="en-US" dirty="0"/>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a:xfrm>
            <a:off x="235077" y="112903"/>
            <a:ext cx="8673846" cy="451739"/>
          </a:xfrm>
        </p:spPr>
        <p:txBody>
          <a:bodyPr/>
          <a:lstStyle/>
          <a:p>
            <a:r>
              <a:rPr lang="en-US" dirty="0"/>
              <a:t>ĐẶT VẤN ĐỀ</a:t>
            </a:r>
          </a:p>
        </p:txBody>
      </p:sp>
      <p:sp>
        <p:nvSpPr>
          <p:cNvPr id="4" name="Content Placeholder 3">
            <a:extLst>
              <a:ext uri="{FF2B5EF4-FFF2-40B4-BE49-F238E27FC236}">
                <a16:creationId xmlns:a16="http://schemas.microsoft.com/office/drawing/2014/main" id="{59563378-38F8-4CB3-AF99-2C56FCF55404}"/>
              </a:ext>
            </a:extLst>
          </p:cNvPr>
          <p:cNvSpPr>
            <a:spLocks noGrp="1"/>
          </p:cNvSpPr>
          <p:nvPr>
            <p:ph sz="quarter" idx="13"/>
          </p:nvPr>
        </p:nvSpPr>
        <p:spPr>
          <a:xfrm>
            <a:off x="397573" y="1280160"/>
            <a:ext cx="8186357" cy="4939920"/>
          </a:xfrm>
        </p:spPr>
        <p:txBody>
          <a:bodyPr/>
          <a:lstStyle/>
          <a:p>
            <a:r>
              <a:rPr lang="en-US" sz="2000" dirty="0" err="1"/>
              <a:t>Nếu</a:t>
            </a:r>
            <a:r>
              <a:rPr lang="en-US" sz="2000" dirty="0"/>
              <a:t> </a:t>
            </a:r>
            <a:r>
              <a:rPr lang="en-US" sz="2000" dirty="0" err="1"/>
              <a:t>có</a:t>
            </a:r>
            <a:r>
              <a:rPr lang="en-US" sz="2000" dirty="0"/>
              <a:t> </a:t>
            </a:r>
            <a:r>
              <a:rPr lang="en-US" sz="2000" dirty="0" err="1"/>
              <a:t>một</a:t>
            </a:r>
            <a:r>
              <a:rPr lang="en-US" sz="2000" dirty="0"/>
              <a:t> </a:t>
            </a:r>
            <a:r>
              <a:rPr lang="en-US" sz="2000" dirty="0" err="1"/>
              <a:t>cây</a:t>
            </a:r>
            <a:r>
              <a:rPr lang="en-US" sz="2000" dirty="0"/>
              <a:t> </a:t>
            </a:r>
            <a:r>
              <a:rPr lang="en-US" sz="2000" dirty="0" err="1"/>
              <a:t>nhị</a:t>
            </a:r>
            <a:r>
              <a:rPr lang="en-US" sz="2000" dirty="0"/>
              <a:t> </a:t>
            </a:r>
            <a:r>
              <a:rPr lang="en-US" sz="2000" dirty="0" err="1"/>
              <a:t>phân</a:t>
            </a:r>
            <a:r>
              <a:rPr lang="en-US" sz="2000" dirty="0"/>
              <a:t> </a:t>
            </a:r>
            <a:r>
              <a:rPr lang="en-US" sz="2000" dirty="0" err="1"/>
              <a:t>cân</a:t>
            </a:r>
            <a:r>
              <a:rPr lang="en-US" sz="2000" dirty="0"/>
              <a:t> </a:t>
            </a:r>
            <a:r>
              <a:rPr lang="en-US" sz="2000" dirty="0" err="1"/>
              <a:t>bằng</a:t>
            </a:r>
            <a:r>
              <a:rPr lang="en-US" sz="2000" dirty="0"/>
              <a:t> </a:t>
            </a:r>
            <a:r>
              <a:rPr lang="en-US" sz="2000" dirty="0" err="1"/>
              <a:t>hoàn</a:t>
            </a:r>
            <a:r>
              <a:rPr lang="en-US" sz="2000" dirty="0"/>
              <a:t> </a:t>
            </a:r>
            <a:r>
              <a:rPr lang="en-US" sz="2000" dirty="0" err="1"/>
              <a:t>toàn</a:t>
            </a:r>
            <a:r>
              <a:rPr lang="en-US" sz="2000" dirty="0"/>
              <a:t>, </a:t>
            </a:r>
            <a:r>
              <a:rPr lang="en-US" sz="2000" b="1" i="1" dirty="0"/>
              <a:t>chi </a:t>
            </a:r>
            <a:r>
              <a:rPr lang="en-US" sz="2000" b="1" i="1" dirty="0" err="1"/>
              <a:t>phí</a:t>
            </a:r>
            <a:r>
              <a:rPr lang="en-US" sz="2000" b="1" i="1" dirty="0"/>
              <a:t> </a:t>
            </a:r>
            <a:r>
              <a:rPr lang="en-US" sz="2000" b="1" i="1" dirty="0" err="1"/>
              <a:t>cho</a:t>
            </a:r>
            <a:r>
              <a:rPr lang="en-US" sz="2000" b="1" i="1" dirty="0"/>
              <a:t> </a:t>
            </a:r>
            <a:r>
              <a:rPr lang="en-US" sz="2000" b="1" i="1" dirty="0" err="1"/>
              <a:t>việc</a:t>
            </a:r>
            <a:r>
              <a:rPr lang="en-US" sz="2000" b="1" i="1" dirty="0"/>
              <a:t> </a:t>
            </a:r>
            <a:r>
              <a:rPr lang="en-US" sz="2000" b="1" i="1" dirty="0" err="1"/>
              <a:t>tìm</a:t>
            </a:r>
            <a:r>
              <a:rPr lang="en-US" sz="2000" b="1" i="1" dirty="0"/>
              <a:t> </a:t>
            </a:r>
            <a:r>
              <a:rPr lang="en-US" sz="2000" b="1" i="1" dirty="0" err="1"/>
              <a:t>kiếm</a:t>
            </a:r>
            <a:r>
              <a:rPr lang="en-US" sz="2000" b="1" i="1" dirty="0"/>
              <a:t> </a:t>
            </a:r>
            <a:r>
              <a:rPr lang="en-US" sz="2000" dirty="0" err="1"/>
              <a:t>xấp</a:t>
            </a:r>
            <a:r>
              <a:rPr lang="en-US" sz="2000" dirty="0"/>
              <a:t> </a:t>
            </a:r>
            <a:r>
              <a:rPr lang="en-US" sz="2000" dirty="0" err="1"/>
              <a:t>xỉ</a:t>
            </a:r>
            <a:r>
              <a:rPr lang="en-US" sz="2000" dirty="0"/>
              <a:t> O(</a:t>
            </a:r>
            <a:r>
              <a:rPr lang="en-US" sz="2000" dirty="0">
                <a:solidFill>
                  <a:schemeClr val="accent1"/>
                </a:solidFill>
              </a:rPr>
              <a:t>log₂ n</a:t>
            </a:r>
            <a:r>
              <a:rPr lang="en-US" sz="2000" dirty="0"/>
              <a:t>) </a:t>
            </a:r>
          </a:p>
          <a:p>
            <a:pPr marL="0" indent="0">
              <a:buNone/>
            </a:pPr>
            <a:r>
              <a:rPr lang="en-US" sz="2000" dirty="0"/>
              <a:t>	</a:t>
            </a:r>
            <a:r>
              <a:rPr lang="en-US" sz="1800" i="1" dirty="0">
                <a:solidFill>
                  <a:srgbClr val="FF0000"/>
                </a:solidFill>
              </a:rPr>
              <a:t>VD: 1 </a:t>
            </a:r>
            <a:r>
              <a:rPr lang="en-US" sz="1800" i="1" dirty="0" err="1">
                <a:solidFill>
                  <a:srgbClr val="FF0000"/>
                </a:solidFill>
              </a:rPr>
              <a:t>triệu</a:t>
            </a:r>
            <a:r>
              <a:rPr lang="en-US" sz="1800" i="1" dirty="0">
                <a:solidFill>
                  <a:srgbClr val="FF0000"/>
                </a:solidFill>
              </a:rPr>
              <a:t> node =&gt; chi </a:t>
            </a:r>
            <a:r>
              <a:rPr lang="en-US" sz="1800" i="1" dirty="0" err="1">
                <a:solidFill>
                  <a:srgbClr val="FF0000"/>
                </a:solidFill>
              </a:rPr>
              <a:t>phí</a:t>
            </a:r>
            <a:r>
              <a:rPr lang="en-US" sz="1800" i="1" dirty="0">
                <a:solidFill>
                  <a:srgbClr val="FF0000"/>
                </a:solidFill>
              </a:rPr>
              <a:t> </a:t>
            </a:r>
            <a:r>
              <a:rPr lang="en-US" sz="1800" i="1" dirty="0" err="1">
                <a:solidFill>
                  <a:srgbClr val="FF0000"/>
                </a:solidFill>
              </a:rPr>
              <a:t>tìm</a:t>
            </a:r>
            <a:r>
              <a:rPr lang="en-US" sz="1800" i="1" dirty="0">
                <a:solidFill>
                  <a:srgbClr val="FF0000"/>
                </a:solidFill>
              </a:rPr>
              <a:t> </a:t>
            </a:r>
            <a:r>
              <a:rPr lang="en-US" sz="1800" i="1" dirty="0" err="1">
                <a:solidFill>
                  <a:srgbClr val="FF0000"/>
                </a:solidFill>
              </a:rPr>
              <a:t>kiếm</a:t>
            </a:r>
            <a:r>
              <a:rPr lang="en-US" sz="1800" i="1" dirty="0">
                <a:solidFill>
                  <a:srgbClr val="FF0000"/>
                </a:solidFill>
              </a:rPr>
              <a:t> = log₂ 1.000.000     20</a:t>
            </a:r>
          </a:p>
          <a:p>
            <a:r>
              <a:rPr lang="en-US" sz="2000" dirty="0" err="1"/>
              <a:t>Phương</a:t>
            </a:r>
            <a:r>
              <a:rPr lang="en-US" sz="2000" dirty="0"/>
              <a:t> </a:t>
            </a:r>
            <a:r>
              <a:rPr lang="en-US" sz="2000" dirty="0" err="1"/>
              <a:t>pháp</a:t>
            </a:r>
            <a:r>
              <a:rPr lang="en-US" sz="2000" dirty="0"/>
              <a:t> </a:t>
            </a:r>
            <a:r>
              <a:rPr lang="en-US" sz="2000" dirty="0" err="1"/>
              <a:t>thêm</a:t>
            </a:r>
            <a:r>
              <a:rPr lang="en-US" sz="2000" dirty="0"/>
              <a:t> </a:t>
            </a:r>
            <a:r>
              <a:rPr lang="en-US" sz="2000" dirty="0" err="1"/>
              <a:t>trên</a:t>
            </a:r>
            <a:r>
              <a:rPr lang="en-US" sz="2000" dirty="0"/>
              <a:t> </a:t>
            </a:r>
            <a:r>
              <a:rPr lang="en-US" sz="2000" dirty="0" err="1"/>
              <a:t>cây</a:t>
            </a:r>
            <a:r>
              <a:rPr lang="en-US" sz="2000" dirty="0"/>
              <a:t> TKNP, </a:t>
            </a:r>
            <a:r>
              <a:rPr lang="en-US" sz="2000" dirty="0" err="1"/>
              <a:t>có</a:t>
            </a:r>
            <a:r>
              <a:rPr lang="en-US" sz="2000" dirty="0"/>
              <a:t> </a:t>
            </a:r>
            <a:r>
              <a:rPr lang="en-US" sz="2000" dirty="0" err="1"/>
              <a:t>thể</a:t>
            </a:r>
            <a:r>
              <a:rPr lang="en-US" sz="2000" dirty="0"/>
              <a:t> </a:t>
            </a:r>
            <a:r>
              <a:rPr lang="en-US" sz="2000" dirty="0" err="1"/>
              <a:t>có</a:t>
            </a:r>
            <a:r>
              <a:rPr lang="en-US" sz="2000" dirty="0"/>
              <a:t> </a:t>
            </a:r>
            <a:r>
              <a:rPr lang="en-US" sz="2000" dirty="0" err="1"/>
              <a:t>những</a:t>
            </a:r>
            <a:r>
              <a:rPr lang="en-US" sz="2000" dirty="0"/>
              <a:t> </a:t>
            </a:r>
            <a:r>
              <a:rPr lang="en-US" sz="2000" dirty="0" err="1"/>
              <a:t>biến</a:t>
            </a:r>
            <a:r>
              <a:rPr lang="en-US" sz="2000" dirty="0"/>
              <a:t> </a:t>
            </a:r>
            <a:r>
              <a:rPr lang="en-US" sz="2000" dirty="0" err="1"/>
              <a:t>dạng</a:t>
            </a:r>
            <a:r>
              <a:rPr lang="en-US" sz="2000" dirty="0"/>
              <a:t> </a:t>
            </a:r>
            <a:r>
              <a:rPr lang="en-US" sz="2000" dirty="0" err="1"/>
              <a:t>mất</a:t>
            </a:r>
            <a:r>
              <a:rPr lang="en-US" sz="2000" dirty="0"/>
              <a:t> </a:t>
            </a:r>
            <a:r>
              <a:rPr lang="en-US" sz="2000" dirty="0" err="1"/>
              <a:t>cân</a:t>
            </a:r>
            <a:r>
              <a:rPr lang="en-US" sz="2000" dirty="0"/>
              <a:t> </a:t>
            </a:r>
            <a:r>
              <a:rPr lang="en-US" sz="2000" dirty="0" err="1"/>
              <a:t>đối</a:t>
            </a:r>
            <a:r>
              <a:rPr lang="en-US" sz="2000" dirty="0"/>
              <a:t> </a:t>
            </a:r>
            <a:r>
              <a:rPr lang="en-US" sz="2000" dirty="0" err="1"/>
              <a:t>nghiêm</a:t>
            </a:r>
            <a:r>
              <a:rPr lang="en-US" sz="2000" dirty="0"/>
              <a:t> </a:t>
            </a:r>
            <a:r>
              <a:rPr lang="en-US" sz="2000" dirty="0" err="1"/>
              <a:t>trọng</a:t>
            </a:r>
            <a:r>
              <a:rPr lang="en-US" sz="2000" dirty="0"/>
              <a:t>, </a:t>
            </a:r>
            <a:r>
              <a:rPr lang="en-US" sz="2000" b="1" i="1" dirty="0"/>
              <a:t>chi </a:t>
            </a:r>
            <a:r>
              <a:rPr lang="en-US" sz="2000" b="1" i="1" dirty="0" err="1"/>
              <a:t>phí</a:t>
            </a:r>
            <a:r>
              <a:rPr lang="en-US" sz="2000" b="1" i="1" dirty="0"/>
              <a:t> </a:t>
            </a:r>
            <a:r>
              <a:rPr lang="en-US" sz="2000" b="1" i="1" dirty="0" err="1"/>
              <a:t>cho</a:t>
            </a:r>
            <a:r>
              <a:rPr lang="en-US" sz="2000" b="1" i="1" dirty="0"/>
              <a:t> </a:t>
            </a:r>
            <a:r>
              <a:rPr lang="en-US" sz="2000" b="1" i="1" dirty="0" err="1"/>
              <a:t>việc</a:t>
            </a:r>
            <a:r>
              <a:rPr lang="en-US" sz="2000" b="1" i="1" dirty="0"/>
              <a:t> </a:t>
            </a:r>
            <a:r>
              <a:rPr lang="en-US" sz="2000" b="1" i="1" dirty="0" err="1"/>
              <a:t>tìm</a:t>
            </a:r>
            <a:r>
              <a:rPr lang="en-US" sz="2000" b="1" i="1" dirty="0"/>
              <a:t> </a:t>
            </a:r>
            <a:r>
              <a:rPr lang="en-US" sz="2000" b="1" i="1" dirty="0" err="1"/>
              <a:t>kiếm</a:t>
            </a:r>
            <a:r>
              <a:rPr lang="en-US" sz="2000" b="1" i="1" dirty="0"/>
              <a:t> </a:t>
            </a:r>
            <a:r>
              <a:rPr lang="en-US" sz="2000" dirty="0" err="1"/>
              <a:t>chỉ</a:t>
            </a:r>
            <a:r>
              <a:rPr lang="en-US" sz="2000" dirty="0"/>
              <a:t> </a:t>
            </a:r>
            <a:r>
              <a:rPr lang="en-US" sz="2000" dirty="0" err="1"/>
              <a:t>xấp</a:t>
            </a:r>
            <a:r>
              <a:rPr lang="en-US" sz="2000" dirty="0"/>
              <a:t> </a:t>
            </a:r>
            <a:r>
              <a:rPr lang="en-US" sz="2000" dirty="0" err="1"/>
              <a:t>xỉ</a:t>
            </a:r>
            <a:r>
              <a:rPr lang="en-US" sz="2000" dirty="0"/>
              <a:t> O(</a:t>
            </a:r>
            <a:r>
              <a:rPr lang="en-US" sz="2000" dirty="0">
                <a:solidFill>
                  <a:schemeClr val="accent1"/>
                </a:solidFill>
              </a:rPr>
              <a:t>n</a:t>
            </a:r>
            <a:r>
              <a:rPr lang="en-US" sz="2000" dirty="0"/>
              <a:t>)</a:t>
            </a:r>
          </a:p>
          <a:p>
            <a:pPr marL="0" indent="0">
              <a:buNone/>
            </a:pPr>
            <a:r>
              <a:rPr lang="en-US" sz="2000" dirty="0"/>
              <a:t>	</a:t>
            </a:r>
            <a:r>
              <a:rPr lang="en-US" sz="1800" i="1" dirty="0">
                <a:solidFill>
                  <a:srgbClr val="FF0000"/>
                </a:solidFill>
              </a:rPr>
              <a:t>VD: 1 </a:t>
            </a:r>
            <a:r>
              <a:rPr lang="en-US" sz="1800" i="1" dirty="0" err="1">
                <a:solidFill>
                  <a:srgbClr val="FF0000"/>
                </a:solidFill>
              </a:rPr>
              <a:t>triệu</a:t>
            </a:r>
            <a:r>
              <a:rPr lang="en-US" sz="1800" i="1" dirty="0">
                <a:solidFill>
                  <a:srgbClr val="FF0000"/>
                </a:solidFill>
              </a:rPr>
              <a:t> node =&gt; chi </a:t>
            </a:r>
            <a:r>
              <a:rPr lang="en-US" sz="1800" i="1" dirty="0" err="1">
                <a:solidFill>
                  <a:srgbClr val="FF0000"/>
                </a:solidFill>
              </a:rPr>
              <a:t>phí</a:t>
            </a:r>
            <a:r>
              <a:rPr lang="en-US" sz="1800" i="1" dirty="0">
                <a:solidFill>
                  <a:srgbClr val="FF0000"/>
                </a:solidFill>
              </a:rPr>
              <a:t> </a:t>
            </a:r>
            <a:r>
              <a:rPr lang="en-US" sz="1800" i="1" dirty="0" err="1">
                <a:solidFill>
                  <a:srgbClr val="FF0000"/>
                </a:solidFill>
              </a:rPr>
              <a:t>tìm</a:t>
            </a:r>
            <a:r>
              <a:rPr lang="en-US" sz="1800" i="1" dirty="0">
                <a:solidFill>
                  <a:srgbClr val="FF0000"/>
                </a:solidFill>
              </a:rPr>
              <a:t> </a:t>
            </a:r>
            <a:r>
              <a:rPr lang="en-US" sz="1800" i="1" dirty="0" err="1">
                <a:solidFill>
                  <a:srgbClr val="FF0000"/>
                </a:solidFill>
              </a:rPr>
              <a:t>kiếm</a:t>
            </a:r>
            <a:r>
              <a:rPr lang="en-US" sz="1800" i="1" dirty="0">
                <a:solidFill>
                  <a:srgbClr val="FF0000"/>
                </a:solidFill>
              </a:rPr>
              <a:t> = n =  1.000.000  </a:t>
            </a:r>
            <a:endParaRPr lang="en-US" sz="2000" i="1" dirty="0">
              <a:solidFill>
                <a:srgbClr val="FF0000"/>
              </a:solidFill>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144E22E-E1C5-AC2D-2A4C-5AE2EC05A3D5}"/>
                  </a:ext>
                </a:extLst>
              </p:cNvPr>
              <p:cNvSpPr txBox="1"/>
              <p:nvPr/>
            </p:nvSpPr>
            <p:spPr>
              <a:xfrm>
                <a:off x="6560820" y="1983105"/>
                <a:ext cx="2228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VN" i="1" smtClean="0">
                          <a:latin typeface="Cambria Math" panose="02040503050406030204" pitchFamily="18" charset="0"/>
                          <a:ea typeface="Cambria Math" panose="02040503050406030204" pitchFamily="18" charset="0"/>
                        </a:rPr>
                        <m:t>≈</m:t>
                      </m:r>
                    </m:oMath>
                  </m:oMathPara>
                </a14:m>
                <a:endParaRPr lang="en-VN" dirty="0"/>
              </a:p>
            </p:txBody>
          </p:sp>
        </mc:Choice>
        <mc:Fallback xmlns="">
          <p:sp>
            <p:nvSpPr>
              <p:cNvPr id="5" name="TextBox 4">
                <a:extLst>
                  <a:ext uri="{FF2B5EF4-FFF2-40B4-BE49-F238E27FC236}">
                    <a16:creationId xmlns:a16="http://schemas.microsoft.com/office/drawing/2014/main" id="{7144E22E-E1C5-AC2D-2A4C-5AE2EC05A3D5}"/>
                  </a:ext>
                </a:extLst>
              </p:cNvPr>
              <p:cNvSpPr txBox="1">
                <a:spLocks noRot="1" noChangeAspect="1" noMove="1" noResize="1" noEditPoints="1" noAdjustHandles="1" noChangeArrowheads="1" noChangeShapeType="1" noTextEdit="1"/>
              </p:cNvSpPr>
              <p:nvPr/>
            </p:nvSpPr>
            <p:spPr>
              <a:xfrm>
                <a:off x="6560820" y="1983105"/>
                <a:ext cx="222817" cy="276999"/>
              </a:xfrm>
              <a:prstGeom prst="rect">
                <a:avLst/>
              </a:prstGeom>
              <a:blipFill>
                <a:blip r:embed="rId2"/>
                <a:stretch>
                  <a:fillRect l="-10526" r="-10526"/>
                </a:stretch>
              </a:blipFill>
            </p:spPr>
            <p:txBody>
              <a:bodyPr/>
              <a:lstStyle/>
              <a:p>
                <a:r>
                  <a:rPr lang="en-VN">
                    <a:noFill/>
                  </a:rPr>
                  <a:t> </a:t>
                </a:r>
              </a:p>
            </p:txBody>
          </p:sp>
        </mc:Fallback>
      </mc:AlternateContent>
      <p:sp>
        <p:nvSpPr>
          <p:cNvPr id="6" name="Right Arrow 5">
            <a:extLst>
              <a:ext uri="{FF2B5EF4-FFF2-40B4-BE49-F238E27FC236}">
                <a16:creationId xmlns:a16="http://schemas.microsoft.com/office/drawing/2014/main" id="{D49A8884-0C83-6A1B-D60B-AFFA93B136F6}"/>
              </a:ext>
            </a:extLst>
          </p:cNvPr>
          <p:cNvSpPr/>
          <p:nvPr/>
        </p:nvSpPr>
        <p:spPr>
          <a:xfrm>
            <a:off x="758857" y="4331970"/>
            <a:ext cx="1028700" cy="6172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7" name="Process 6">
            <a:extLst>
              <a:ext uri="{FF2B5EF4-FFF2-40B4-BE49-F238E27FC236}">
                <a16:creationId xmlns:a16="http://schemas.microsoft.com/office/drawing/2014/main" id="{A379F5A0-47B1-8AEA-6715-C4D149B120E5}"/>
              </a:ext>
            </a:extLst>
          </p:cNvPr>
          <p:cNvSpPr/>
          <p:nvPr/>
        </p:nvSpPr>
        <p:spPr>
          <a:xfrm>
            <a:off x="2148840" y="3892933"/>
            <a:ext cx="5200650" cy="1668780"/>
          </a:xfrm>
          <a:prstGeom prst="flowChartProcess">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2000" b="1" dirty="0">
                <a:solidFill>
                  <a:schemeClr val="accent6">
                    <a:lumMod val="75000"/>
                  </a:schemeClr>
                </a:solidFill>
                <a:latin typeface="Lato" panose="020F0502020204030203" pitchFamily="34" charset="0"/>
                <a:ea typeface="Lato" panose="020F0502020204030203" pitchFamily="34" charset="0"/>
                <a:cs typeface="Lato" panose="020F0502020204030203" pitchFamily="34" charset="0"/>
              </a:rPr>
              <a:t>CÂY TỰ CÂN BẰNG ( SELF – BALANCE)</a:t>
            </a:r>
          </a:p>
          <a:p>
            <a:r>
              <a:rPr lang="en-VN" sz="2000" dirty="0">
                <a:solidFill>
                  <a:schemeClr val="tx1"/>
                </a:solidFill>
                <a:latin typeface="Lato" panose="020F0502020204030203" pitchFamily="34" charset="0"/>
                <a:ea typeface="Lato" panose="020F0502020204030203" pitchFamily="34" charset="0"/>
                <a:cs typeface="Lato" panose="020F0502020204030203" pitchFamily="34" charset="0"/>
              </a:rPr>
              <a:t>	- Cây nhị phân tìm kiếm cân bằng (AVL)</a:t>
            </a:r>
          </a:p>
          <a:p>
            <a:r>
              <a:rPr lang="en-VN" sz="2000" dirty="0">
                <a:solidFill>
                  <a:schemeClr val="tx1"/>
                </a:solidFill>
                <a:latin typeface="Lato" panose="020F0502020204030203" pitchFamily="34" charset="0"/>
                <a:ea typeface="Lato" panose="020F0502020204030203" pitchFamily="34" charset="0"/>
                <a:cs typeface="Lato" panose="020F0502020204030203" pitchFamily="34" charset="0"/>
              </a:rPr>
              <a:t>	</a:t>
            </a:r>
          </a:p>
        </p:txBody>
      </p:sp>
      <p:sp>
        <p:nvSpPr>
          <p:cNvPr id="9" name="TextBox 8">
            <a:extLst>
              <a:ext uri="{FF2B5EF4-FFF2-40B4-BE49-F238E27FC236}">
                <a16:creationId xmlns:a16="http://schemas.microsoft.com/office/drawing/2014/main" id="{DC914ED7-3DC5-15D0-50AA-B89DAC3B5220}"/>
              </a:ext>
            </a:extLst>
          </p:cNvPr>
          <p:cNvSpPr txBox="1"/>
          <p:nvPr/>
        </p:nvSpPr>
        <p:spPr>
          <a:xfrm>
            <a:off x="2617469" y="4869180"/>
            <a:ext cx="3554731" cy="400110"/>
          </a:xfrm>
          <a:prstGeom prst="rect">
            <a:avLst/>
          </a:prstGeom>
          <a:noFill/>
        </p:spPr>
        <p:txBody>
          <a:bodyPr wrap="square" rtlCol="0">
            <a:spAutoFit/>
          </a:bodyPr>
          <a:lstStyle/>
          <a:p>
            <a:r>
              <a:rPr lang="en-VN" sz="2000" dirty="0">
                <a:solidFill>
                  <a:schemeClr val="tx1"/>
                </a:solidFill>
                <a:latin typeface="Lato" panose="020F0502020204030203" pitchFamily="34" charset="0"/>
                <a:ea typeface="Lato" panose="020F0502020204030203" pitchFamily="34" charset="0"/>
                <a:cs typeface="Lato" panose="020F0502020204030203" pitchFamily="34" charset="0"/>
              </a:rPr>
              <a:t>- Cây đỏ đen (Red-Black Tree)</a:t>
            </a:r>
            <a:endParaRPr lang="en-VN" sz="2000" dirty="0"/>
          </a:p>
        </p:txBody>
      </p:sp>
    </p:spTree>
    <p:extLst>
      <p:ext uri="{BB962C8B-B14F-4D97-AF65-F5344CB8AC3E}">
        <p14:creationId xmlns:p14="http://schemas.microsoft.com/office/powerpoint/2010/main" val="2043029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mph" presetSubtype="2" fill="hold" nodeType="clickEffect">
                                  <p:stCondLst>
                                    <p:cond delay="0"/>
                                  </p:stCondLst>
                                  <p:childTnLst>
                                    <p:animClr clrSpc="rgb" dir="cw">
                                      <p:cBhvr>
                                        <p:cTn id="20" dur="1000" fill="hold"/>
                                        <p:tgtEl>
                                          <p:spTgt spid="9"/>
                                        </p:tgtEl>
                                        <p:attrNameLst>
                                          <p:attrName>fillcolor</p:attrName>
                                        </p:attrNameLst>
                                      </p:cBhvr>
                                      <p:to>
                                        <a:srgbClr val="FF0000"/>
                                      </p:to>
                                    </p:animClr>
                                    <p:set>
                                      <p:cBhvr>
                                        <p:cTn id="21" dur="1000" fill="hold"/>
                                        <p:tgtEl>
                                          <p:spTgt spid="9"/>
                                        </p:tgtEl>
                                        <p:attrNameLst>
                                          <p:attrName>fill.type</p:attrName>
                                        </p:attrNameLst>
                                      </p:cBhvr>
                                      <p:to>
                                        <p:strVal val="solid"/>
                                      </p:to>
                                    </p:set>
                                    <p:set>
                                      <p:cBhvr>
                                        <p:cTn id="22" dur="1000" fill="hold"/>
                                        <p:tgtEl>
                                          <p:spTgt spid="9"/>
                                        </p:tgtEl>
                                        <p:attrNameLst>
                                          <p:attrName>fill.on</p:attrName>
                                        </p:attrNameLst>
                                      </p:cBhvr>
                                      <p:to>
                                        <p:strVal val="true"/>
                                      </p:to>
                                    </p:set>
                                  </p:childTnLst>
                                </p:cTn>
                              </p:par>
                              <p:par>
                                <p:cTn id="23" presetID="3" presetClass="emph" presetSubtype="2" fill="hold" grpId="1" nodeType="withEffect">
                                  <p:stCondLst>
                                    <p:cond delay="0"/>
                                  </p:stCondLst>
                                  <p:childTnLst>
                                    <p:animClr clrSpc="rgb" dir="cw">
                                      <p:cBhvr override="childStyle">
                                        <p:cTn id="24" dur="1000" fill="hold"/>
                                        <p:tgtEl>
                                          <p:spTgt spid="9"/>
                                        </p:tgtEl>
                                        <p:attrNameLst>
                                          <p:attrName>style.color</p:attrName>
                                        </p:attrNameLst>
                                      </p:cBhvr>
                                      <p:to>
                                        <a:schemeClr val="bg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p:bldP spid="9"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776946D-AB92-4D05-97ED-4EDF0AB0FF55}"/>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pPr/>
              <a:t>8</a:t>
            </a:fld>
            <a:endParaRPr lang="en-US"/>
          </a:p>
        </p:txBody>
      </p:sp>
      <p:sp>
        <p:nvSpPr>
          <p:cNvPr id="2" name="Title 1">
            <a:extLst>
              <a:ext uri="{FF2B5EF4-FFF2-40B4-BE49-F238E27FC236}">
                <a16:creationId xmlns:a16="http://schemas.microsoft.com/office/drawing/2014/main" id="{4FB6CB3A-046A-4C56-A02D-DBF672421CAF}"/>
              </a:ext>
            </a:extLst>
          </p:cNvPr>
          <p:cNvSpPr>
            <a:spLocks noGrp="1"/>
          </p:cNvSpPr>
          <p:nvPr>
            <p:ph type="title"/>
          </p:nvPr>
        </p:nvSpPr>
        <p:spPr>
          <a:xfrm>
            <a:off x="254052" y="112543"/>
            <a:ext cx="8635896" cy="436098"/>
          </a:xfrm>
          <a:prstGeom prst="rect">
            <a:avLst/>
          </a:prstGeom>
        </p:spPr>
        <p:txBody>
          <a:bodyPr/>
          <a:lstStyle/>
          <a:p>
            <a:r>
              <a:rPr lang="en-US" dirty="0"/>
              <a:t>ĐỊNH NGHĨA VỀ CÂY ĐỎ ĐEN</a:t>
            </a:r>
          </a:p>
        </p:txBody>
      </p:sp>
      <p:pic>
        <p:nvPicPr>
          <p:cNvPr id="9" name="Graphic 8">
            <a:extLst>
              <a:ext uri="{FF2B5EF4-FFF2-40B4-BE49-F238E27FC236}">
                <a16:creationId xmlns:a16="http://schemas.microsoft.com/office/drawing/2014/main" id="{6C130FA7-76F0-E2B0-6102-5E7FA85FA15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81099" y="1965677"/>
            <a:ext cx="6781800" cy="3320185"/>
          </a:xfrm>
          <a:prstGeom prst="rect">
            <a:avLst/>
          </a:prstGeom>
        </p:spPr>
      </p:pic>
      <p:sp>
        <p:nvSpPr>
          <p:cNvPr id="10" name="TextBox 9">
            <a:extLst>
              <a:ext uri="{FF2B5EF4-FFF2-40B4-BE49-F238E27FC236}">
                <a16:creationId xmlns:a16="http://schemas.microsoft.com/office/drawing/2014/main" id="{6873AB2B-B320-0D71-6A80-192C9564049F}"/>
              </a:ext>
            </a:extLst>
          </p:cNvPr>
          <p:cNvSpPr txBox="1"/>
          <p:nvPr/>
        </p:nvSpPr>
        <p:spPr>
          <a:xfrm>
            <a:off x="2858946" y="1314210"/>
            <a:ext cx="3426107" cy="400110"/>
          </a:xfrm>
          <a:prstGeom prst="rect">
            <a:avLst/>
          </a:prstGeom>
          <a:noFill/>
        </p:spPr>
        <p:txBody>
          <a:bodyPr wrap="square" rtlCol="0">
            <a:spAutoFit/>
          </a:bodyPr>
          <a:lstStyle/>
          <a:p>
            <a:r>
              <a:rPr lang="en-VN" sz="2000" b="1" dirty="0">
                <a:latin typeface="Lato" panose="020F0502020204030203" pitchFamily="34" charset="0"/>
                <a:ea typeface="Lato" panose="020F0502020204030203" pitchFamily="34" charset="0"/>
                <a:cs typeface="Lato" panose="020F0502020204030203" pitchFamily="34" charset="0"/>
              </a:rPr>
              <a:t>Cây đỏ-đen (</a:t>
            </a:r>
            <a:r>
              <a:rPr lang="en-VN" sz="2000" b="1" dirty="0">
                <a:solidFill>
                  <a:srgbClr val="C00000"/>
                </a:solidFill>
                <a:latin typeface="Lato" panose="020F0502020204030203" pitchFamily="34" charset="0"/>
                <a:ea typeface="Lato" panose="020F0502020204030203" pitchFamily="34" charset="0"/>
                <a:cs typeface="Lato" panose="020F0502020204030203" pitchFamily="34" charset="0"/>
              </a:rPr>
              <a:t>Red-Black Tree</a:t>
            </a:r>
            <a:r>
              <a:rPr lang="en-VN" sz="2000" b="1" dirty="0">
                <a:latin typeface="Lato" panose="020F0502020204030203" pitchFamily="34" charset="0"/>
                <a:ea typeface="Lato" panose="020F0502020204030203" pitchFamily="34" charset="0"/>
                <a:cs typeface="Lato" panose="020F0502020204030203" pitchFamily="34" charset="0"/>
              </a:rPr>
              <a:t>)</a:t>
            </a:r>
          </a:p>
        </p:txBody>
      </p:sp>
    </p:spTree>
    <p:extLst>
      <p:ext uri="{BB962C8B-B14F-4D97-AF65-F5344CB8AC3E}">
        <p14:creationId xmlns:p14="http://schemas.microsoft.com/office/powerpoint/2010/main" val="640846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776946D-AB92-4D05-97ED-4EDF0AB0FF55}"/>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pPr/>
              <a:t>9</a:t>
            </a:fld>
            <a:endParaRPr lang="en-US"/>
          </a:p>
        </p:txBody>
      </p:sp>
      <p:sp>
        <p:nvSpPr>
          <p:cNvPr id="2" name="Title 1">
            <a:extLst>
              <a:ext uri="{FF2B5EF4-FFF2-40B4-BE49-F238E27FC236}">
                <a16:creationId xmlns:a16="http://schemas.microsoft.com/office/drawing/2014/main" id="{4FB6CB3A-046A-4C56-A02D-DBF672421CAF}"/>
              </a:ext>
            </a:extLst>
          </p:cNvPr>
          <p:cNvSpPr>
            <a:spLocks noGrp="1"/>
          </p:cNvSpPr>
          <p:nvPr>
            <p:ph type="title"/>
          </p:nvPr>
        </p:nvSpPr>
        <p:spPr>
          <a:xfrm>
            <a:off x="254052" y="112543"/>
            <a:ext cx="8635896" cy="436098"/>
          </a:xfrm>
          <a:prstGeom prst="rect">
            <a:avLst/>
          </a:prstGeom>
        </p:spPr>
        <p:txBody>
          <a:bodyPr/>
          <a:lstStyle/>
          <a:p>
            <a:r>
              <a:rPr lang="en-US" dirty="0"/>
              <a:t>ĐỊNH NGHĨA VỀ CÂY ĐỎ ĐEN</a:t>
            </a:r>
          </a:p>
        </p:txBody>
      </p:sp>
      <p:pic>
        <p:nvPicPr>
          <p:cNvPr id="9" name="Graphic 8">
            <a:extLst>
              <a:ext uri="{FF2B5EF4-FFF2-40B4-BE49-F238E27FC236}">
                <a16:creationId xmlns:a16="http://schemas.microsoft.com/office/drawing/2014/main" id="{6C130FA7-76F0-E2B0-6102-5E7FA85FA15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94613" y="3319383"/>
            <a:ext cx="5695335" cy="2788281"/>
          </a:xfrm>
          <a:prstGeom prst="rect">
            <a:avLst/>
          </a:prstGeom>
        </p:spPr>
      </p:pic>
      <p:sp>
        <p:nvSpPr>
          <p:cNvPr id="10" name="TextBox 9">
            <a:extLst>
              <a:ext uri="{FF2B5EF4-FFF2-40B4-BE49-F238E27FC236}">
                <a16:creationId xmlns:a16="http://schemas.microsoft.com/office/drawing/2014/main" id="{6873AB2B-B320-0D71-6A80-192C9564049F}"/>
              </a:ext>
            </a:extLst>
          </p:cNvPr>
          <p:cNvSpPr txBox="1"/>
          <p:nvPr/>
        </p:nvSpPr>
        <p:spPr>
          <a:xfrm>
            <a:off x="613457" y="1238492"/>
            <a:ext cx="6944811" cy="369332"/>
          </a:xfrm>
          <a:prstGeom prst="rect">
            <a:avLst/>
          </a:prstGeom>
          <a:noFill/>
        </p:spPr>
        <p:txBody>
          <a:bodyPr wrap="square" rtlCol="0">
            <a:spAutoFit/>
          </a:bodyPr>
          <a:lstStyle/>
          <a:p>
            <a:r>
              <a:rPr lang="en-VN" b="1" dirty="0">
                <a:latin typeface="Lato" panose="020F0502020204030203" pitchFamily="34" charset="0"/>
                <a:ea typeface="Lato" panose="020F0502020204030203" pitchFamily="34" charset="0"/>
                <a:cs typeface="Lato" panose="020F0502020204030203" pitchFamily="34" charset="0"/>
              </a:rPr>
              <a:t>Cây đỏ-đen (</a:t>
            </a:r>
            <a:r>
              <a:rPr lang="en-VN" b="1" dirty="0">
                <a:solidFill>
                  <a:srgbClr val="C00000"/>
                </a:solidFill>
                <a:latin typeface="Lato" panose="020F0502020204030203" pitchFamily="34" charset="0"/>
                <a:ea typeface="Lato" panose="020F0502020204030203" pitchFamily="34" charset="0"/>
                <a:cs typeface="Lato" panose="020F0502020204030203" pitchFamily="34" charset="0"/>
              </a:rPr>
              <a:t>Red-Black Tree</a:t>
            </a:r>
            <a:r>
              <a:rPr lang="en-VN" b="1" dirty="0">
                <a:latin typeface="Lato" panose="020F0502020204030203" pitchFamily="34" charset="0"/>
                <a:ea typeface="Lato" panose="020F0502020204030203" pitchFamily="34" charset="0"/>
                <a:cs typeface="Lato" panose="020F0502020204030203" pitchFamily="34" charset="0"/>
              </a:rPr>
              <a:t>) </a:t>
            </a:r>
            <a:r>
              <a:rPr lang="en-VN" dirty="0">
                <a:latin typeface="Lato" panose="020F0502020204030203" pitchFamily="34" charset="0"/>
                <a:ea typeface="Lato" panose="020F0502020204030203" pitchFamily="34" charset="0"/>
                <a:cs typeface="Lato" panose="020F0502020204030203" pitchFamily="34" charset="0"/>
              </a:rPr>
              <a:t>là cây nhị phân tìm kiếm (BST):</a:t>
            </a:r>
          </a:p>
        </p:txBody>
      </p:sp>
      <p:sp>
        <p:nvSpPr>
          <p:cNvPr id="3" name="TextBox 2">
            <a:extLst>
              <a:ext uri="{FF2B5EF4-FFF2-40B4-BE49-F238E27FC236}">
                <a16:creationId xmlns:a16="http://schemas.microsoft.com/office/drawing/2014/main" id="{2B7B26C6-9B64-2327-327E-157CA0983DC0}"/>
              </a:ext>
            </a:extLst>
          </p:cNvPr>
          <p:cNvSpPr txBox="1"/>
          <p:nvPr/>
        </p:nvSpPr>
        <p:spPr>
          <a:xfrm>
            <a:off x="1099595" y="1794076"/>
            <a:ext cx="4305782" cy="369332"/>
          </a:xfrm>
          <a:prstGeom prst="rect">
            <a:avLst/>
          </a:prstGeom>
          <a:noFill/>
        </p:spPr>
        <p:txBody>
          <a:bodyPr wrap="square" rtlCol="0">
            <a:spAutoFit/>
          </a:bodyPr>
          <a:lstStyle/>
          <a:p>
            <a:r>
              <a:rPr lang="en-VN" dirty="0">
                <a:solidFill>
                  <a:schemeClr val="accent6">
                    <a:lumMod val="60000"/>
                    <a:lumOff val="40000"/>
                  </a:schemeClr>
                </a:solidFill>
                <a:latin typeface="Lato" panose="020F0502020204030203" pitchFamily="34" charset="0"/>
                <a:ea typeface="Lato" panose="020F0502020204030203" pitchFamily="34" charset="0"/>
                <a:cs typeface="Lato" panose="020F0502020204030203" pitchFamily="34" charset="0"/>
              </a:rPr>
              <a:t>1. </a:t>
            </a:r>
            <a:r>
              <a:rPr lang="en-VN" dirty="0">
                <a:latin typeface="Lato" panose="020F0502020204030203" pitchFamily="34" charset="0"/>
                <a:ea typeface="Lato" panose="020F0502020204030203" pitchFamily="34" charset="0"/>
                <a:cs typeface="Lato" panose="020F0502020204030203" pitchFamily="34" charset="0"/>
              </a:rPr>
              <a:t>Mọi node đều tô màu đỏ hoặc đen.</a:t>
            </a:r>
          </a:p>
        </p:txBody>
      </p:sp>
      <p:sp>
        <p:nvSpPr>
          <p:cNvPr id="4" name="TextBox 3">
            <a:extLst>
              <a:ext uri="{FF2B5EF4-FFF2-40B4-BE49-F238E27FC236}">
                <a16:creationId xmlns:a16="http://schemas.microsoft.com/office/drawing/2014/main" id="{1763F222-B9B8-D6F5-38D8-FD1F0DE7D622}"/>
              </a:ext>
            </a:extLst>
          </p:cNvPr>
          <p:cNvSpPr txBox="1"/>
          <p:nvPr/>
        </p:nvSpPr>
        <p:spPr>
          <a:xfrm>
            <a:off x="1099595" y="2075534"/>
            <a:ext cx="4305782" cy="369332"/>
          </a:xfrm>
          <a:prstGeom prst="rect">
            <a:avLst/>
          </a:prstGeom>
          <a:noFill/>
        </p:spPr>
        <p:txBody>
          <a:bodyPr wrap="square" rtlCol="0">
            <a:spAutoFit/>
          </a:bodyPr>
          <a:lstStyle/>
          <a:p>
            <a:r>
              <a:rPr lang="en-VN" dirty="0">
                <a:solidFill>
                  <a:schemeClr val="accent6">
                    <a:lumMod val="60000"/>
                    <a:lumOff val="40000"/>
                  </a:schemeClr>
                </a:solidFill>
                <a:latin typeface="Lato" panose="020F0502020204030203" pitchFamily="34" charset="0"/>
                <a:ea typeface="Lato" panose="020F0502020204030203" pitchFamily="34" charset="0"/>
                <a:cs typeface="Lato" panose="020F0502020204030203" pitchFamily="34" charset="0"/>
              </a:rPr>
              <a:t>2. </a:t>
            </a:r>
            <a:r>
              <a:rPr lang="en-VN" dirty="0">
                <a:latin typeface="Lato" panose="020F0502020204030203" pitchFamily="34" charset="0"/>
                <a:ea typeface="Lato" panose="020F0502020204030203" pitchFamily="34" charset="0"/>
                <a:cs typeface="Lato" panose="020F0502020204030203" pitchFamily="34" charset="0"/>
              </a:rPr>
              <a:t>Node gốc luôn đen.</a:t>
            </a:r>
          </a:p>
        </p:txBody>
      </p:sp>
      <p:sp>
        <p:nvSpPr>
          <p:cNvPr id="6" name="TextBox 5">
            <a:extLst>
              <a:ext uri="{FF2B5EF4-FFF2-40B4-BE49-F238E27FC236}">
                <a16:creationId xmlns:a16="http://schemas.microsoft.com/office/drawing/2014/main" id="{D3F93D20-65E4-00F7-EDDA-C97BFDC73262}"/>
              </a:ext>
            </a:extLst>
          </p:cNvPr>
          <p:cNvSpPr txBox="1"/>
          <p:nvPr/>
        </p:nvSpPr>
        <p:spPr>
          <a:xfrm>
            <a:off x="1099595" y="2349160"/>
            <a:ext cx="2650602" cy="369332"/>
          </a:xfrm>
          <a:prstGeom prst="rect">
            <a:avLst/>
          </a:prstGeom>
          <a:noFill/>
        </p:spPr>
        <p:txBody>
          <a:bodyPr wrap="square" rtlCol="0">
            <a:spAutoFit/>
          </a:bodyPr>
          <a:lstStyle/>
          <a:p>
            <a:r>
              <a:rPr lang="en-VN" dirty="0">
                <a:solidFill>
                  <a:schemeClr val="accent6">
                    <a:lumMod val="60000"/>
                    <a:lumOff val="40000"/>
                  </a:schemeClr>
                </a:solidFill>
                <a:latin typeface="Lato" panose="020F0502020204030203" pitchFamily="34" charset="0"/>
                <a:ea typeface="Lato" panose="020F0502020204030203" pitchFamily="34" charset="0"/>
                <a:cs typeface="Lato" panose="020F0502020204030203" pitchFamily="34" charset="0"/>
              </a:rPr>
              <a:t>3. </a:t>
            </a:r>
            <a:r>
              <a:rPr lang="en-VN" dirty="0">
                <a:latin typeface="Lato" panose="020F0502020204030203" pitchFamily="34" charset="0"/>
                <a:ea typeface="Lato" panose="020F0502020204030203" pitchFamily="34" charset="0"/>
                <a:cs typeface="Lato" panose="020F0502020204030203" pitchFamily="34" charset="0"/>
              </a:rPr>
              <a:t>Node NIL luôn đen.</a:t>
            </a:r>
          </a:p>
        </p:txBody>
      </p:sp>
      <p:sp>
        <p:nvSpPr>
          <p:cNvPr id="7" name="TextBox 6">
            <a:extLst>
              <a:ext uri="{FF2B5EF4-FFF2-40B4-BE49-F238E27FC236}">
                <a16:creationId xmlns:a16="http://schemas.microsoft.com/office/drawing/2014/main" id="{3E0FC86E-8185-C44A-C398-B9A44325F262}"/>
              </a:ext>
            </a:extLst>
          </p:cNvPr>
          <p:cNvSpPr txBox="1"/>
          <p:nvPr/>
        </p:nvSpPr>
        <p:spPr>
          <a:xfrm>
            <a:off x="1099595" y="2630618"/>
            <a:ext cx="3877519" cy="369332"/>
          </a:xfrm>
          <a:prstGeom prst="rect">
            <a:avLst/>
          </a:prstGeom>
          <a:noFill/>
        </p:spPr>
        <p:txBody>
          <a:bodyPr wrap="square" rtlCol="0">
            <a:spAutoFit/>
          </a:bodyPr>
          <a:lstStyle/>
          <a:p>
            <a:r>
              <a:rPr lang="en-VN" dirty="0">
                <a:solidFill>
                  <a:schemeClr val="accent6">
                    <a:lumMod val="60000"/>
                    <a:lumOff val="40000"/>
                  </a:schemeClr>
                </a:solidFill>
                <a:latin typeface="Lato" panose="020F0502020204030203" pitchFamily="34" charset="0"/>
                <a:ea typeface="Lato" panose="020F0502020204030203" pitchFamily="34" charset="0"/>
                <a:cs typeface="Lato" panose="020F0502020204030203" pitchFamily="34" charset="0"/>
              </a:rPr>
              <a:t>4. </a:t>
            </a:r>
            <a:r>
              <a:rPr lang="en-VN" dirty="0">
                <a:latin typeface="Lato" panose="020F0502020204030203" pitchFamily="34" charset="0"/>
                <a:ea typeface="Lato" panose="020F0502020204030203" pitchFamily="34" charset="0"/>
                <a:cs typeface="Lato" panose="020F0502020204030203" pitchFamily="34" charset="0"/>
              </a:rPr>
              <a:t>Cả 2 con của node đỏ đều là đen.</a:t>
            </a:r>
          </a:p>
        </p:txBody>
      </p:sp>
      <p:grpSp>
        <p:nvGrpSpPr>
          <p:cNvPr id="13" name="Group 12">
            <a:extLst>
              <a:ext uri="{FF2B5EF4-FFF2-40B4-BE49-F238E27FC236}">
                <a16:creationId xmlns:a16="http://schemas.microsoft.com/office/drawing/2014/main" id="{3DB5D737-0BE0-BB11-4531-16E5401FB700}"/>
              </a:ext>
            </a:extLst>
          </p:cNvPr>
          <p:cNvGrpSpPr/>
          <p:nvPr/>
        </p:nvGrpSpPr>
        <p:grpSpPr>
          <a:xfrm>
            <a:off x="4085863" y="3874467"/>
            <a:ext cx="1377387" cy="1259519"/>
            <a:chOff x="4085863" y="3874467"/>
            <a:chExt cx="1377387" cy="1259519"/>
          </a:xfrm>
        </p:grpSpPr>
        <p:sp>
          <p:nvSpPr>
            <p:cNvPr id="11" name="Oval 10">
              <a:extLst>
                <a:ext uri="{FF2B5EF4-FFF2-40B4-BE49-F238E27FC236}">
                  <a16:creationId xmlns:a16="http://schemas.microsoft.com/office/drawing/2014/main" id="{AAB61EA8-DDE9-9198-BFD6-1BFA820DE5C9}"/>
                </a:ext>
              </a:extLst>
            </p:cNvPr>
            <p:cNvSpPr/>
            <p:nvPr/>
          </p:nvSpPr>
          <p:spPr>
            <a:xfrm>
              <a:off x="4085863" y="3874467"/>
              <a:ext cx="657828" cy="659757"/>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VN"/>
            </a:p>
          </p:txBody>
        </p:sp>
        <p:sp>
          <p:nvSpPr>
            <p:cNvPr id="12" name="Oval 11">
              <a:extLst>
                <a:ext uri="{FF2B5EF4-FFF2-40B4-BE49-F238E27FC236}">
                  <a16:creationId xmlns:a16="http://schemas.microsoft.com/office/drawing/2014/main" id="{1E37F2FA-E8F4-9B14-65B0-AAB2403A7CDF}"/>
                </a:ext>
              </a:extLst>
            </p:cNvPr>
            <p:cNvSpPr/>
            <p:nvPr/>
          </p:nvSpPr>
          <p:spPr>
            <a:xfrm>
              <a:off x="4805422" y="4474229"/>
              <a:ext cx="657828" cy="659757"/>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VN"/>
            </a:p>
          </p:txBody>
        </p:sp>
      </p:grpSp>
      <p:sp>
        <p:nvSpPr>
          <p:cNvPr id="14" name="Left Arrow 13">
            <a:extLst>
              <a:ext uri="{FF2B5EF4-FFF2-40B4-BE49-F238E27FC236}">
                <a16:creationId xmlns:a16="http://schemas.microsoft.com/office/drawing/2014/main" id="{AF43C331-02F8-FD24-7D72-9407ED84B504}"/>
              </a:ext>
            </a:extLst>
          </p:cNvPr>
          <p:cNvSpPr/>
          <p:nvPr/>
        </p:nvSpPr>
        <p:spPr>
          <a:xfrm rot="19724374">
            <a:off x="5982591" y="3022217"/>
            <a:ext cx="857862" cy="343799"/>
          </a:xfrm>
          <a:prstGeom prst="leftArrow">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VN"/>
          </a:p>
        </p:txBody>
      </p:sp>
      <p:grpSp>
        <p:nvGrpSpPr>
          <p:cNvPr id="32" name="Group 31">
            <a:extLst>
              <a:ext uri="{FF2B5EF4-FFF2-40B4-BE49-F238E27FC236}">
                <a16:creationId xmlns:a16="http://schemas.microsoft.com/office/drawing/2014/main" id="{EC0FCF30-00D3-2B27-9E8D-99861CEA5E64}"/>
              </a:ext>
            </a:extLst>
          </p:cNvPr>
          <p:cNvGrpSpPr/>
          <p:nvPr/>
        </p:nvGrpSpPr>
        <p:grpSpPr>
          <a:xfrm>
            <a:off x="3148314" y="5099261"/>
            <a:ext cx="5799618" cy="1061807"/>
            <a:chOff x="3148314" y="5099261"/>
            <a:chExt cx="5799618" cy="1061807"/>
          </a:xfrm>
        </p:grpSpPr>
        <p:sp>
          <p:nvSpPr>
            <p:cNvPr id="21" name="Oval 20">
              <a:extLst>
                <a:ext uri="{FF2B5EF4-FFF2-40B4-BE49-F238E27FC236}">
                  <a16:creationId xmlns:a16="http://schemas.microsoft.com/office/drawing/2014/main" id="{D31C1FA5-A2BB-0EC8-F71D-13D823A5F491}"/>
                </a:ext>
              </a:extLst>
            </p:cNvPr>
            <p:cNvSpPr/>
            <p:nvPr/>
          </p:nvSpPr>
          <p:spPr>
            <a:xfrm>
              <a:off x="3148314" y="5099261"/>
              <a:ext cx="520862" cy="439222"/>
            </a:xfrm>
            <a:prstGeom prst="ellipse">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a:p>
          </p:txBody>
        </p:sp>
        <p:sp>
          <p:nvSpPr>
            <p:cNvPr id="22" name="Oval 21">
              <a:extLst>
                <a:ext uri="{FF2B5EF4-FFF2-40B4-BE49-F238E27FC236}">
                  <a16:creationId xmlns:a16="http://schemas.microsoft.com/office/drawing/2014/main" id="{029CABEE-A21F-ABA7-6126-5594B0AFCE55}"/>
                </a:ext>
              </a:extLst>
            </p:cNvPr>
            <p:cNvSpPr/>
            <p:nvPr/>
          </p:nvSpPr>
          <p:spPr>
            <a:xfrm>
              <a:off x="8427070" y="5714742"/>
              <a:ext cx="520862" cy="439222"/>
            </a:xfrm>
            <a:prstGeom prst="ellipse">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a:p>
          </p:txBody>
        </p:sp>
        <p:sp>
          <p:nvSpPr>
            <p:cNvPr id="23" name="Oval 22">
              <a:extLst>
                <a:ext uri="{FF2B5EF4-FFF2-40B4-BE49-F238E27FC236}">
                  <a16:creationId xmlns:a16="http://schemas.microsoft.com/office/drawing/2014/main" id="{B823FC2C-B9E0-E7CF-0E40-F406D5387E71}"/>
                </a:ext>
              </a:extLst>
            </p:cNvPr>
            <p:cNvSpPr/>
            <p:nvPr/>
          </p:nvSpPr>
          <p:spPr>
            <a:xfrm>
              <a:off x="7859801" y="5714742"/>
              <a:ext cx="520862" cy="439222"/>
            </a:xfrm>
            <a:prstGeom prst="ellipse">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a:p>
          </p:txBody>
        </p:sp>
        <p:sp>
          <p:nvSpPr>
            <p:cNvPr id="24" name="Oval 23">
              <a:extLst>
                <a:ext uri="{FF2B5EF4-FFF2-40B4-BE49-F238E27FC236}">
                  <a16:creationId xmlns:a16="http://schemas.microsoft.com/office/drawing/2014/main" id="{BBAC750B-873A-8665-83CF-14C4AD351DAA}"/>
                </a:ext>
              </a:extLst>
            </p:cNvPr>
            <p:cNvSpPr/>
            <p:nvPr/>
          </p:nvSpPr>
          <p:spPr>
            <a:xfrm>
              <a:off x="7363648" y="5714742"/>
              <a:ext cx="520862" cy="439222"/>
            </a:xfrm>
            <a:prstGeom prst="ellipse">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a:p>
          </p:txBody>
        </p:sp>
        <p:sp>
          <p:nvSpPr>
            <p:cNvPr id="25" name="Oval 24">
              <a:extLst>
                <a:ext uri="{FF2B5EF4-FFF2-40B4-BE49-F238E27FC236}">
                  <a16:creationId xmlns:a16="http://schemas.microsoft.com/office/drawing/2014/main" id="{30F56557-19B5-522F-9BE8-6E153AE46152}"/>
                </a:ext>
              </a:extLst>
            </p:cNvPr>
            <p:cNvSpPr/>
            <p:nvPr/>
          </p:nvSpPr>
          <p:spPr>
            <a:xfrm>
              <a:off x="6784802" y="5714742"/>
              <a:ext cx="520862" cy="439222"/>
            </a:xfrm>
            <a:prstGeom prst="ellipse">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a:p>
          </p:txBody>
        </p:sp>
        <p:sp>
          <p:nvSpPr>
            <p:cNvPr id="26" name="Oval 25">
              <a:extLst>
                <a:ext uri="{FF2B5EF4-FFF2-40B4-BE49-F238E27FC236}">
                  <a16:creationId xmlns:a16="http://schemas.microsoft.com/office/drawing/2014/main" id="{0B569D19-8E2C-75CC-4FA6-9741CB82A0FE}"/>
                </a:ext>
              </a:extLst>
            </p:cNvPr>
            <p:cNvSpPr/>
            <p:nvPr/>
          </p:nvSpPr>
          <p:spPr>
            <a:xfrm>
              <a:off x="4234405" y="5714742"/>
              <a:ext cx="520862" cy="439222"/>
            </a:xfrm>
            <a:prstGeom prst="ellipse">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a:p>
          </p:txBody>
        </p:sp>
        <p:sp>
          <p:nvSpPr>
            <p:cNvPr id="27" name="Oval 26">
              <a:extLst>
                <a:ext uri="{FF2B5EF4-FFF2-40B4-BE49-F238E27FC236}">
                  <a16:creationId xmlns:a16="http://schemas.microsoft.com/office/drawing/2014/main" id="{7879254E-E46B-ECCA-B6D7-C162A815FA7E}"/>
                </a:ext>
              </a:extLst>
            </p:cNvPr>
            <p:cNvSpPr/>
            <p:nvPr/>
          </p:nvSpPr>
          <p:spPr>
            <a:xfrm>
              <a:off x="3632409" y="5721846"/>
              <a:ext cx="520862" cy="439222"/>
            </a:xfrm>
            <a:prstGeom prst="ellipse">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a:p>
          </p:txBody>
        </p:sp>
        <p:sp>
          <p:nvSpPr>
            <p:cNvPr id="28" name="Oval 27">
              <a:extLst>
                <a:ext uri="{FF2B5EF4-FFF2-40B4-BE49-F238E27FC236}">
                  <a16:creationId xmlns:a16="http://schemas.microsoft.com/office/drawing/2014/main" id="{55648AA0-0463-D209-33E7-9FFE0B72237C}"/>
                </a:ext>
              </a:extLst>
            </p:cNvPr>
            <p:cNvSpPr/>
            <p:nvPr/>
          </p:nvSpPr>
          <p:spPr>
            <a:xfrm>
              <a:off x="6535947" y="5133986"/>
              <a:ext cx="520862" cy="439222"/>
            </a:xfrm>
            <a:prstGeom prst="ellipse">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a:p>
          </p:txBody>
        </p:sp>
        <p:sp>
          <p:nvSpPr>
            <p:cNvPr id="29" name="Oval 28">
              <a:extLst>
                <a:ext uri="{FF2B5EF4-FFF2-40B4-BE49-F238E27FC236}">
                  <a16:creationId xmlns:a16="http://schemas.microsoft.com/office/drawing/2014/main" id="{33B60707-AE40-C735-6239-29BF3EEAC705}"/>
                </a:ext>
              </a:extLst>
            </p:cNvPr>
            <p:cNvSpPr/>
            <p:nvPr/>
          </p:nvSpPr>
          <p:spPr>
            <a:xfrm>
              <a:off x="5944087" y="5133986"/>
              <a:ext cx="520862" cy="439222"/>
            </a:xfrm>
            <a:prstGeom prst="ellipse">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a:p>
          </p:txBody>
        </p:sp>
        <p:sp>
          <p:nvSpPr>
            <p:cNvPr id="30" name="Oval 29">
              <a:extLst>
                <a:ext uri="{FF2B5EF4-FFF2-40B4-BE49-F238E27FC236}">
                  <a16:creationId xmlns:a16="http://schemas.microsoft.com/office/drawing/2014/main" id="{ACA34681-EE4E-C9CE-B654-CA10C27C84FA}"/>
                </a:ext>
              </a:extLst>
            </p:cNvPr>
            <p:cNvSpPr/>
            <p:nvPr/>
          </p:nvSpPr>
          <p:spPr>
            <a:xfrm>
              <a:off x="5182807" y="5126978"/>
              <a:ext cx="520862" cy="439222"/>
            </a:xfrm>
            <a:prstGeom prst="ellipse">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a:p>
          </p:txBody>
        </p:sp>
        <p:sp>
          <p:nvSpPr>
            <p:cNvPr id="31" name="Oval 30">
              <a:extLst>
                <a:ext uri="{FF2B5EF4-FFF2-40B4-BE49-F238E27FC236}">
                  <a16:creationId xmlns:a16="http://schemas.microsoft.com/office/drawing/2014/main" id="{790F3487-2860-283E-A58B-B1EC97B91624}"/>
                </a:ext>
              </a:extLst>
            </p:cNvPr>
            <p:cNvSpPr/>
            <p:nvPr/>
          </p:nvSpPr>
          <p:spPr>
            <a:xfrm>
              <a:off x="4560427" y="5115404"/>
              <a:ext cx="520862" cy="439222"/>
            </a:xfrm>
            <a:prstGeom prst="ellipse">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a:p>
          </p:txBody>
        </p:sp>
      </p:grpSp>
      <p:grpSp>
        <p:nvGrpSpPr>
          <p:cNvPr id="38" name="Group 37">
            <a:extLst>
              <a:ext uri="{FF2B5EF4-FFF2-40B4-BE49-F238E27FC236}">
                <a16:creationId xmlns:a16="http://schemas.microsoft.com/office/drawing/2014/main" id="{A045B22A-5EBE-1F04-1082-8D9B5F5AC922}"/>
              </a:ext>
            </a:extLst>
          </p:cNvPr>
          <p:cNvGrpSpPr/>
          <p:nvPr/>
        </p:nvGrpSpPr>
        <p:grpSpPr>
          <a:xfrm>
            <a:off x="3291671" y="4489645"/>
            <a:ext cx="4922188" cy="599662"/>
            <a:chOff x="3291671" y="4489645"/>
            <a:chExt cx="4922188" cy="599662"/>
          </a:xfrm>
        </p:grpSpPr>
        <p:sp>
          <p:nvSpPr>
            <p:cNvPr id="36" name="Alternate Process 35">
              <a:extLst>
                <a:ext uri="{FF2B5EF4-FFF2-40B4-BE49-F238E27FC236}">
                  <a16:creationId xmlns:a16="http://schemas.microsoft.com/office/drawing/2014/main" id="{6DE7B7AF-3DFC-856F-07CF-6C6A2D2F4FE3}"/>
                </a:ext>
              </a:extLst>
            </p:cNvPr>
            <p:cNvSpPr/>
            <p:nvPr/>
          </p:nvSpPr>
          <p:spPr>
            <a:xfrm>
              <a:off x="3291671" y="4498370"/>
              <a:ext cx="2171579" cy="590937"/>
            </a:xfrm>
            <a:prstGeom prst="flowChartAlternateProcess">
              <a:avLst/>
            </a:prstGeom>
            <a:noFill/>
            <a:ln w="28575" cap="flat" cmpd="sng" algn="ctr">
              <a:solidFill>
                <a:schemeClr val="accent6"/>
              </a:solidFill>
              <a:prstDash val="sysDash"/>
              <a:round/>
              <a:headEnd type="none" w="med" len="med"/>
              <a:tailEnd type="none" w="med" len="med"/>
              <a:extLst>
                <a:ext uri="{C807C97D-BFC1-408E-A445-0C87EB9F89A2}">
                  <ask:lineSketchStyleProps xmlns:ask="http://schemas.microsoft.com/office/drawing/2018/sketchyshapes" sd="1219033472">
                    <a:custGeom>
                      <a:avLst/>
                      <a:gdLst>
                        <a:gd name="connsiteX0" fmla="*/ 0 w 2171579"/>
                        <a:gd name="connsiteY0" fmla="*/ 98490 h 590937"/>
                        <a:gd name="connsiteX1" fmla="*/ 98490 w 2171579"/>
                        <a:gd name="connsiteY1" fmla="*/ 0 h 590937"/>
                        <a:gd name="connsiteX2" fmla="*/ 631632 w 2171579"/>
                        <a:gd name="connsiteY2" fmla="*/ 0 h 590937"/>
                        <a:gd name="connsiteX3" fmla="*/ 1105536 w 2171579"/>
                        <a:gd name="connsiteY3" fmla="*/ 0 h 590937"/>
                        <a:gd name="connsiteX4" fmla="*/ 1559694 w 2171579"/>
                        <a:gd name="connsiteY4" fmla="*/ 0 h 590937"/>
                        <a:gd name="connsiteX5" fmla="*/ 2073090 w 2171579"/>
                        <a:gd name="connsiteY5" fmla="*/ 0 h 590937"/>
                        <a:gd name="connsiteX6" fmla="*/ 2171580 w 2171579"/>
                        <a:gd name="connsiteY6" fmla="*/ 98490 h 590937"/>
                        <a:gd name="connsiteX7" fmla="*/ 2171579 w 2171579"/>
                        <a:gd name="connsiteY7" fmla="*/ 492448 h 590937"/>
                        <a:gd name="connsiteX8" fmla="*/ 2073089 w 2171579"/>
                        <a:gd name="connsiteY8" fmla="*/ 590938 h 590937"/>
                        <a:gd name="connsiteX9" fmla="*/ 1638677 w 2171579"/>
                        <a:gd name="connsiteY9" fmla="*/ 590938 h 590937"/>
                        <a:gd name="connsiteX10" fmla="*/ 1164773 w 2171579"/>
                        <a:gd name="connsiteY10" fmla="*/ 590938 h 590937"/>
                        <a:gd name="connsiteX11" fmla="*/ 690870 w 2171579"/>
                        <a:gd name="connsiteY11" fmla="*/ 590937 h 590937"/>
                        <a:gd name="connsiteX12" fmla="*/ 98490 w 2171579"/>
                        <a:gd name="connsiteY12" fmla="*/ 590937 h 590937"/>
                        <a:gd name="connsiteX13" fmla="*/ 0 w 2171579"/>
                        <a:gd name="connsiteY13" fmla="*/ 492447 h 590937"/>
                        <a:gd name="connsiteX14" fmla="*/ 0 w 2171579"/>
                        <a:gd name="connsiteY14" fmla="*/ 98490 h 590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71579" h="590937" extrusionOk="0">
                          <a:moveTo>
                            <a:pt x="0" y="98490"/>
                          </a:moveTo>
                          <a:cubicBezTo>
                            <a:pt x="-3523" y="41922"/>
                            <a:pt x="34457" y="3617"/>
                            <a:pt x="98490" y="0"/>
                          </a:cubicBezTo>
                          <a:cubicBezTo>
                            <a:pt x="338522" y="-35722"/>
                            <a:pt x="414842" y="16358"/>
                            <a:pt x="631632" y="0"/>
                          </a:cubicBezTo>
                          <a:cubicBezTo>
                            <a:pt x="848422" y="-16358"/>
                            <a:pt x="899041" y="40195"/>
                            <a:pt x="1105536" y="0"/>
                          </a:cubicBezTo>
                          <a:cubicBezTo>
                            <a:pt x="1312031" y="-40195"/>
                            <a:pt x="1395053" y="40744"/>
                            <a:pt x="1559694" y="0"/>
                          </a:cubicBezTo>
                          <a:cubicBezTo>
                            <a:pt x="1724335" y="-40744"/>
                            <a:pt x="1968706" y="6611"/>
                            <a:pt x="2073090" y="0"/>
                          </a:cubicBezTo>
                          <a:cubicBezTo>
                            <a:pt x="2131829" y="-8939"/>
                            <a:pt x="2164616" y="43029"/>
                            <a:pt x="2171580" y="98490"/>
                          </a:cubicBezTo>
                          <a:cubicBezTo>
                            <a:pt x="2167174" y="233957"/>
                            <a:pt x="2168736" y="334014"/>
                            <a:pt x="2171579" y="492448"/>
                          </a:cubicBezTo>
                          <a:cubicBezTo>
                            <a:pt x="2163879" y="557544"/>
                            <a:pt x="2132120" y="593533"/>
                            <a:pt x="2073089" y="590938"/>
                          </a:cubicBezTo>
                          <a:cubicBezTo>
                            <a:pt x="1910643" y="631104"/>
                            <a:pt x="1794972" y="572229"/>
                            <a:pt x="1638677" y="590938"/>
                          </a:cubicBezTo>
                          <a:cubicBezTo>
                            <a:pt x="1482382" y="609647"/>
                            <a:pt x="1262513" y="590358"/>
                            <a:pt x="1164773" y="590938"/>
                          </a:cubicBezTo>
                          <a:cubicBezTo>
                            <a:pt x="1067033" y="591518"/>
                            <a:pt x="860907" y="582738"/>
                            <a:pt x="690870" y="590937"/>
                          </a:cubicBezTo>
                          <a:cubicBezTo>
                            <a:pt x="520833" y="599137"/>
                            <a:pt x="344193" y="551570"/>
                            <a:pt x="98490" y="590937"/>
                          </a:cubicBezTo>
                          <a:cubicBezTo>
                            <a:pt x="54125" y="582155"/>
                            <a:pt x="1171" y="541334"/>
                            <a:pt x="0" y="492447"/>
                          </a:cubicBezTo>
                          <a:cubicBezTo>
                            <a:pt x="-27026" y="348407"/>
                            <a:pt x="23674" y="259647"/>
                            <a:pt x="0" y="98490"/>
                          </a:cubicBezTo>
                          <a:close/>
                        </a:path>
                      </a:pathLst>
                    </a:custGeom>
                    <ask:type>
                      <ask:lineSketchNone/>
                    </ask:type>
                  </ask:lineSketchStyleProps>
                </a:ext>
              </a:extLst>
            </a:ln>
          </p:spPr>
          <p:style>
            <a:lnRef idx="0">
              <a:scrgbClr r="0" g="0" b="0"/>
            </a:lnRef>
            <a:fillRef idx="0">
              <a:scrgbClr r="0" g="0" b="0"/>
            </a:fillRef>
            <a:effectRef idx="0">
              <a:scrgbClr r="0" g="0" b="0"/>
            </a:effectRef>
            <a:fontRef idx="minor">
              <a:schemeClr val="accent6"/>
            </a:fontRef>
          </p:style>
          <p:txBody>
            <a:bodyPr rtlCol="0" anchor="ctr"/>
            <a:lstStyle/>
            <a:p>
              <a:pPr algn="ctr"/>
              <a:endParaRPr lang="en-VN"/>
            </a:p>
          </p:txBody>
        </p:sp>
        <p:sp>
          <p:nvSpPr>
            <p:cNvPr id="37" name="Alternate Process 36">
              <a:extLst>
                <a:ext uri="{FF2B5EF4-FFF2-40B4-BE49-F238E27FC236}">
                  <a16:creationId xmlns:a16="http://schemas.microsoft.com/office/drawing/2014/main" id="{8ECC31B4-8669-E881-4E7C-E3B20308D138}"/>
                </a:ext>
              </a:extLst>
            </p:cNvPr>
            <p:cNvSpPr/>
            <p:nvPr/>
          </p:nvSpPr>
          <p:spPr>
            <a:xfrm>
              <a:off x="6042280" y="4489645"/>
              <a:ext cx="2171579" cy="590937"/>
            </a:xfrm>
            <a:prstGeom prst="flowChartAlternateProcess">
              <a:avLst/>
            </a:prstGeom>
            <a:noFill/>
            <a:ln w="28575" cap="flat" cmpd="sng" algn="ctr">
              <a:solidFill>
                <a:schemeClr val="accent6"/>
              </a:solidFill>
              <a:prstDash val="sysDash"/>
              <a:round/>
              <a:headEnd type="none" w="med" len="med"/>
              <a:tailEnd type="none" w="med" len="med"/>
              <a:extLst>
                <a:ext uri="{C807C97D-BFC1-408E-A445-0C87EB9F89A2}">
                  <ask:lineSketchStyleProps xmlns:ask="http://schemas.microsoft.com/office/drawing/2018/sketchyshapes" sd="1219033472">
                    <a:custGeom>
                      <a:avLst/>
                      <a:gdLst>
                        <a:gd name="connsiteX0" fmla="*/ 0 w 2171579"/>
                        <a:gd name="connsiteY0" fmla="*/ 98490 h 590937"/>
                        <a:gd name="connsiteX1" fmla="*/ 98490 w 2171579"/>
                        <a:gd name="connsiteY1" fmla="*/ 0 h 590937"/>
                        <a:gd name="connsiteX2" fmla="*/ 631632 w 2171579"/>
                        <a:gd name="connsiteY2" fmla="*/ 0 h 590937"/>
                        <a:gd name="connsiteX3" fmla="*/ 1105536 w 2171579"/>
                        <a:gd name="connsiteY3" fmla="*/ 0 h 590937"/>
                        <a:gd name="connsiteX4" fmla="*/ 1559694 w 2171579"/>
                        <a:gd name="connsiteY4" fmla="*/ 0 h 590937"/>
                        <a:gd name="connsiteX5" fmla="*/ 2073090 w 2171579"/>
                        <a:gd name="connsiteY5" fmla="*/ 0 h 590937"/>
                        <a:gd name="connsiteX6" fmla="*/ 2171580 w 2171579"/>
                        <a:gd name="connsiteY6" fmla="*/ 98490 h 590937"/>
                        <a:gd name="connsiteX7" fmla="*/ 2171579 w 2171579"/>
                        <a:gd name="connsiteY7" fmla="*/ 492448 h 590937"/>
                        <a:gd name="connsiteX8" fmla="*/ 2073089 w 2171579"/>
                        <a:gd name="connsiteY8" fmla="*/ 590938 h 590937"/>
                        <a:gd name="connsiteX9" fmla="*/ 1638677 w 2171579"/>
                        <a:gd name="connsiteY9" fmla="*/ 590938 h 590937"/>
                        <a:gd name="connsiteX10" fmla="*/ 1164773 w 2171579"/>
                        <a:gd name="connsiteY10" fmla="*/ 590938 h 590937"/>
                        <a:gd name="connsiteX11" fmla="*/ 690870 w 2171579"/>
                        <a:gd name="connsiteY11" fmla="*/ 590937 h 590937"/>
                        <a:gd name="connsiteX12" fmla="*/ 98490 w 2171579"/>
                        <a:gd name="connsiteY12" fmla="*/ 590937 h 590937"/>
                        <a:gd name="connsiteX13" fmla="*/ 0 w 2171579"/>
                        <a:gd name="connsiteY13" fmla="*/ 492447 h 590937"/>
                        <a:gd name="connsiteX14" fmla="*/ 0 w 2171579"/>
                        <a:gd name="connsiteY14" fmla="*/ 98490 h 590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71579" h="590937" extrusionOk="0">
                          <a:moveTo>
                            <a:pt x="0" y="98490"/>
                          </a:moveTo>
                          <a:cubicBezTo>
                            <a:pt x="-3523" y="41922"/>
                            <a:pt x="34457" y="3617"/>
                            <a:pt x="98490" y="0"/>
                          </a:cubicBezTo>
                          <a:cubicBezTo>
                            <a:pt x="338522" y="-35722"/>
                            <a:pt x="414842" y="16358"/>
                            <a:pt x="631632" y="0"/>
                          </a:cubicBezTo>
                          <a:cubicBezTo>
                            <a:pt x="848422" y="-16358"/>
                            <a:pt x="899041" y="40195"/>
                            <a:pt x="1105536" y="0"/>
                          </a:cubicBezTo>
                          <a:cubicBezTo>
                            <a:pt x="1312031" y="-40195"/>
                            <a:pt x="1395053" y="40744"/>
                            <a:pt x="1559694" y="0"/>
                          </a:cubicBezTo>
                          <a:cubicBezTo>
                            <a:pt x="1724335" y="-40744"/>
                            <a:pt x="1968706" y="6611"/>
                            <a:pt x="2073090" y="0"/>
                          </a:cubicBezTo>
                          <a:cubicBezTo>
                            <a:pt x="2131829" y="-8939"/>
                            <a:pt x="2164616" y="43029"/>
                            <a:pt x="2171580" y="98490"/>
                          </a:cubicBezTo>
                          <a:cubicBezTo>
                            <a:pt x="2167174" y="233957"/>
                            <a:pt x="2168736" y="334014"/>
                            <a:pt x="2171579" y="492448"/>
                          </a:cubicBezTo>
                          <a:cubicBezTo>
                            <a:pt x="2163879" y="557544"/>
                            <a:pt x="2132120" y="593533"/>
                            <a:pt x="2073089" y="590938"/>
                          </a:cubicBezTo>
                          <a:cubicBezTo>
                            <a:pt x="1910643" y="631104"/>
                            <a:pt x="1794972" y="572229"/>
                            <a:pt x="1638677" y="590938"/>
                          </a:cubicBezTo>
                          <a:cubicBezTo>
                            <a:pt x="1482382" y="609647"/>
                            <a:pt x="1262513" y="590358"/>
                            <a:pt x="1164773" y="590938"/>
                          </a:cubicBezTo>
                          <a:cubicBezTo>
                            <a:pt x="1067033" y="591518"/>
                            <a:pt x="860907" y="582738"/>
                            <a:pt x="690870" y="590937"/>
                          </a:cubicBezTo>
                          <a:cubicBezTo>
                            <a:pt x="520833" y="599137"/>
                            <a:pt x="344193" y="551570"/>
                            <a:pt x="98490" y="590937"/>
                          </a:cubicBezTo>
                          <a:cubicBezTo>
                            <a:pt x="54125" y="582155"/>
                            <a:pt x="1171" y="541334"/>
                            <a:pt x="0" y="492447"/>
                          </a:cubicBezTo>
                          <a:cubicBezTo>
                            <a:pt x="-27026" y="348407"/>
                            <a:pt x="23674" y="259647"/>
                            <a:pt x="0" y="98490"/>
                          </a:cubicBezTo>
                          <a:close/>
                        </a:path>
                      </a:pathLst>
                    </a:custGeom>
                    <ask:type>
                      <ask:lineSketchNone/>
                    </ask:type>
                  </ask:lineSketchStyleProps>
                </a:ext>
              </a:extLst>
            </a:ln>
          </p:spPr>
          <p:style>
            <a:lnRef idx="0">
              <a:scrgbClr r="0" g="0" b="0"/>
            </a:lnRef>
            <a:fillRef idx="0">
              <a:scrgbClr r="0" g="0" b="0"/>
            </a:fillRef>
            <a:effectRef idx="0">
              <a:scrgbClr r="0" g="0" b="0"/>
            </a:effectRef>
            <a:fontRef idx="minor">
              <a:schemeClr val="accent6"/>
            </a:fontRef>
          </p:style>
          <p:txBody>
            <a:bodyPr rtlCol="0" anchor="ctr"/>
            <a:lstStyle/>
            <a:p>
              <a:pPr algn="ctr"/>
              <a:endParaRPr lang="en-VN"/>
            </a:p>
          </p:txBody>
        </p:sp>
      </p:grpSp>
      <p:sp>
        <p:nvSpPr>
          <p:cNvPr id="39" name="TextBox 38">
            <a:extLst>
              <a:ext uri="{FF2B5EF4-FFF2-40B4-BE49-F238E27FC236}">
                <a16:creationId xmlns:a16="http://schemas.microsoft.com/office/drawing/2014/main" id="{3FF4E0CB-BF00-9924-3B27-2CA3482C5579}"/>
              </a:ext>
            </a:extLst>
          </p:cNvPr>
          <p:cNvSpPr txBox="1"/>
          <p:nvPr/>
        </p:nvSpPr>
        <p:spPr>
          <a:xfrm>
            <a:off x="1271286" y="2916096"/>
            <a:ext cx="3472405" cy="369332"/>
          </a:xfrm>
          <a:prstGeom prst="rect">
            <a:avLst/>
          </a:prstGeom>
          <a:noFill/>
        </p:spPr>
        <p:txBody>
          <a:bodyPr wrap="square" rtlCol="0">
            <a:spAutoFit/>
          </a:bodyPr>
          <a:lstStyle/>
          <a:p>
            <a:r>
              <a:rPr lang="en-VN" i="1" dirty="0">
                <a:solidFill>
                  <a:schemeClr val="accent6">
                    <a:lumMod val="50000"/>
                  </a:schemeClr>
                </a:solidFill>
                <a:latin typeface="Lato" panose="020F0502020204030203" pitchFamily="34" charset="0"/>
                <a:ea typeface="Lato" panose="020F0502020204030203" pitchFamily="34" charset="0"/>
                <a:cs typeface="Lato" panose="020F0502020204030203" pitchFamily="34" charset="0"/>
              </a:rPr>
              <a:t>--&gt; Cha node đỏ là node đen</a:t>
            </a:r>
          </a:p>
        </p:txBody>
      </p:sp>
    </p:spTree>
    <p:extLst>
      <p:ext uri="{BB962C8B-B14F-4D97-AF65-F5344CB8AC3E}">
        <p14:creationId xmlns:p14="http://schemas.microsoft.com/office/powerpoint/2010/main" val="331931389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26" presetClass="emph" presetSubtype="0" repeatCount="5000" fill="hold" nodeType="withEffect">
                                  <p:stCondLst>
                                    <p:cond delay="0"/>
                                  </p:stCondLst>
                                  <p:childTnLst>
                                    <p:animEffect transition="out" filter="fade">
                                      <p:cBhvr>
                                        <p:cTn id="10" dur="500" tmFilter="0, 0; .2, .5; .8, .5; 1, 0"/>
                                        <p:tgtEl>
                                          <p:spTgt spid="13"/>
                                        </p:tgtEl>
                                      </p:cBhvr>
                                    </p:animEffect>
                                    <p:animScale>
                                      <p:cBhvr>
                                        <p:cTn id="11" dur="250" autoRev="1" fill="hold"/>
                                        <p:tgtEl>
                                          <p:spTgt spid="13"/>
                                        </p:tgtEl>
                                      </p:cBhvr>
                                      <p:by x="105000" y="105000"/>
                                    </p:animScale>
                                  </p:childTnLst>
                                </p:cTn>
                              </p:par>
                            </p:childTnLst>
                          </p:cTn>
                        </p:par>
                        <p:par>
                          <p:cTn id="12" fill="hold">
                            <p:stCondLst>
                              <p:cond delay="2500"/>
                            </p:stCondLst>
                            <p:childTnLst>
                              <p:par>
                                <p:cTn id="13" presetID="1" presetClass="exit" presetSubtype="0" fill="hold" nodeType="afterEffect">
                                  <p:stCondLst>
                                    <p:cond delay="0"/>
                                  </p:stCondLst>
                                  <p:childTnLst>
                                    <p:set>
                                      <p:cBhvr>
                                        <p:cTn id="14" dur="1" fill="hold">
                                          <p:stCondLst>
                                            <p:cond delay="0"/>
                                          </p:stCondLst>
                                        </p:cTn>
                                        <p:tgtEl>
                                          <p:spTgt spid="1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32" presetClass="emph" presetSubtype="0" repeatCount="5000" fill="hold" grpId="1" nodeType="withEffect">
                                  <p:stCondLst>
                                    <p:cond delay="0"/>
                                  </p:stCondLst>
                                  <p:childTnLst>
                                    <p:animRot by="120000">
                                      <p:cBhvr>
                                        <p:cTn id="22" dur="100" fill="hold">
                                          <p:stCondLst>
                                            <p:cond delay="0"/>
                                          </p:stCondLst>
                                        </p:cTn>
                                        <p:tgtEl>
                                          <p:spTgt spid="14"/>
                                        </p:tgtEl>
                                        <p:attrNameLst>
                                          <p:attrName>r</p:attrName>
                                        </p:attrNameLst>
                                      </p:cBhvr>
                                    </p:animRot>
                                    <p:animRot by="-240000">
                                      <p:cBhvr>
                                        <p:cTn id="23" dur="200" fill="hold">
                                          <p:stCondLst>
                                            <p:cond delay="200"/>
                                          </p:stCondLst>
                                        </p:cTn>
                                        <p:tgtEl>
                                          <p:spTgt spid="14"/>
                                        </p:tgtEl>
                                        <p:attrNameLst>
                                          <p:attrName>r</p:attrName>
                                        </p:attrNameLst>
                                      </p:cBhvr>
                                    </p:animRot>
                                    <p:animRot by="240000">
                                      <p:cBhvr>
                                        <p:cTn id="24" dur="200" fill="hold">
                                          <p:stCondLst>
                                            <p:cond delay="400"/>
                                          </p:stCondLst>
                                        </p:cTn>
                                        <p:tgtEl>
                                          <p:spTgt spid="14"/>
                                        </p:tgtEl>
                                        <p:attrNameLst>
                                          <p:attrName>r</p:attrName>
                                        </p:attrNameLst>
                                      </p:cBhvr>
                                    </p:animRot>
                                    <p:animRot by="-240000">
                                      <p:cBhvr>
                                        <p:cTn id="25" dur="200" fill="hold">
                                          <p:stCondLst>
                                            <p:cond delay="600"/>
                                          </p:stCondLst>
                                        </p:cTn>
                                        <p:tgtEl>
                                          <p:spTgt spid="14"/>
                                        </p:tgtEl>
                                        <p:attrNameLst>
                                          <p:attrName>r</p:attrName>
                                        </p:attrNameLst>
                                      </p:cBhvr>
                                    </p:animRot>
                                    <p:animRot by="120000">
                                      <p:cBhvr>
                                        <p:cTn id="26" dur="200" fill="hold">
                                          <p:stCondLst>
                                            <p:cond delay="800"/>
                                          </p:stCondLst>
                                        </p:cTn>
                                        <p:tgtEl>
                                          <p:spTgt spid="14"/>
                                        </p:tgtEl>
                                        <p:attrNameLst>
                                          <p:attrName>r</p:attrName>
                                        </p:attrNameLst>
                                      </p:cBhvr>
                                    </p:animRot>
                                  </p:childTnLst>
                                </p:cTn>
                              </p:par>
                            </p:childTnLst>
                          </p:cTn>
                        </p:par>
                        <p:par>
                          <p:cTn id="27" fill="hold">
                            <p:stCondLst>
                              <p:cond delay="5000"/>
                            </p:stCondLst>
                            <p:childTnLst>
                              <p:par>
                                <p:cTn id="28" presetID="1" presetClass="exit" presetSubtype="0" fill="hold" grpId="2" nodeType="afterEffect">
                                  <p:stCondLst>
                                    <p:cond delay="0"/>
                                  </p:stCondLst>
                                  <p:childTnLst>
                                    <p:set>
                                      <p:cBhvr>
                                        <p:cTn id="29" dur="1" fill="hold">
                                          <p:stCondLst>
                                            <p:cond delay="0"/>
                                          </p:stCondLst>
                                        </p:cTn>
                                        <p:tgtEl>
                                          <p:spTgt spid="14"/>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6"/>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32"/>
                                        </p:tgtEl>
                                        <p:attrNameLst>
                                          <p:attrName>style.visibility</p:attrName>
                                        </p:attrNameLst>
                                      </p:cBhvr>
                                      <p:to>
                                        <p:strVal val="visible"/>
                                      </p:to>
                                    </p:set>
                                  </p:childTnLst>
                                </p:cTn>
                              </p:par>
                              <p:par>
                                <p:cTn id="36" presetID="35" presetClass="emph" presetSubtype="0" repeatCount="10000" fill="hold" nodeType="withEffect">
                                  <p:stCondLst>
                                    <p:cond delay="0"/>
                                  </p:stCondLst>
                                  <p:childTnLst>
                                    <p:anim calcmode="discrete" valueType="str">
                                      <p:cBhvr>
                                        <p:cTn id="37" dur="500" fill="hold"/>
                                        <p:tgtEl>
                                          <p:spTgt spid="32"/>
                                        </p:tgtEl>
                                        <p:attrNameLst>
                                          <p:attrName>style.visibility</p:attrName>
                                        </p:attrNameLst>
                                      </p:cBhvr>
                                      <p:tavLst>
                                        <p:tav tm="0">
                                          <p:val>
                                            <p:strVal val="hidden"/>
                                          </p:val>
                                        </p:tav>
                                        <p:tav tm="50000">
                                          <p:val>
                                            <p:strVal val="visible"/>
                                          </p:val>
                                        </p:tav>
                                      </p:tavLst>
                                    </p:anim>
                                  </p:childTnLst>
                                </p:cTn>
                              </p:par>
                            </p:childTnLst>
                          </p:cTn>
                        </p:par>
                        <p:par>
                          <p:cTn id="38" fill="hold">
                            <p:stCondLst>
                              <p:cond delay="5000"/>
                            </p:stCondLst>
                            <p:childTnLst>
                              <p:par>
                                <p:cTn id="39" presetID="1" presetClass="exit" presetSubtype="0" fill="hold" nodeType="afterEffect">
                                  <p:stCondLst>
                                    <p:cond delay="0"/>
                                  </p:stCondLst>
                                  <p:childTnLst>
                                    <p:set>
                                      <p:cBhvr>
                                        <p:cTn id="40" dur="1" fill="hold">
                                          <p:stCondLst>
                                            <p:cond delay="0"/>
                                          </p:stCondLst>
                                        </p:cTn>
                                        <p:tgtEl>
                                          <p:spTgt spid="32"/>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par>
                                <p:cTn id="47" presetID="35" presetClass="emph" presetSubtype="0" repeatCount="5000" fill="hold" nodeType="withEffect">
                                  <p:stCondLst>
                                    <p:cond delay="0"/>
                                  </p:stCondLst>
                                  <p:childTnLst>
                                    <p:anim calcmode="discrete" valueType="str">
                                      <p:cBhvr>
                                        <p:cTn id="48" dur="1000" fill="hold"/>
                                        <p:tgtEl>
                                          <p:spTgt spid="38"/>
                                        </p:tgtEl>
                                        <p:attrNameLst>
                                          <p:attrName>style.visibility</p:attrName>
                                        </p:attrNameLst>
                                      </p:cBhvr>
                                      <p:tavLst>
                                        <p:tav tm="0">
                                          <p:val>
                                            <p:strVal val="hidden"/>
                                          </p:val>
                                        </p:tav>
                                        <p:tav tm="50000">
                                          <p:val>
                                            <p:strVal val="visible"/>
                                          </p:val>
                                        </p:tav>
                                      </p:tavLst>
                                    </p:anim>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p:bldP spid="14" grpId="0" animBg="1"/>
      <p:bldP spid="14" grpId="1" animBg="1"/>
      <p:bldP spid="14" grpId="2" animBg="1"/>
      <p:bldP spid="3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10</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p:txBody>
          <a:bodyPr/>
          <a:lstStyle/>
          <a:p>
            <a:r>
              <a:rPr lang="en-US" dirty="0"/>
              <a:t>CẤU TRÚC VÀ TÍNH CHẤT</a:t>
            </a:r>
          </a:p>
        </p:txBody>
      </p:sp>
      <p:pic>
        <p:nvPicPr>
          <p:cNvPr id="6" name="Graphic 5">
            <a:extLst>
              <a:ext uri="{FF2B5EF4-FFF2-40B4-BE49-F238E27FC236}">
                <a16:creationId xmlns:a16="http://schemas.microsoft.com/office/drawing/2014/main" id="{05E8FE75-3C9C-C6C7-13B4-E4CF7248200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12916" y="3429000"/>
            <a:ext cx="5451676" cy="2914955"/>
          </a:xfrm>
          <a:prstGeom prst="rect">
            <a:avLst/>
          </a:prstGeom>
        </p:spPr>
      </p:pic>
      <p:sp>
        <p:nvSpPr>
          <p:cNvPr id="7" name="TextBox 6">
            <a:extLst>
              <a:ext uri="{FF2B5EF4-FFF2-40B4-BE49-F238E27FC236}">
                <a16:creationId xmlns:a16="http://schemas.microsoft.com/office/drawing/2014/main" id="{776AF3CD-3573-CC4C-F0D1-A50A81D09A97}"/>
              </a:ext>
            </a:extLst>
          </p:cNvPr>
          <p:cNvSpPr txBox="1"/>
          <p:nvPr/>
        </p:nvSpPr>
        <p:spPr>
          <a:xfrm>
            <a:off x="486136" y="856527"/>
            <a:ext cx="4386805" cy="369332"/>
          </a:xfrm>
          <a:prstGeom prst="rect">
            <a:avLst/>
          </a:prstGeom>
          <a:noFill/>
        </p:spPr>
        <p:txBody>
          <a:bodyPr wrap="square" rtlCol="0">
            <a:spAutoFit/>
          </a:bodyPr>
          <a:lstStyle/>
          <a:p>
            <a:r>
              <a:rPr lang="en-VN" b="1" dirty="0">
                <a:latin typeface="Lato" panose="020F0502020204030203" pitchFamily="34" charset="0"/>
                <a:ea typeface="Lato" panose="020F0502020204030203" pitchFamily="34" charset="0"/>
                <a:cs typeface="Lato" panose="020F0502020204030203" pitchFamily="34" charset="0"/>
              </a:rPr>
              <a:t>1. CHIỀU CAO ĐEN CỦA MỘT NODE</a:t>
            </a:r>
          </a:p>
        </p:txBody>
      </p:sp>
      <p:sp>
        <p:nvSpPr>
          <p:cNvPr id="8" name="TextBox 7">
            <a:extLst>
              <a:ext uri="{FF2B5EF4-FFF2-40B4-BE49-F238E27FC236}">
                <a16:creationId xmlns:a16="http://schemas.microsoft.com/office/drawing/2014/main" id="{71532E84-120E-7B76-25EB-571677FAC224}"/>
              </a:ext>
            </a:extLst>
          </p:cNvPr>
          <p:cNvSpPr txBox="1"/>
          <p:nvPr/>
        </p:nvSpPr>
        <p:spPr>
          <a:xfrm>
            <a:off x="1030147" y="1225859"/>
            <a:ext cx="5837236" cy="369332"/>
          </a:xfrm>
          <a:prstGeom prst="rect">
            <a:avLst/>
          </a:prstGeom>
          <a:noFill/>
        </p:spPr>
        <p:txBody>
          <a:bodyPr wrap="square" rtlCol="0">
            <a:spAutoFit/>
          </a:bodyPr>
          <a:lstStyle/>
          <a:p>
            <a:r>
              <a:rPr lang="en-VN" dirty="0">
                <a:latin typeface="Lato" panose="020F0502020204030203" pitchFamily="34" charset="0"/>
                <a:ea typeface="Lato" panose="020F0502020204030203" pitchFamily="34" charset="0"/>
                <a:cs typeface="Lato" panose="020F0502020204030203" pitchFamily="34" charset="0"/>
              </a:rPr>
              <a:t>- </a:t>
            </a:r>
            <a:r>
              <a:rPr lang="en-VN" dirty="0">
                <a:solidFill>
                  <a:srgbClr val="7030A0"/>
                </a:solidFill>
                <a:latin typeface="Lato" panose="020F0502020204030203" pitchFamily="34" charset="0"/>
                <a:ea typeface="Lato" panose="020F0502020204030203" pitchFamily="34" charset="0"/>
                <a:cs typeface="Lato" panose="020F0502020204030203" pitchFamily="34" charset="0"/>
              </a:rPr>
              <a:t>Chiều cao đen </a:t>
            </a:r>
            <a:r>
              <a:rPr lang="en-VN" dirty="0">
                <a:latin typeface="Lato" panose="020F0502020204030203" pitchFamily="34" charset="0"/>
                <a:ea typeface="Lato" panose="020F0502020204030203" pitchFamily="34" charset="0"/>
                <a:cs typeface="Lato" panose="020F0502020204030203" pitchFamily="34" charset="0"/>
              </a:rPr>
              <a:t>của X là số node đen khi đi từ X tới lá.</a:t>
            </a:r>
          </a:p>
        </p:txBody>
      </p:sp>
      <p:sp>
        <p:nvSpPr>
          <p:cNvPr id="9" name="TextBox 8">
            <a:extLst>
              <a:ext uri="{FF2B5EF4-FFF2-40B4-BE49-F238E27FC236}">
                <a16:creationId xmlns:a16="http://schemas.microsoft.com/office/drawing/2014/main" id="{8BB9185A-F472-2EFC-D5EB-D63284DDB317}"/>
              </a:ext>
            </a:extLst>
          </p:cNvPr>
          <p:cNvSpPr txBox="1"/>
          <p:nvPr/>
        </p:nvSpPr>
        <p:spPr>
          <a:xfrm>
            <a:off x="1157468" y="1595191"/>
            <a:ext cx="4710897" cy="3416320"/>
          </a:xfrm>
          <a:prstGeom prst="rect">
            <a:avLst/>
          </a:prstGeom>
          <a:noFill/>
        </p:spPr>
        <p:txBody>
          <a:bodyPr wrap="square" rtlCol="0">
            <a:spAutoFit/>
          </a:bodyPr>
          <a:lstStyle/>
          <a:p>
            <a:r>
              <a:rPr lang="en-VN" dirty="0"/>
              <a:t>VD: Xét node 13:</a:t>
            </a:r>
          </a:p>
          <a:p>
            <a:r>
              <a:rPr lang="en-VN" dirty="0"/>
              <a:t>13   -   </a:t>
            </a:r>
            <a:r>
              <a:rPr lang="en-VN" dirty="0">
                <a:solidFill>
                  <a:srgbClr val="FF0000"/>
                </a:solidFill>
              </a:rPr>
              <a:t>8</a:t>
            </a:r>
            <a:r>
              <a:rPr lang="en-VN" dirty="0"/>
              <a:t>   -   1				</a:t>
            </a:r>
            <a:r>
              <a:rPr lang="en-VN" i="1" dirty="0"/>
              <a:t>(2 node đen)</a:t>
            </a:r>
          </a:p>
          <a:p>
            <a:r>
              <a:rPr lang="en-VN" dirty="0"/>
              <a:t>13   -   </a:t>
            </a:r>
            <a:r>
              <a:rPr lang="en-VN" dirty="0">
                <a:solidFill>
                  <a:srgbClr val="FF0000"/>
                </a:solidFill>
              </a:rPr>
              <a:t>8</a:t>
            </a:r>
            <a:r>
              <a:rPr lang="en-VN" dirty="0"/>
              <a:t>   -   1   -   </a:t>
            </a:r>
            <a:r>
              <a:rPr lang="en-VN" dirty="0">
                <a:solidFill>
                  <a:srgbClr val="FF0000"/>
                </a:solidFill>
              </a:rPr>
              <a:t>6</a:t>
            </a:r>
            <a:r>
              <a:rPr lang="en-VN" dirty="0"/>
              <a:t>			</a:t>
            </a:r>
            <a:r>
              <a:rPr lang="en-VN" i="1" dirty="0"/>
              <a:t>(2 node đen)</a:t>
            </a:r>
          </a:p>
          <a:p>
            <a:r>
              <a:rPr lang="en-VN" dirty="0"/>
              <a:t>13   -   </a:t>
            </a:r>
            <a:r>
              <a:rPr lang="en-VN" dirty="0">
                <a:solidFill>
                  <a:srgbClr val="FF0000"/>
                </a:solidFill>
              </a:rPr>
              <a:t>8</a:t>
            </a:r>
            <a:r>
              <a:rPr lang="en-VN" dirty="0"/>
              <a:t>   -   11				</a:t>
            </a:r>
            <a:r>
              <a:rPr lang="en-VN" i="1" dirty="0"/>
              <a:t>(2 node đen)</a:t>
            </a:r>
          </a:p>
          <a:p>
            <a:r>
              <a:rPr lang="en-VN" dirty="0"/>
              <a:t>13   -   </a:t>
            </a:r>
            <a:r>
              <a:rPr lang="en-VN" dirty="0">
                <a:solidFill>
                  <a:srgbClr val="FF0000"/>
                </a:solidFill>
              </a:rPr>
              <a:t>17</a:t>
            </a:r>
            <a:r>
              <a:rPr lang="en-VN" dirty="0"/>
              <a:t>   -   15			</a:t>
            </a:r>
            <a:r>
              <a:rPr lang="en-VN" i="1" dirty="0"/>
              <a:t>(2 node đen)</a:t>
            </a:r>
          </a:p>
          <a:p>
            <a:r>
              <a:rPr lang="en-VN" dirty="0"/>
              <a:t>13   -   </a:t>
            </a:r>
            <a:r>
              <a:rPr lang="en-VN" dirty="0">
                <a:solidFill>
                  <a:srgbClr val="FF0000"/>
                </a:solidFill>
              </a:rPr>
              <a:t>17</a:t>
            </a:r>
            <a:r>
              <a:rPr lang="en-VN" dirty="0"/>
              <a:t>   -   25			</a:t>
            </a:r>
            <a:r>
              <a:rPr lang="en-VN" i="1" dirty="0"/>
              <a:t>(2 node đen)</a:t>
            </a:r>
          </a:p>
          <a:p>
            <a:r>
              <a:rPr lang="en-VN" dirty="0"/>
              <a:t>13   -   </a:t>
            </a:r>
            <a:r>
              <a:rPr lang="en-VN" dirty="0">
                <a:solidFill>
                  <a:srgbClr val="FF0000"/>
                </a:solidFill>
              </a:rPr>
              <a:t>17</a:t>
            </a:r>
            <a:r>
              <a:rPr lang="en-VN" dirty="0"/>
              <a:t>   -   25   -   </a:t>
            </a:r>
            <a:r>
              <a:rPr lang="en-VN" dirty="0">
                <a:solidFill>
                  <a:srgbClr val="FF0000"/>
                </a:solidFill>
              </a:rPr>
              <a:t>22</a:t>
            </a:r>
            <a:r>
              <a:rPr lang="en-VN" dirty="0"/>
              <a:t>		</a:t>
            </a:r>
            <a:r>
              <a:rPr lang="en-VN" i="1" dirty="0"/>
              <a:t>(2 node đen)</a:t>
            </a:r>
          </a:p>
          <a:p>
            <a:r>
              <a:rPr lang="en-VN" dirty="0"/>
              <a:t>13   -   </a:t>
            </a:r>
            <a:r>
              <a:rPr lang="en-VN" dirty="0">
                <a:solidFill>
                  <a:srgbClr val="FF0000"/>
                </a:solidFill>
              </a:rPr>
              <a:t>17</a:t>
            </a:r>
            <a:r>
              <a:rPr lang="en-VN" dirty="0"/>
              <a:t>   -   25   -   </a:t>
            </a:r>
            <a:r>
              <a:rPr lang="en-VN" dirty="0">
                <a:solidFill>
                  <a:srgbClr val="FF0000"/>
                </a:solidFill>
              </a:rPr>
              <a:t>27</a:t>
            </a:r>
            <a:r>
              <a:rPr lang="en-VN" dirty="0"/>
              <a:t>		</a:t>
            </a:r>
            <a:r>
              <a:rPr lang="en-VN" i="1" dirty="0"/>
              <a:t>(2 node đen)</a:t>
            </a:r>
          </a:p>
          <a:p>
            <a:r>
              <a:rPr lang="en-VN" i="1" dirty="0">
                <a:solidFill>
                  <a:srgbClr val="00B050"/>
                </a:solidFill>
              </a:rPr>
              <a:t>=&gt; Chiều cao đen của node 13 là 2</a:t>
            </a:r>
          </a:p>
          <a:p>
            <a:endParaRPr lang="en-VN" i="1" dirty="0"/>
          </a:p>
          <a:p>
            <a:endParaRPr lang="en-VN" i="1" dirty="0"/>
          </a:p>
          <a:p>
            <a:endParaRPr lang="en-VN" i="1" dirty="0"/>
          </a:p>
        </p:txBody>
      </p:sp>
    </p:spTree>
    <p:extLst>
      <p:ext uri="{BB962C8B-B14F-4D97-AF65-F5344CB8AC3E}">
        <p14:creationId xmlns:p14="http://schemas.microsoft.com/office/powerpoint/2010/main" val="2751358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barn(inVertical)">
                                      <p:cBhvr>
                                        <p:cTn id="23" dur="500"/>
                                        <p:tgtEl>
                                          <p:spTgt spid="9">
                                            <p:txEl>
                                              <p:pRg st="3" end="3"/>
                                            </p:txEl>
                                          </p:spTgt>
                                        </p:tgtEl>
                                      </p:cBhvr>
                                    </p:animEffect>
                                  </p:childTnLst>
                                </p:cTn>
                              </p:par>
                              <p:par>
                                <p:cTn id="24" presetID="16" presetClass="entr" presetSubtype="21" fill="hold" nodeType="withEffect">
                                  <p:stCondLst>
                                    <p:cond delay="0"/>
                                  </p:stCondLst>
                                  <p:childTnLst>
                                    <p:set>
                                      <p:cBhvr>
                                        <p:cTn id="25" dur="1" fill="hold">
                                          <p:stCondLst>
                                            <p:cond delay="0"/>
                                          </p:stCondLst>
                                        </p:cTn>
                                        <p:tgtEl>
                                          <p:spTgt spid="9">
                                            <p:txEl>
                                              <p:pRg st="4" end="4"/>
                                            </p:txEl>
                                          </p:spTgt>
                                        </p:tgtEl>
                                        <p:attrNameLst>
                                          <p:attrName>style.visibility</p:attrName>
                                        </p:attrNameLst>
                                      </p:cBhvr>
                                      <p:to>
                                        <p:strVal val="visible"/>
                                      </p:to>
                                    </p:set>
                                    <p:animEffect transition="in" filter="barn(inVertical)">
                                      <p:cBhvr>
                                        <p:cTn id="26" dur="500"/>
                                        <p:tgtEl>
                                          <p:spTgt spid="9">
                                            <p:txEl>
                                              <p:pRg st="4" end="4"/>
                                            </p:txEl>
                                          </p:spTgt>
                                        </p:tgtEl>
                                      </p:cBhvr>
                                    </p:animEffect>
                                  </p:childTnLst>
                                </p:cTn>
                              </p:par>
                              <p:par>
                                <p:cTn id="27" presetID="16" presetClass="entr" presetSubtype="21" fill="hold" nodeType="withEffect">
                                  <p:stCondLst>
                                    <p:cond delay="0"/>
                                  </p:stCondLst>
                                  <p:childTnLst>
                                    <p:set>
                                      <p:cBhvr>
                                        <p:cTn id="28" dur="1" fill="hold">
                                          <p:stCondLst>
                                            <p:cond delay="0"/>
                                          </p:stCondLst>
                                        </p:cTn>
                                        <p:tgtEl>
                                          <p:spTgt spid="9">
                                            <p:txEl>
                                              <p:pRg st="5" end="5"/>
                                            </p:txEl>
                                          </p:spTgt>
                                        </p:tgtEl>
                                        <p:attrNameLst>
                                          <p:attrName>style.visibility</p:attrName>
                                        </p:attrNameLst>
                                      </p:cBhvr>
                                      <p:to>
                                        <p:strVal val="visible"/>
                                      </p:to>
                                    </p:set>
                                    <p:animEffect transition="in" filter="barn(inVertical)">
                                      <p:cBhvr>
                                        <p:cTn id="29" dur="500"/>
                                        <p:tgtEl>
                                          <p:spTgt spid="9">
                                            <p:txEl>
                                              <p:pRg st="5" end="5"/>
                                            </p:txEl>
                                          </p:spTgt>
                                        </p:tgtEl>
                                      </p:cBhvr>
                                    </p:animEffect>
                                  </p:childTnLst>
                                </p:cTn>
                              </p:par>
                              <p:par>
                                <p:cTn id="30" presetID="16" presetClass="entr" presetSubtype="21" fill="hold" nodeType="withEffect">
                                  <p:stCondLst>
                                    <p:cond delay="0"/>
                                  </p:stCondLst>
                                  <p:childTnLst>
                                    <p:set>
                                      <p:cBhvr>
                                        <p:cTn id="31" dur="1" fill="hold">
                                          <p:stCondLst>
                                            <p:cond delay="0"/>
                                          </p:stCondLst>
                                        </p:cTn>
                                        <p:tgtEl>
                                          <p:spTgt spid="9">
                                            <p:txEl>
                                              <p:pRg st="6" end="6"/>
                                            </p:txEl>
                                          </p:spTgt>
                                        </p:tgtEl>
                                        <p:attrNameLst>
                                          <p:attrName>style.visibility</p:attrName>
                                        </p:attrNameLst>
                                      </p:cBhvr>
                                      <p:to>
                                        <p:strVal val="visible"/>
                                      </p:to>
                                    </p:set>
                                    <p:animEffect transition="in" filter="barn(inVertical)">
                                      <p:cBhvr>
                                        <p:cTn id="32" dur="500"/>
                                        <p:tgtEl>
                                          <p:spTgt spid="9">
                                            <p:txEl>
                                              <p:pRg st="6" end="6"/>
                                            </p:txEl>
                                          </p:spTgt>
                                        </p:tgtEl>
                                      </p:cBhvr>
                                    </p:animEffect>
                                  </p:childTnLst>
                                </p:cTn>
                              </p:par>
                              <p:par>
                                <p:cTn id="33" presetID="16" presetClass="entr" presetSubtype="21" fill="hold" nodeType="withEffect">
                                  <p:stCondLst>
                                    <p:cond delay="0"/>
                                  </p:stCondLst>
                                  <p:childTnLst>
                                    <p:set>
                                      <p:cBhvr>
                                        <p:cTn id="34" dur="1" fill="hold">
                                          <p:stCondLst>
                                            <p:cond delay="0"/>
                                          </p:stCondLst>
                                        </p:cTn>
                                        <p:tgtEl>
                                          <p:spTgt spid="9">
                                            <p:txEl>
                                              <p:pRg st="7" end="7"/>
                                            </p:txEl>
                                          </p:spTgt>
                                        </p:tgtEl>
                                        <p:attrNameLst>
                                          <p:attrName>style.visibility</p:attrName>
                                        </p:attrNameLst>
                                      </p:cBhvr>
                                      <p:to>
                                        <p:strVal val="visible"/>
                                      </p:to>
                                    </p:set>
                                    <p:animEffect transition="in" filter="barn(inVertical)">
                                      <p:cBhvr>
                                        <p:cTn id="35" dur="500"/>
                                        <p:tgtEl>
                                          <p:spTgt spid="9">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11</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p:txBody>
          <a:bodyPr/>
          <a:lstStyle/>
          <a:p>
            <a:r>
              <a:rPr lang="en-US" dirty="0"/>
              <a:t>CẤU TRÚC VÀ TÍNH CHẤT</a:t>
            </a:r>
          </a:p>
        </p:txBody>
      </p:sp>
      <p:pic>
        <p:nvPicPr>
          <p:cNvPr id="6" name="Graphic 5">
            <a:extLst>
              <a:ext uri="{FF2B5EF4-FFF2-40B4-BE49-F238E27FC236}">
                <a16:creationId xmlns:a16="http://schemas.microsoft.com/office/drawing/2014/main" id="{05E8FE75-3C9C-C6C7-13B4-E4CF7248200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60956" y="3218995"/>
            <a:ext cx="5451676" cy="2867628"/>
          </a:xfrm>
          <a:prstGeom prst="rect">
            <a:avLst/>
          </a:prstGeom>
        </p:spPr>
      </p:pic>
      <p:sp>
        <p:nvSpPr>
          <p:cNvPr id="4" name="TextBox 3">
            <a:extLst>
              <a:ext uri="{FF2B5EF4-FFF2-40B4-BE49-F238E27FC236}">
                <a16:creationId xmlns:a16="http://schemas.microsoft.com/office/drawing/2014/main" id="{9DB18D4A-8053-FF27-992F-A95CDBB57BB4}"/>
              </a:ext>
            </a:extLst>
          </p:cNvPr>
          <p:cNvSpPr txBox="1"/>
          <p:nvPr/>
        </p:nvSpPr>
        <p:spPr>
          <a:xfrm>
            <a:off x="486136" y="856527"/>
            <a:ext cx="4386805" cy="369332"/>
          </a:xfrm>
          <a:prstGeom prst="rect">
            <a:avLst/>
          </a:prstGeom>
          <a:noFill/>
        </p:spPr>
        <p:txBody>
          <a:bodyPr wrap="square" rtlCol="0">
            <a:spAutoFit/>
          </a:bodyPr>
          <a:lstStyle/>
          <a:p>
            <a:r>
              <a:rPr lang="en-VN" b="1" dirty="0">
                <a:latin typeface="Lato" panose="020F0502020204030203" pitchFamily="34" charset="0"/>
                <a:ea typeface="Lato" panose="020F0502020204030203" pitchFamily="34" charset="0"/>
                <a:cs typeface="Lato" panose="020F0502020204030203" pitchFamily="34" charset="0"/>
              </a:rPr>
              <a:t>2. TÍNH CHẤT</a:t>
            </a:r>
          </a:p>
        </p:txBody>
      </p:sp>
      <p:sp>
        <p:nvSpPr>
          <p:cNvPr id="5" name="TextBox 4">
            <a:extLst>
              <a:ext uri="{FF2B5EF4-FFF2-40B4-BE49-F238E27FC236}">
                <a16:creationId xmlns:a16="http://schemas.microsoft.com/office/drawing/2014/main" id="{70C94837-A8D0-87C0-F812-5B299144A430}"/>
              </a:ext>
            </a:extLst>
          </p:cNvPr>
          <p:cNvSpPr txBox="1"/>
          <p:nvPr/>
        </p:nvSpPr>
        <p:spPr>
          <a:xfrm>
            <a:off x="1030146" y="1225859"/>
            <a:ext cx="6794339" cy="646331"/>
          </a:xfrm>
          <a:prstGeom prst="rect">
            <a:avLst/>
          </a:prstGeom>
          <a:noFill/>
        </p:spPr>
        <p:txBody>
          <a:bodyPr wrap="square" rtlCol="0">
            <a:spAutoFit/>
          </a:bodyPr>
          <a:lstStyle/>
          <a:p>
            <a:r>
              <a:rPr lang="en-VN" dirty="0">
                <a:latin typeface="Lato" panose="020F0502020204030203" pitchFamily="34" charset="0"/>
                <a:ea typeface="Lato" panose="020F0502020204030203" pitchFamily="34" charset="0"/>
                <a:cs typeface="Lato" panose="020F0502020204030203" pitchFamily="34" charset="0"/>
              </a:rPr>
              <a:t>- Đường đi của một nút tới tất cả các nút lá đều có chiều cao đen bằng nhau (</a:t>
            </a:r>
            <a:r>
              <a:rPr lang="en-VN" i="1" dirty="0">
                <a:solidFill>
                  <a:srgbClr val="00B0F0"/>
                </a:solidFill>
                <a:latin typeface="Lato" panose="020F0502020204030203" pitchFamily="34" charset="0"/>
                <a:ea typeface="Lato" panose="020F0502020204030203" pitchFamily="34" charset="0"/>
                <a:cs typeface="Lato" panose="020F0502020204030203" pitchFamily="34" charset="0"/>
              </a:rPr>
              <a:t>Tính cân bằng của cây đỏ đen</a:t>
            </a:r>
            <a:r>
              <a:rPr lang="en-VN" dirty="0">
                <a:latin typeface="Lato" panose="020F0502020204030203" pitchFamily="34" charset="0"/>
                <a:ea typeface="Lato" panose="020F0502020204030203" pitchFamily="34" charset="0"/>
                <a:cs typeface="Lato" panose="020F0502020204030203" pitchFamily="34" charset="0"/>
              </a:rPr>
              <a:t>)</a:t>
            </a:r>
          </a:p>
        </p:txBody>
      </p:sp>
      <p:sp>
        <p:nvSpPr>
          <p:cNvPr id="7" name="TextBox 6">
            <a:extLst>
              <a:ext uri="{FF2B5EF4-FFF2-40B4-BE49-F238E27FC236}">
                <a16:creationId xmlns:a16="http://schemas.microsoft.com/office/drawing/2014/main" id="{5C9FAFE4-8F56-60EF-159B-C6BC7CD45EF1}"/>
              </a:ext>
            </a:extLst>
          </p:cNvPr>
          <p:cNvSpPr txBox="1"/>
          <p:nvPr/>
        </p:nvSpPr>
        <p:spPr>
          <a:xfrm>
            <a:off x="1030146" y="2087162"/>
            <a:ext cx="6794339" cy="646331"/>
          </a:xfrm>
          <a:prstGeom prst="rect">
            <a:avLst/>
          </a:prstGeom>
          <a:noFill/>
        </p:spPr>
        <p:txBody>
          <a:bodyPr wrap="square" rtlCol="0">
            <a:spAutoFit/>
          </a:bodyPr>
          <a:lstStyle/>
          <a:p>
            <a:r>
              <a:rPr lang="en-VN" dirty="0">
                <a:solidFill>
                  <a:srgbClr val="C00000"/>
                </a:solidFill>
                <a:latin typeface="Lato" panose="020F0502020204030203" pitchFamily="34" charset="0"/>
                <a:ea typeface="Lato" panose="020F0502020204030203" pitchFamily="34" charset="0"/>
                <a:cs typeface="Lato" panose="020F0502020204030203" pitchFamily="34" charset="0"/>
              </a:rPr>
              <a:t>==&gt; Hệ quả: </a:t>
            </a:r>
            <a:r>
              <a:rPr lang="en-VN" dirty="0">
                <a:latin typeface="Lato" panose="020F0502020204030203" pitchFamily="34" charset="0"/>
                <a:ea typeface="Lato" panose="020F0502020204030203" pitchFamily="34" charset="0"/>
                <a:cs typeface="Lato" panose="020F0502020204030203" pitchFamily="34" charset="0"/>
              </a:rPr>
              <a:t>Đường đi dài nhất từ gốc tới lá không dài quá </a:t>
            </a:r>
            <a:r>
              <a:rPr lang="en-VN" dirty="0">
                <a:solidFill>
                  <a:srgbClr val="FF0000"/>
                </a:solidFill>
                <a:latin typeface="Lato" panose="020F0502020204030203" pitchFamily="34" charset="0"/>
                <a:ea typeface="Lato" panose="020F0502020204030203" pitchFamily="34" charset="0"/>
                <a:cs typeface="Lato" panose="020F0502020204030203" pitchFamily="34" charset="0"/>
              </a:rPr>
              <a:t>2 lần </a:t>
            </a:r>
            <a:r>
              <a:rPr lang="en-VN" dirty="0">
                <a:latin typeface="Lato" panose="020F0502020204030203" pitchFamily="34" charset="0"/>
                <a:ea typeface="Lato" panose="020F0502020204030203" pitchFamily="34" charset="0"/>
                <a:cs typeface="Lato" panose="020F0502020204030203" pitchFamily="34" charset="0"/>
              </a:rPr>
              <a:t>đường đi ngắn nhất từ gốc tới lá. </a:t>
            </a:r>
            <a:r>
              <a:rPr lang="en-VN" dirty="0">
                <a:solidFill>
                  <a:srgbClr val="C00000"/>
                </a:solidFill>
                <a:latin typeface="Lato" panose="020F0502020204030203" pitchFamily="34" charset="0"/>
                <a:ea typeface="Lato" panose="020F0502020204030203" pitchFamily="34" charset="0"/>
                <a:cs typeface="Lato" panose="020F0502020204030203" pitchFamily="34" charset="0"/>
              </a:rPr>
              <a:t> </a:t>
            </a:r>
          </a:p>
        </p:txBody>
      </p:sp>
    </p:spTree>
    <p:extLst>
      <p:ext uri="{BB962C8B-B14F-4D97-AF65-F5344CB8AC3E}">
        <p14:creationId xmlns:p14="http://schemas.microsoft.com/office/powerpoint/2010/main" val="3878714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12</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p:txBody>
          <a:bodyPr/>
          <a:lstStyle/>
          <a:p>
            <a:r>
              <a:rPr lang="en-US" dirty="0"/>
              <a:t>CẤU TRÚC VÀ TÍNH CHẤT</a:t>
            </a:r>
          </a:p>
        </p:txBody>
      </p:sp>
      <p:sp>
        <p:nvSpPr>
          <p:cNvPr id="4" name="TextBox 3">
            <a:extLst>
              <a:ext uri="{FF2B5EF4-FFF2-40B4-BE49-F238E27FC236}">
                <a16:creationId xmlns:a16="http://schemas.microsoft.com/office/drawing/2014/main" id="{C8136285-4A6C-730F-2944-916715910022}"/>
              </a:ext>
            </a:extLst>
          </p:cNvPr>
          <p:cNvSpPr txBox="1"/>
          <p:nvPr/>
        </p:nvSpPr>
        <p:spPr>
          <a:xfrm>
            <a:off x="486136" y="856527"/>
            <a:ext cx="4386805" cy="369332"/>
          </a:xfrm>
          <a:prstGeom prst="rect">
            <a:avLst/>
          </a:prstGeom>
          <a:noFill/>
        </p:spPr>
        <p:txBody>
          <a:bodyPr wrap="square" rtlCol="0">
            <a:spAutoFit/>
          </a:bodyPr>
          <a:lstStyle/>
          <a:p>
            <a:r>
              <a:rPr lang="en-VN" b="1" dirty="0">
                <a:latin typeface="Lato" panose="020F0502020204030203" pitchFamily="34" charset="0"/>
                <a:ea typeface="Lato" panose="020F0502020204030203" pitchFamily="34" charset="0"/>
                <a:cs typeface="Lato" panose="020F0502020204030203" pitchFamily="34" charset="0"/>
              </a:rPr>
              <a:t>3. CẤU TRÚC CỦA MỘT NODE</a:t>
            </a:r>
          </a:p>
        </p:txBody>
      </p:sp>
      <p:sp>
        <p:nvSpPr>
          <p:cNvPr id="5" name="TextBox 4">
            <a:extLst>
              <a:ext uri="{FF2B5EF4-FFF2-40B4-BE49-F238E27FC236}">
                <a16:creationId xmlns:a16="http://schemas.microsoft.com/office/drawing/2014/main" id="{F1E6C696-AA43-CC5A-FF6E-4E7444970DA1}"/>
              </a:ext>
            </a:extLst>
          </p:cNvPr>
          <p:cNvSpPr txBox="1"/>
          <p:nvPr/>
        </p:nvSpPr>
        <p:spPr>
          <a:xfrm>
            <a:off x="1030147" y="1225859"/>
            <a:ext cx="4386806" cy="1477328"/>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marL="285750" indent="-285750">
              <a:buClr>
                <a:schemeClr val="accent5">
                  <a:lumMod val="75000"/>
                </a:schemeClr>
              </a:buClr>
              <a:buFont typeface="Wingdings" pitchFamily="2" charset="2"/>
              <a:buChar char="ü"/>
            </a:pPr>
            <a:r>
              <a:rPr lang="en-VN" dirty="0">
                <a:solidFill>
                  <a:srgbClr val="FF0000"/>
                </a:solidFill>
                <a:latin typeface="Lato" panose="020F0502020204030203" pitchFamily="34" charset="0"/>
                <a:ea typeface="Lato" panose="020F0502020204030203" pitchFamily="34" charset="0"/>
                <a:cs typeface="Lato" panose="020F0502020204030203" pitchFamily="34" charset="0"/>
              </a:rPr>
              <a:t>Infor:</a:t>
            </a:r>
            <a:r>
              <a:rPr lang="en-VN" dirty="0">
                <a:latin typeface="Lato" panose="020F0502020204030203" pitchFamily="34" charset="0"/>
                <a:ea typeface="Lato" panose="020F0502020204030203" pitchFamily="34" charset="0"/>
                <a:cs typeface="Lato" panose="020F0502020204030203" pitchFamily="34" charset="0"/>
              </a:rPr>
              <a:t> Thông tin của node</a:t>
            </a:r>
          </a:p>
          <a:p>
            <a:pPr marL="285750" indent="-285750">
              <a:buClr>
                <a:schemeClr val="accent5">
                  <a:lumMod val="75000"/>
                </a:schemeClr>
              </a:buClr>
              <a:buFont typeface="Wingdings" pitchFamily="2" charset="2"/>
              <a:buChar char="ü"/>
            </a:pPr>
            <a:r>
              <a:rPr lang="en-VN" dirty="0">
                <a:solidFill>
                  <a:srgbClr val="FF0000"/>
                </a:solidFill>
                <a:latin typeface="Lato" panose="020F0502020204030203" pitchFamily="34" charset="0"/>
                <a:ea typeface="Lato" panose="020F0502020204030203" pitchFamily="34" charset="0"/>
                <a:cs typeface="Lato" panose="020F0502020204030203" pitchFamily="34" charset="0"/>
              </a:rPr>
              <a:t>Left:</a:t>
            </a:r>
            <a:r>
              <a:rPr lang="en-VN" dirty="0">
                <a:latin typeface="Lato" panose="020F0502020204030203" pitchFamily="34" charset="0"/>
                <a:ea typeface="Lato" panose="020F0502020204030203" pitchFamily="34" charset="0"/>
                <a:cs typeface="Lato" panose="020F0502020204030203" pitchFamily="34" charset="0"/>
              </a:rPr>
              <a:t> Con trỏ tới con trái của node</a:t>
            </a:r>
          </a:p>
          <a:p>
            <a:pPr marL="285750" indent="-285750">
              <a:buClr>
                <a:schemeClr val="accent5">
                  <a:lumMod val="75000"/>
                </a:schemeClr>
              </a:buClr>
              <a:buFont typeface="Wingdings" pitchFamily="2" charset="2"/>
              <a:buChar char="ü"/>
            </a:pPr>
            <a:r>
              <a:rPr lang="en-VN" dirty="0">
                <a:solidFill>
                  <a:srgbClr val="FF0000"/>
                </a:solidFill>
                <a:latin typeface="Lato" panose="020F0502020204030203" pitchFamily="34" charset="0"/>
                <a:ea typeface="Lato" panose="020F0502020204030203" pitchFamily="34" charset="0"/>
                <a:cs typeface="Lato" panose="020F0502020204030203" pitchFamily="34" charset="0"/>
              </a:rPr>
              <a:t>Right:</a:t>
            </a:r>
            <a:r>
              <a:rPr lang="en-VN" dirty="0">
                <a:latin typeface="Lato" panose="020F0502020204030203" pitchFamily="34" charset="0"/>
                <a:ea typeface="Lato" panose="020F0502020204030203" pitchFamily="34" charset="0"/>
                <a:cs typeface="Lato" panose="020F0502020204030203" pitchFamily="34" charset="0"/>
              </a:rPr>
              <a:t> Con trỏ tới con phải của node</a:t>
            </a:r>
          </a:p>
          <a:p>
            <a:pPr marL="285750" indent="-285750">
              <a:buClr>
                <a:schemeClr val="accent5">
                  <a:lumMod val="75000"/>
                </a:schemeClr>
              </a:buClr>
              <a:buFont typeface="Wingdings" pitchFamily="2" charset="2"/>
              <a:buChar char="ü"/>
            </a:pPr>
            <a:r>
              <a:rPr lang="en-VN" dirty="0">
                <a:solidFill>
                  <a:srgbClr val="00B050"/>
                </a:solidFill>
                <a:latin typeface="Lato" panose="020F0502020204030203" pitchFamily="34" charset="0"/>
                <a:ea typeface="Lato" panose="020F0502020204030203" pitchFamily="34" charset="0"/>
                <a:cs typeface="Lato" panose="020F0502020204030203" pitchFamily="34" charset="0"/>
              </a:rPr>
              <a:t>Color:</a:t>
            </a:r>
            <a:r>
              <a:rPr lang="en-VN" dirty="0">
                <a:latin typeface="Lato" panose="020F0502020204030203" pitchFamily="34" charset="0"/>
                <a:ea typeface="Lato" panose="020F0502020204030203" pitchFamily="34" charset="0"/>
                <a:cs typeface="Lato" panose="020F0502020204030203" pitchFamily="34" charset="0"/>
              </a:rPr>
              <a:t> Màu của node</a:t>
            </a:r>
          </a:p>
          <a:p>
            <a:pPr marL="285750" indent="-285750">
              <a:buClr>
                <a:schemeClr val="accent5">
                  <a:lumMod val="75000"/>
                </a:schemeClr>
              </a:buClr>
              <a:buFont typeface="Wingdings" pitchFamily="2" charset="2"/>
              <a:buChar char="ü"/>
            </a:pPr>
            <a:r>
              <a:rPr lang="en-VN" dirty="0">
                <a:solidFill>
                  <a:srgbClr val="00B050"/>
                </a:solidFill>
                <a:latin typeface="Lato" panose="020F0502020204030203" pitchFamily="34" charset="0"/>
                <a:ea typeface="Lato" panose="020F0502020204030203" pitchFamily="34" charset="0"/>
                <a:cs typeface="Lato" panose="020F0502020204030203" pitchFamily="34" charset="0"/>
              </a:rPr>
              <a:t>Parent:</a:t>
            </a:r>
            <a:r>
              <a:rPr lang="en-VN" dirty="0">
                <a:latin typeface="Lato" panose="020F0502020204030203" pitchFamily="34" charset="0"/>
                <a:ea typeface="Lato" panose="020F0502020204030203" pitchFamily="34" charset="0"/>
                <a:cs typeface="Lato" panose="020F0502020204030203" pitchFamily="34" charset="0"/>
              </a:rPr>
              <a:t> Con trỏ tới node cha</a:t>
            </a:r>
          </a:p>
        </p:txBody>
      </p:sp>
      <p:pic>
        <p:nvPicPr>
          <p:cNvPr id="8" name="Picture 7" descr="A screen shot of a computer code&#10;&#10;Description automatically generated">
            <a:extLst>
              <a:ext uri="{FF2B5EF4-FFF2-40B4-BE49-F238E27FC236}">
                <a16:creationId xmlns:a16="http://schemas.microsoft.com/office/drawing/2014/main" id="{7DFE4415-A8F2-95D8-48B7-F920254013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7849" y="3582365"/>
            <a:ext cx="5448300" cy="2730500"/>
          </a:xfrm>
          <a:prstGeom prst="rect">
            <a:avLst/>
          </a:prstGeom>
        </p:spPr>
      </p:pic>
      <p:sp>
        <p:nvSpPr>
          <p:cNvPr id="9" name="Down Arrow 8">
            <a:extLst>
              <a:ext uri="{FF2B5EF4-FFF2-40B4-BE49-F238E27FC236}">
                <a16:creationId xmlns:a16="http://schemas.microsoft.com/office/drawing/2014/main" id="{C4A776AB-4EB9-BB5D-EC1F-EFA6363504AD}"/>
              </a:ext>
            </a:extLst>
          </p:cNvPr>
          <p:cNvSpPr/>
          <p:nvPr/>
        </p:nvSpPr>
        <p:spPr>
          <a:xfrm>
            <a:off x="4262376" y="2856552"/>
            <a:ext cx="619247" cy="57244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696138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13</a:t>
            </a:fld>
            <a:endParaRPr lang="en-US" dirty="0"/>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lang="en-US" dirty="0"/>
              <a:t>THAO TÁC CƠ BẢN</a:t>
            </a:r>
          </a:p>
        </p:txBody>
      </p:sp>
      <p:sp>
        <p:nvSpPr>
          <p:cNvPr id="7" name="TextBox 6">
            <a:extLst>
              <a:ext uri="{FF2B5EF4-FFF2-40B4-BE49-F238E27FC236}">
                <a16:creationId xmlns:a16="http://schemas.microsoft.com/office/drawing/2014/main" id="{22328069-3432-BB80-C8BD-B466E08CE0E2}"/>
              </a:ext>
            </a:extLst>
          </p:cNvPr>
          <p:cNvSpPr txBox="1"/>
          <p:nvPr/>
        </p:nvSpPr>
        <p:spPr>
          <a:xfrm>
            <a:off x="711843" y="1309459"/>
            <a:ext cx="7720314" cy="400110"/>
          </a:xfrm>
          <a:prstGeom prst="rect">
            <a:avLst/>
          </a:prstGeom>
          <a:noFill/>
        </p:spPr>
        <p:txBody>
          <a:bodyPr wrap="square" rtlCol="0">
            <a:spAutoFit/>
          </a:bodyPr>
          <a:lstStyle/>
          <a:p>
            <a:r>
              <a:rPr lang="en-VN" sz="2000" dirty="0">
                <a:solidFill>
                  <a:srgbClr val="C00000"/>
                </a:solidFill>
                <a:latin typeface="Lato" panose="020F0502020204030203" pitchFamily="34" charset="0"/>
                <a:ea typeface="Lato" panose="020F0502020204030203" pitchFamily="34" charset="0"/>
                <a:cs typeface="Lato" panose="020F0502020204030203" pitchFamily="34" charset="0"/>
              </a:rPr>
              <a:t>Cây đỏ đen </a:t>
            </a:r>
            <a:r>
              <a:rPr lang="en-VN" sz="2000" dirty="0">
                <a:latin typeface="Lato" panose="020F0502020204030203" pitchFamily="34" charset="0"/>
                <a:ea typeface="Lato" panose="020F0502020204030203" pitchFamily="34" charset="0"/>
                <a:cs typeface="Lato" panose="020F0502020204030203" pitchFamily="34" charset="0"/>
              </a:rPr>
              <a:t>cũng có các thao tác giống như </a:t>
            </a:r>
            <a:r>
              <a:rPr lang="en-VN" sz="2000" dirty="0">
                <a:solidFill>
                  <a:srgbClr val="7030A0"/>
                </a:solidFill>
                <a:latin typeface="Lato" panose="020F0502020204030203" pitchFamily="34" charset="0"/>
                <a:ea typeface="Lato" panose="020F0502020204030203" pitchFamily="34" charset="0"/>
                <a:cs typeface="Lato" panose="020F0502020204030203" pitchFamily="34" charset="0"/>
              </a:rPr>
              <a:t>cây nhị phân tìm kiếm: </a:t>
            </a:r>
          </a:p>
        </p:txBody>
      </p:sp>
      <p:sp>
        <p:nvSpPr>
          <p:cNvPr id="8" name="TextBox 7">
            <a:extLst>
              <a:ext uri="{FF2B5EF4-FFF2-40B4-BE49-F238E27FC236}">
                <a16:creationId xmlns:a16="http://schemas.microsoft.com/office/drawing/2014/main" id="{D08BEE39-76B2-70DE-4C43-5A34BCEEB0FC}"/>
              </a:ext>
            </a:extLst>
          </p:cNvPr>
          <p:cNvSpPr txBox="1"/>
          <p:nvPr/>
        </p:nvSpPr>
        <p:spPr>
          <a:xfrm>
            <a:off x="964294" y="2214395"/>
            <a:ext cx="3700303" cy="1681358"/>
          </a:xfrm>
          <a:prstGeom prst="rect">
            <a:avLst/>
          </a:prstGeom>
          <a:noFill/>
        </p:spPr>
        <p:txBody>
          <a:bodyPr wrap="square" rtlCol="0">
            <a:spAutoFit/>
          </a:bodyPr>
          <a:lstStyle/>
          <a:p>
            <a:pPr marL="342900" indent="-342900">
              <a:lnSpc>
                <a:spcPct val="150000"/>
              </a:lnSpc>
              <a:buAutoNum type="arabicPeriod"/>
            </a:pPr>
            <a:r>
              <a:rPr lang="en-VN" sz="2400" b="1" dirty="0">
                <a:solidFill>
                  <a:srgbClr val="C00000"/>
                </a:solidFill>
                <a:latin typeface="Lato" panose="020F0502020204030203" pitchFamily="34" charset="0"/>
                <a:ea typeface="Lato" panose="020F0502020204030203" pitchFamily="34" charset="0"/>
                <a:cs typeface="Lato" panose="020F0502020204030203" pitchFamily="34" charset="0"/>
              </a:rPr>
              <a:t>Search (Tìm kiếm)</a:t>
            </a:r>
          </a:p>
          <a:p>
            <a:pPr marL="342900" indent="-342900">
              <a:lnSpc>
                <a:spcPct val="150000"/>
              </a:lnSpc>
              <a:buAutoNum type="arabicPeriod"/>
            </a:pPr>
            <a:r>
              <a:rPr lang="en-VN" sz="2400" b="1" dirty="0">
                <a:solidFill>
                  <a:srgbClr val="C00000"/>
                </a:solidFill>
                <a:latin typeface="Lato" panose="020F0502020204030203" pitchFamily="34" charset="0"/>
                <a:ea typeface="Lato" panose="020F0502020204030203" pitchFamily="34" charset="0"/>
                <a:cs typeface="Lato" panose="020F0502020204030203" pitchFamily="34" charset="0"/>
              </a:rPr>
              <a:t>Insertion (Thêm node)</a:t>
            </a:r>
          </a:p>
          <a:p>
            <a:pPr marL="342900" indent="-342900">
              <a:lnSpc>
                <a:spcPct val="150000"/>
              </a:lnSpc>
              <a:buAutoNum type="arabicPeriod"/>
            </a:pPr>
            <a:r>
              <a:rPr lang="en-VN" sz="2400" b="1" dirty="0">
                <a:solidFill>
                  <a:srgbClr val="C00000"/>
                </a:solidFill>
                <a:latin typeface="Lato" panose="020F0502020204030203" pitchFamily="34" charset="0"/>
                <a:ea typeface="Lato" panose="020F0502020204030203" pitchFamily="34" charset="0"/>
                <a:cs typeface="Lato" panose="020F0502020204030203" pitchFamily="34" charset="0"/>
              </a:rPr>
              <a:t>Deletion (Xoá node)</a:t>
            </a:r>
          </a:p>
        </p:txBody>
      </p:sp>
      <p:grpSp>
        <p:nvGrpSpPr>
          <p:cNvPr id="12" name="Group 11">
            <a:extLst>
              <a:ext uri="{FF2B5EF4-FFF2-40B4-BE49-F238E27FC236}">
                <a16:creationId xmlns:a16="http://schemas.microsoft.com/office/drawing/2014/main" id="{5A6D5E2F-750E-2F29-6655-91E107D79107}"/>
              </a:ext>
            </a:extLst>
          </p:cNvPr>
          <p:cNvGrpSpPr/>
          <p:nvPr/>
        </p:nvGrpSpPr>
        <p:grpSpPr>
          <a:xfrm>
            <a:off x="4664597" y="2993502"/>
            <a:ext cx="3503533" cy="870995"/>
            <a:chOff x="4722471" y="2529852"/>
            <a:chExt cx="3503533" cy="870995"/>
          </a:xfrm>
        </p:grpSpPr>
        <p:sp>
          <p:nvSpPr>
            <p:cNvPr id="9" name="Right Brace 8">
              <a:extLst>
                <a:ext uri="{FF2B5EF4-FFF2-40B4-BE49-F238E27FC236}">
                  <a16:creationId xmlns:a16="http://schemas.microsoft.com/office/drawing/2014/main" id="{0313710B-E749-BB38-43B8-470E6C8F6D01}"/>
                </a:ext>
              </a:extLst>
            </p:cNvPr>
            <p:cNvSpPr/>
            <p:nvPr/>
          </p:nvSpPr>
          <p:spPr>
            <a:xfrm>
              <a:off x="4722471" y="2529852"/>
              <a:ext cx="370390" cy="870995"/>
            </a:xfrm>
            <a:prstGeom prst="rightBrac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VN"/>
            </a:p>
          </p:txBody>
        </p:sp>
        <p:sp>
          <p:nvSpPr>
            <p:cNvPr id="10" name="Right Arrow 9">
              <a:extLst>
                <a:ext uri="{FF2B5EF4-FFF2-40B4-BE49-F238E27FC236}">
                  <a16:creationId xmlns:a16="http://schemas.microsoft.com/office/drawing/2014/main" id="{653F4202-1EA1-8F6C-522D-69CF08832712}"/>
                </a:ext>
              </a:extLst>
            </p:cNvPr>
            <p:cNvSpPr/>
            <p:nvPr/>
          </p:nvSpPr>
          <p:spPr>
            <a:xfrm>
              <a:off x="5243332" y="2792844"/>
              <a:ext cx="532435" cy="345010"/>
            </a:xfrm>
            <a:prstGeom prst="rightArrow">
              <a:avLst/>
            </a:prstGeom>
            <a:solidFill>
              <a:schemeClr val="accent6">
                <a:lumMod val="5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Process 10">
              <a:extLst>
                <a:ext uri="{FF2B5EF4-FFF2-40B4-BE49-F238E27FC236}">
                  <a16:creationId xmlns:a16="http://schemas.microsoft.com/office/drawing/2014/main" id="{B5A198DA-8408-2334-EF50-244A5CB5BFF7}"/>
                </a:ext>
              </a:extLst>
            </p:cNvPr>
            <p:cNvSpPr/>
            <p:nvPr/>
          </p:nvSpPr>
          <p:spPr>
            <a:xfrm>
              <a:off x="5926238" y="2612467"/>
              <a:ext cx="2299766" cy="739498"/>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VN" sz="2400" b="1" i="1" dirty="0">
                  <a:solidFill>
                    <a:srgbClr val="00B050"/>
                  </a:solidFill>
                </a:rPr>
                <a:t>Rotation (Quay)</a:t>
              </a:r>
            </a:p>
          </p:txBody>
        </p:sp>
      </p:grpSp>
    </p:spTree>
    <p:extLst>
      <p:ext uri="{BB962C8B-B14F-4D97-AF65-F5344CB8AC3E}">
        <p14:creationId xmlns:p14="http://schemas.microsoft.com/office/powerpoint/2010/main" val="1341840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dissolve">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14</a:t>
            </a:fld>
            <a:endParaRPr lang="en-US" dirty="0"/>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lang="en-US" dirty="0"/>
              <a:t>THAO TÁC CƠ BẢN</a:t>
            </a:r>
          </a:p>
        </p:txBody>
      </p:sp>
      <p:sp>
        <p:nvSpPr>
          <p:cNvPr id="3" name="TextBox 2">
            <a:extLst>
              <a:ext uri="{FF2B5EF4-FFF2-40B4-BE49-F238E27FC236}">
                <a16:creationId xmlns:a16="http://schemas.microsoft.com/office/drawing/2014/main" id="{FB2A445E-0F6E-815C-D17A-9F0A8135FE1E}"/>
              </a:ext>
            </a:extLst>
          </p:cNvPr>
          <p:cNvSpPr txBox="1"/>
          <p:nvPr/>
        </p:nvSpPr>
        <p:spPr>
          <a:xfrm>
            <a:off x="682906" y="729204"/>
            <a:ext cx="2974694" cy="707886"/>
          </a:xfrm>
          <a:prstGeom prst="rect">
            <a:avLst/>
          </a:prstGeom>
          <a:noFill/>
        </p:spPr>
        <p:txBody>
          <a:bodyPr wrap="square" rtlCol="0">
            <a:spAutoFit/>
          </a:bodyPr>
          <a:lstStyle/>
          <a:p>
            <a:r>
              <a:rPr lang="en-VN" sz="2000" b="1" dirty="0">
                <a:solidFill>
                  <a:schemeClr val="accent1">
                    <a:lumMod val="50000"/>
                  </a:schemeClr>
                </a:solidFill>
                <a:latin typeface="Lato" panose="020F0502020204030203" pitchFamily="34" charset="0"/>
                <a:ea typeface="Lato" panose="020F0502020204030203" pitchFamily="34" charset="0"/>
                <a:cs typeface="Lato" panose="020F0502020204030203" pitchFamily="34" charset="0"/>
              </a:rPr>
              <a:t>1. Search (Tìm kiếm)</a:t>
            </a:r>
          </a:p>
          <a:p>
            <a:endParaRPr lang="en-VN" sz="2000" b="1" dirty="0">
              <a:solidFill>
                <a:schemeClr val="accent1">
                  <a:lumMod val="50000"/>
                </a:schemeClr>
              </a:solidFill>
            </a:endParaRPr>
          </a:p>
        </p:txBody>
      </p:sp>
      <p:sp>
        <p:nvSpPr>
          <p:cNvPr id="4" name="TextBox 3">
            <a:extLst>
              <a:ext uri="{FF2B5EF4-FFF2-40B4-BE49-F238E27FC236}">
                <a16:creationId xmlns:a16="http://schemas.microsoft.com/office/drawing/2014/main" id="{3307BAB5-9740-51F4-4F5A-B34156BF1E05}"/>
              </a:ext>
            </a:extLst>
          </p:cNvPr>
          <p:cNvSpPr txBox="1"/>
          <p:nvPr/>
        </p:nvSpPr>
        <p:spPr>
          <a:xfrm>
            <a:off x="117538" y="1204468"/>
            <a:ext cx="8908923" cy="369332"/>
          </a:xfrm>
          <a:prstGeom prst="rect">
            <a:avLst/>
          </a:prstGeom>
          <a:noFill/>
        </p:spPr>
        <p:txBody>
          <a:bodyPr wrap="square" rtlCol="0">
            <a:spAutoFit/>
          </a:bodyPr>
          <a:lstStyle/>
          <a:p>
            <a:r>
              <a:rPr lang="en-VN" dirty="0">
                <a:latin typeface="Lato" panose="020F0502020204030203" pitchFamily="34" charset="0"/>
                <a:ea typeface="Lato" panose="020F0502020204030203" pitchFamily="34" charset="0"/>
                <a:cs typeface="Lato" panose="020F0502020204030203" pitchFamily="34" charset="0"/>
              </a:rPr>
              <a:t>Việc tìm kiếm trong cây đỏ đen được thực hiện giống như trong cây nhị phân tìm kiếm </a:t>
            </a:r>
          </a:p>
        </p:txBody>
      </p:sp>
      <p:sp>
        <p:nvSpPr>
          <p:cNvPr id="6" name="TextBox 5">
            <a:extLst>
              <a:ext uri="{FF2B5EF4-FFF2-40B4-BE49-F238E27FC236}">
                <a16:creationId xmlns:a16="http://schemas.microsoft.com/office/drawing/2014/main" id="{46DE8E92-7A2B-B382-52E2-A0AC9E805280}"/>
              </a:ext>
            </a:extLst>
          </p:cNvPr>
          <p:cNvSpPr txBox="1"/>
          <p:nvPr/>
        </p:nvSpPr>
        <p:spPr>
          <a:xfrm>
            <a:off x="682906" y="1635942"/>
            <a:ext cx="1076445" cy="400110"/>
          </a:xfrm>
          <a:prstGeom prst="rect">
            <a:avLst/>
          </a:prstGeom>
          <a:noFill/>
        </p:spPr>
        <p:txBody>
          <a:bodyPr wrap="square" rtlCol="0">
            <a:spAutoFit/>
          </a:bodyPr>
          <a:lstStyle/>
          <a:p>
            <a:r>
              <a:rPr lang="en-VN" sz="2000" i="1" dirty="0">
                <a:solidFill>
                  <a:srgbClr val="C00000"/>
                </a:solidFill>
                <a:latin typeface="Lato" panose="020F0502020204030203" pitchFamily="34" charset="0"/>
                <a:ea typeface="Lato" panose="020F0502020204030203" pitchFamily="34" charset="0"/>
                <a:cs typeface="Lato" panose="020F0502020204030203" pitchFamily="34" charset="0"/>
              </a:rPr>
              <a:t>Đệ quy</a:t>
            </a:r>
          </a:p>
        </p:txBody>
      </p:sp>
      <p:pic>
        <p:nvPicPr>
          <p:cNvPr id="8" name="Picture 7" descr="A computer screen shot of text&#10;&#10;Description automatically generated">
            <a:extLst>
              <a:ext uri="{FF2B5EF4-FFF2-40B4-BE49-F238E27FC236}">
                <a16:creationId xmlns:a16="http://schemas.microsoft.com/office/drawing/2014/main" id="{99C3A16A-97B4-5A5A-600C-754C480649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3438" y="2309472"/>
            <a:ext cx="6172200" cy="3784600"/>
          </a:xfrm>
          <a:prstGeom prst="rect">
            <a:avLst/>
          </a:prstGeom>
        </p:spPr>
      </p:pic>
    </p:spTree>
    <p:extLst>
      <p:ext uri="{BB962C8B-B14F-4D97-AF65-F5344CB8AC3E}">
        <p14:creationId xmlns:p14="http://schemas.microsoft.com/office/powerpoint/2010/main" val="2859758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15</a:t>
            </a:fld>
            <a:endParaRPr lang="en-US" dirty="0"/>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lang="en-US" dirty="0"/>
              <a:t>THAO TÁC CƠ BẢN</a:t>
            </a:r>
          </a:p>
        </p:txBody>
      </p:sp>
      <p:sp>
        <p:nvSpPr>
          <p:cNvPr id="3" name="TextBox 2">
            <a:extLst>
              <a:ext uri="{FF2B5EF4-FFF2-40B4-BE49-F238E27FC236}">
                <a16:creationId xmlns:a16="http://schemas.microsoft.com/office/drawing/2014/main" id="{FB2A445E-0F6E-815C-D17A-9F0A8135FE1E}"/>
              </a:ext>
            </a:extLst>
          </p:cNvPr>
          <p:cNvSpPr txBox="1"/>
          <p:nvPr/>
        </p:nvSpPr>
        <p:spPr>
          <a:xfrm>
            <a:off x="682906" y="729204"/>
            <a:ext cx="2974694" cy="707886"/>
          </a:xfrm>
          <a:prstGeom prst="rect">
            <a:avLst/>
          </a:prstGeom>
          <a:noFill/>
        </p:spPr>
        <p:txBody>
          <a:bodyPr wrap="square" rtlCol="0">
            <a:spAutoFit/>
          </a:bodyPr>
          <a:lstStyle/>
          <a:p>
            <a:r>
              <a:rPr lang="en-VN" sz="2000" b="1" dirty="0">
                <a:solidFill>
                  <a:schemeClr val="accent1">
                    <a:lumMod val="50000"/>
                  </a:schemeClr>
                </a:solidFill>
                <a:latin typeface="Lato" panose="020F0502020204030203" pitchFamily="34" charset="0"/>
                <a:ea typeface="Lato" panose="020F0502020204030203" pitchFamily="34" charset="0"/>
                <a:cs typeface="Lato" panose="020F0502020204030203" pitchFamily="34" charset="0"/>
              </a:rPr>
              <a:t>1. Search (Tìm kiếm)</a:t>
            </a:r>
          </a:p>
          <a:p>
            <a:endParaRPr lang="en-VN" sz="2000" b="1" dirty="0">
              <a:solidFill>
                <a:schemeClr val="accent1">
                  <a:lumMod val="50000"/>
                </a:schemeClr>
              </a:solidFill>
            </a:endParaRPr>
          </a:p>
        </p:txBody>
      </p:sp>
      <p:sp>
        <p:nvSpPr>
          <p:cNvPr id="4" name="TextBox 3">
            <a:extLst>
              <a:ext uri="{FF2B5EF4-FFF2-40B4-BE49-F238E27FC236}">
                <a16:creationId xmlns:a16="http://schemas.microsoft.com/office/drawing/2014/main" id="{3307BAB5-9740-51F4-4F5A-B34156BF1E05}"/>
              </a:ext>
            </a:extLst>
          </p:cNvPr>
          <p:cNvSpPr txBox="1"/>
          <p:nvPr/>
        </p:nvSpPr>
        <p:spPr>
          <a:xfrm>
            <a:off x="117538" y="1204468"/>
            <a:ext cx="8908923" cy="369332"/>
          </a:xfrm>
          <a:prstGeom prst="rect">
            <a:avLst/>
          </a:prstGeom>
          <a:noFill/>
        </p:spPr>
        <p:txBody>
          <a:bodyPr wrap="square" rtlCol="0">
            <a:spAutoFit/>
          </a:bodyPr>
          <a:lstStyle/>
          <a:p>
            <a:r>
              <a:rPr lang="en-VN" dirty="0">
                <a:latin typeface="Lato" panose="020F0502020204030203" pitchFamily="34" charset="0"/>
                <a:ea typeface="Lato" panose="020F0502020204030203" pitchFamily="34" charset="0"/>
                <a:cs typeface="Lato" panose="020F0502020204030203" pitchFamily="34" charset="0"/>
              </a:rPr>
              <a:t>Việc tìm kiếm trong cây đỏ đen được thực hiện giống như trong cây nhị phân tìm kiếm </a:t>
            </a:r>
          </a:p>
        </p:txBody>
      </p:sp>
      <p:sp>
        <p:nvSpPr>
          <p:cNvPr id="6" name="TextBox 5">
            <a:extLst>
              <a:ext uri="{FF2B5EF4-FFF2-40B4-BE49-F238E27FC236}">
                <a16:creationId xmlns:a16="http://schemas.microsoft.com/office/drawing/2014/main" id="{46DE8E92-7A2B-B382-52E2-A0AC9E805280}"/>
              </a:ext>
            </a:extLst>
          </p:cNvPr>
          <p:cNvSpPr txBox="1"/>
          <p:nvPr/>
        </p:nvSpPr>
        <p:spPr>
          <a:xfrm>
            <a:off x="682906" y="1635942"/>
            <a:ext cx="1805651" cy="400110"/>
          </a:xfrm>
          <a:prstGeom prst="rect">
            <a:avLst/>
          </a:prstGeom>
          <a:noFill/>
        </p:spPr>
        <p:txBody>
          <a:bodyPr wrap="square" rtlCol="0">
            <a:spAutoFit/>
          </a:bodyPr>
          <a:lstStyle/>
          <a:p>
            <a:r>
              <a:rPr lang="en-VN" sz="2000" i="1" dirty="0">
                <a:solidFill>
                  <a:srgbClr val="C00000"/>
                </a:solidFill>
                <a:latin typeface="Lato" panose="020F0502020204030203" pitchFamily="34" charset="0"/>
                <a:ea typeface="Lato" panose="020F0502020204030203" pitchFamily="34" charset="0"/>
                <a:cs typeface="Lato" panose="020F0502020204030203" pitchFamily="34" charset="0"/>
              </a:rPr>
              <a:t>Không đệ quy</a:t>
            </a:r>
          </a:p>
        </p:txBody>
      </p:sp>
      <p:pic>
        <p:nvPicPr>
          <p:cNvPr id="8" name="Picture 7">
            <a:extLst>
              <a:ext uri="{FF2B5EF4-FFF2-40B4-BE49-F238E27FC236}">
                <a16:creationId xmlns:a16="http://schemas.microsoft.com/office/drawing/2014/main" id="{99C3A16A-97B4-5A5A-600C-754C480649A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603438" y="2630322"/>
            <a:ext cx="6172200" cy="3142899"/>
          </a:xfrm>
          <a:prstGeom prst="rect">
            <a:avLst/>
          </a:prstGeom>
        </p:spPr>
      </p:pic>
    </p:spTree>
    <p:extLst>
      <p:ext uri="{BB962C8B-B14F-4D97-AF65-F5344CB8AC3E}">
        <p14:creationId xmlns:p14="http://schemas.microsoft.com/office/powerpoint/2010/main" val="1216234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16</a:t>
            </a:fld>
            <a:endParaRPr lang="en-US" dirty="0"/>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lang="en-US" dirty="0"/>
              <a:t>THAO TÁC CƠ BẢN</a:t>
            </a:r>
          </a:p>
        </p:txBody>
      </p:sp>
      <p:sp>
        <p:nvSpPr>
          <p:cNvPr id="3" name="TextBox 2">
            <a:extLst>
              <a:ext uri="{FF2B5EF4-FFF2-40B4-BE49-F238E27FC236}">
                <a16:creationId xmlns:a16="http://schemas.microsoft.com/office/drawing/2014/main" id="{FB2A445E-0F6E-815C-D17A-9F0A8135FE1E}"/>
              </a:ext>
            </a:extLst>
          </p:cNvPr>
          <p:cNvSpPr txBox="1"/>
          <p:nvPr/>
        </p:nvSpPr>
        <p:spPr>
          <a:xfrm>
            <a:off x="682906" y="729204"/>
            <a:ext cx="4780634" cy="707886"/>
          </a:xfrm>
          <a:prstGeom prst="rect">
            <a:avLst/>
          </a:prstGeom>
          <a:noFill/>
        </p:spPr>
        <p:txBody>
          <a:bodyPr wrap="square" rtlCol="0">
            <a:spAutoFit/>
          </a:bodyPr>
          <a:lstStyle/>
          <a:p>
            <a:r>
              <a:rPr lang="en-VN" sz="2000" b="1" dirty="0">
                <a:solidFill>
                  <a:schemeClr val="accent1">
                    <a:lumMod val="50000"/>
                  </a:schemeClr>
                </a:solidFill>
                <a:latin typeface="Lato" panose="020F0502020204030203" pitchFamily="34" charset="0"/>
                <a:ea typeface="Lato" panose="020F0502020204030203" pitchFamily="34" charset="0"/>
                <a:cs typeface="Lato" panose="020F0502020204030203" pitchFamily="34" charset="0"/>
              </a:rPr>
              <a:t>2. Insertion (Thêm node vào cây đỏ đen)</a:t>
            </a:r>
          </a:p>
          <a:p>
            <a:endParaRPr lang="en-VN" sz="2000" b="1" dirty="0">
              <a:solidFill>
                <a:schemeClr val="accent1">
                  <a:lumMod val="50000"/>
                </a:schemeClr>
              </a:solidFill>
            </a:endParaRPr>
          </a:p>
        </p:txBody>
      </p:sp>
      <p:pic>
        <p:nvPicPr>
          <p:cNvPr id="8" name="Picture 7" descr="A diagram of a tree&#10;&#10;Description automatically generated">
            <a:extLst>
              <a:ext uri="{FF2B5EF4-FFF2-40B4-BE49-F238E27FC236}">
                <a16:creationId xmlns:a16="http://schemas.microsoft.com/office/drawing/2014/main" id="{F765AACE-912A-506D-D0AF-0A6A9FD9A22E}"/>
              </a:ext>
            </a:extLst>
          </p:cNvPr>
          <p:cNvPicPr>
            <a:picLocks noChangeAspect="1"/>
          </p:cNvPicPr>
          <p:nvPr/>
        </p:nvPicPr>
        <p:blipFill rotWithShape="1">
          <a:blip r:embed="rId2">
            <a:extLst>
              <a:ext uri="{28A0092B-C50C-407E-A947-70E740481C1C}">
                <a14:useLocalDpi xmlns:a14="http://schemas.microsoft.com/office/drawing/2010/main" val="0"/>
              </a:ext>
            </a:extLst>
          </a:blip>
          <a:srcRect r="23965" b="26491"/>
          <a:stretch/>
        </p:blipFill>
        <p:spPr>
          <a:xfrm>
            <a:off x="4367747" y="1120162"/>
            <a:ext cx="4661953" cy="5225804"/>
          </a:xfrm>
          <a:prstGeom prst="rect">
            <a:avLst/>
          </a:prstGeom>
        </p:spPr>
      </p:pic>
      <p:sp>
        <p:nvSpPr>
          <p:cNvPr id="9" name="TextBox 8">
            <a:extLst>
              <a:ext uri="{FF2B5EF4-FFF2-40B4-BE49-F238E27FC236}">
                <a16:creationId xmlns:a16="http://schemas.microsoft.com/office/drawing/2014/main" id="{7B00E31F-E400-A0DD-1FF5-3084CDD449AE}"/>
              </a:ext>
            </a:extLst>
          </p:cNvPr>
          <p:cNvSpPr txBox="1"/>
          <p:nvPr/>
        </p:nvSpPr>
        <p:spPr>
          <a:xfrm>
            <a:off x="547151" y="2146355"/>
            <a:ext cx="3609851" cy="4186531"/>
          </a:xfrm>
          <a:prstGeom prst="rect">
            <a:avLst/>
          </a:prstGeom>
          <a:noFill/>
        </p:spPr>
        <p:txBody>
          <a:bodyPr wrap="square" rtlCol="0">
            <a:spAutoFit/>
          </a:bodyPr>
          <a:lstStyle/>
          <a:p>
            <a:pPr marL="342900" indent="-342900">
              <a:lnSpc>
                <a:spcPct val="150000"/>
              </a:lnSpc>
              <a:buAutoNum type="arabicPeriod"/>
            </a:pPr>
            <a:r>
              <a:rPr lang="en-VN" sz="2000" dirty="0">
                <a:solidFill>
                  <a:srgbClr val="C00000"/>
                </a:solidFill>
                <a:latin typeface="Lato" panose="020F0502020204030203" pitchFamily="34" charset="0"/>
                <a:ea typeface="Lato" panose="020F0502020204030203" pitchFamily="34" charset="0"/>
                <a:cs typeface="Lato" panose="020F0502020204030203" pitchFamily="34" charset="0"/>
              </a:rPr>
              <a:t>Gán màu của các node cần chèn là màu đỏ.</a:t>
            </a:r>
          </a:p>
          <a:p>
            <a:pPr marL="342900" indent="-342900">
              <a:lnSpc>
                <a:spcPct val="150000"/>
              </a:lnSpc>
              <a:buAutoNum type="arabicPeriod"/>
            </a:pPr>
            <a:r>
              <a:rPr lang="en-VN" sz="2000" dirty="0">
                <a:solidFill>
                  <a:srgbClr val="C00000"/>
                </a:solidFill>
                <a:latin typeface="Lato" panose="020F0502020204030203" pitchFamily="34" charset="0"/>
                <a:ea typeface="Lato" panose="020F0502020204030203" pitchFamily="34" charset="0"/>
                <a:cs typeface="Lato" panose="020F0502020204030203" pitchFamily="34" charset="0"/>
              </a:rPr>
              <a:t>Ta thực hiện chèn một node vào cây đỏ đen giống như thao tác chèn trong cây nhị phân tìm kiếm.</a:t>
            </a:r>
          </a:p>
          <a:p>
            <a:pPr marL="342900" indent="-342900">
              <a:lnSpc>
                <a:spcPct val="150000"/>
              </a:lnSpc>
              <a:buAutoNum type="arabicPeriod"/>
            </a:pPr>
            <a:r>
              <a:rPr lang="en-VN" sz="2000" dirty="0">
                <a:solidFill>
                  <a:srgbClr val="C00000"/>
                </a:solidFill>
                <a:latin typeface="Lato" panose="020F0502020204030203" pitchFamily="34" charset="0"/>
                <a:ea typeface="Lato" panose="020F0502020204030203" pitchFamily="34" charset="0"/>
                <a:cs typeface="Lato" panose="020F0502020204030203" pitchFamily="34" charset="0"/>
              </a:rPr>
              <a:t>Điều chỉnh lại nếu vi phạm các quy định của cây đỏ đen.</a:t>
            </a:r>
          </a:p>
        </p:txBody>
      </p:sp>
      <p:sp>
        <p:nvSpPr>
          <p:cNvPr id="11" name="TextBox 10">
            <a:extLst>
              <a:ext uri="{FF2B5EF4-FFF2-40B4-BE49-F238E27FC236}">
                <a16:creationId xmlns:a16="http://schemas.microsoft.com/office/drawing/2014/main" id="{4A440150-C140-8B03-0F3E-971AED5B6E39}"/>
              </a:ext>
            </a:extLst>
          </p:cNvPr>
          <p:cNvSpPr txBox="1"/>
          <p:nvPr/>
        </p:nvSpPr>
        <p:spPr>
          <a:xfrm>
            <a:off x="605045" y="1223025"/>
            <a:ext cx="3291841" cy="923330"/>
          </a:xfrm>
          <a:prstGeom prst="rect">
            <a:avLst/>
          </a:prstGeom>
          <a:noFill/>
        </p:spPr>
        <p:txBody>
          <a:bodyPr wrap="square" rtlCol="0">
            <a:spAutoFit/>
          </a:bodyPr>
          <a:lstStyle/>
          <a:p>
            <a:r>
              <a:rPr lang="en-VN" dirty="0">
                <a:latin typeface="Lato" panose="020F0502020204030203" pitchFamily="34" charset="0"/>
                <a:ea typeface="Lato" panose="020F0502020204030203" pitchFamily="34" charset="0"/>
                <a:cs typeface="Lato" panose="020F0502020204030203" pitchFamily="34" charset="0"/>
              </a:rPr>
              <a:t>Việc thực hiện chèn một node </a:t>
            </a:r>
            <a:r>
              <a:rPr lang="en-VN" dirty="0">
                <a:solidFill>
                  <a:srgbClr val="FF0000"/>
                </a:solidFill>
                <a:latin typeface="Lato" panose="020F0502020204030203" pitchFamily="34" charset="0"/>
                <a:ea typeface="Lato" panose="020F0502020204030203" pitchFamily="34" charset="0"/>
                <a:cs typeface="Lato" panose="020F0502020204030203" pitchFamily="34" charset="0"/>
              </a:rPr>
              <a:t>N</a:t>
            </a:r>
            <a:r>
              <a:rPr lang="en-VN" dirty="0">
                <a:latin typeface="Lato" panose="020F0502020204030203" pitchFamily="34" charset="0"/>
                <a:ea typeface="Lato" panose="020F0502020204030203" pitchFamily="34" charset="0"/>
                <a:cs typeface="Lato" panose="020F0502020204030203" pitchFamily="34" charset="0"/>
              </a:rPr>
              <a:t> vào cây đỏ đen được thực hiện theo các bước sau đây:</a:t>
            </a:r>
          </a:p>
        </p:txBody>
      </p:sp>
      <p:sp>
        <p:nvSpPr>
          <p:cNvPr id="12" name="TextBox 11">
            <a:extLst>
              <a:ext uri="{FF2B5EF4-FFF2-40B4-BE49-F238E27FC236}">
                <a16:creationId xmlns:a16="http://schemas.microsoft.com/office/drawing/2014/main" id="{D1E01107-E1AF-279B-B8AA-7956EAFA15DB}"/>
              </a:ext>
            </a:extLst>
          </p:cNvPr>
          <p:cNvSpPr txBox="1"/>
          <p:nvPr/>
        </p:nvSpPr>
        <p:spPr>
          <a:xfrm flipH="1">
            <a:off x="5463540" y="4526280"/>
            <a:ext cx="777241" cy="307777"/>
          </a:xfrm>
          <a:prstGeom prst="rect">
            <a:avLst/>
          </a:prstGeom>
          <a:solidFill>
            <a:schemeClr val="bg1"/>
          </a:solidFill>
        </p:spPr>
        <p:txBody>
          <a:bodyPr wrap="square" rtlCol="0">
            <a:spAutoFit/>
          </a:bodyPr>
          <a:lstStyle/>
          <a:p>
            <a:r>
              <a:rPr lang="en-VN" sz="1400" dirty="0">
                <a:solidFill>
                  <a:srgbClr val="FF0000"/>
                </a:solidFill>
                <a:latin typeface="Lato" panose="020F0502020204030203" pitchFamily="34" charset="0"/>
                <a:ea typeface="Lato" panose="020F0502020204030203" pitchFamily="34" charset="0"/>
                <a:cs typeface="Lato" panose="020F0502020204030203" pitchFamily="34" charset="0"/>
              </a:rPr>
              <a:t>N</a:t>
            </a:r>
          </a:p>
        </p:txBody>
      </p:sp>
      <p:sp>
        <p:nvSpPr>
          <p:cNvPr id="14" name="TextBox 13">
            <a:extLst>
              <a:ext uri="{FF2B5EF4-FFF2-40B4-BE49-F238E27FC236}">
                <a16:creationId xmlns:a16="http://schemas.microsoft.com/office/drawing/2014/main" id="{083B7587-080F-B012-129F-4D9A36316B0D}"/>
              </a:ext>
            </a:extLst>
          </p:cNvPr>
          <p:cNvSpPr txBox="1"/>
          <p:nvPr/>
        </p:nvSpPr>
        <p:spPr>
          <a:xfrm flipH="1">
            <a:off x="7118842" y="4491157"/>
            <a:ext cx="777241" cy="307777"/>
          </a:xfrm>
          <a:prstGeom prst="rect">
            <a:avLst/>
          </a:prstGeom>
          <a:solidFill>
            <a:schemeClr val="bg1"/>
          </a:solidFill>
        </p:spPr>
        <p:txBody>
          <a:bodyPr wrap="square" rtlCol="0">
            <a:spAutoFit/>
          </a:bodyPr>
          <a:lstStyle/>
          <a:p>
            <a:r>
              <a:rPr lang="en-VN" sz="1400" dirty="0">
                <a:solidFill>
                  <a:srgbClr val="FF0000"/>
                </a:solidFill>
                <a:latin typeface="Lato" panose="020F0502020204030203" pitchFamily="34" charset="0"/>
                <a:ea typeface="Lato" panose="020F0502020204030203" pitchFamily="34" charset="0"/>
                <a:cs typeface="Lato" panose="020F0502020204030203" pitchFamily="34" charset="0"/>
              </a:rPr>
              <a:t>N</a:t>
            </a:r>
          </a:p>
        </p:txBody>
      </p:sp>
      <p:sp>
        <p:nvSpPr>
          <p:cNvPr id="15" name="TextBox 14">
            <a:extLst>
              <a:ext uri="{FF2B5EF4-FFF2-40B4-BE49-F238E27FC236}">
                <a16:creationId xmlns:a16="http://schemas.microsoft.com/office/drawing/2014/main" id="{E060119A-6FB0-0544-7B63-39830E3554D3}"/>
              </a:ext>
            </a:extLst>
          </p:cNvPr>
          <p:cNvSpPr txBox="1"/>
          <p:nvPr/>
        </p:nvSpPr>
        <p:spPr>
          <a:xfrm flipH="1">
            <a:off x="8676856" y="4183380"/>
            <a:ext cx="352843" cy="307777"/>
          </a:xfrm>
          <a:prstGeom prst="rect">
            <a:avLst/>
          </a:prstGeom>
          <a:solidFill>
            <a:schemeClr val="bg1"/>
          </a:solidFill>
        </p:spPr>
        <p:txBody>
          <a:bodyPr wrap="square" rtlCol="0">
            <a:spAutoFit/>
          </a:bodyPr>
          <a:lstStyle/>
          <a:p>
            <a:r>
              <a:rPr lang="en-VN" sz="1400" dirty="0">
                <a:solidFill>
                  <a:srgbClr val="FF0000"/>
                </a:solidFill>
                <a:latin typeface="Lato" panose="020F0502020204030203" pitchFamily="34" charset="0"/>
                <a:ea typeface="Lato" panose="020F0502020204030203" pitchFamily="34" charset="0"/>
                <a:cs typeface="Lato" panose="020F0502020204030203" pitchFamily="34" charset="0"/>
              </a:rPr>
              <a:t>N</a:t>
            </a:r>
          </a:p>
        </p:txBody>
      </p:sp>
      <p:sp>
        <p:nvSpPr>
          <p:cNvPr id="16" name="TextBox 15">
            <a:extLst>
              <a:ext uri="{FF2B5EF4-FFF2-40B4-BE49-F238E27FC236}">
                <a16:creationId xmlns:a16="http://schemas.microsoft.com/office/drawing/2014/main" id="{D68E90B0-1325-AA11-27A2-B2F1BD2560F4}"/>
              </a:ext>
            </a:extLst>
          </p:cNvPr>
          <p:cNvSpPr txBox="1"/>
          <p:nvPr/>
        </p:nvSpPr>
        <p:spPr>
          <a:xfrm flipH="1">
            <a:off x="5761301" y="6038189"/>
            <a:ext cx="369285" cy="307777"/>
          </a:xfrm>
          <a:prstGeom prst="rect">
            <a:avLst/>
          </a:prstGeom>
          <a:solidFill>
            <a:schemeClr val="bg1"/>
          </a:solidFill>
        </p:spPr>
        <p:txBody>
          <a:bodyPr wrap="square" rtlCol="0">
            <a:spAutoFit/>
          </a:bodyPr>
          <a:lstStyle/>
          <a:p>
            <a:r>
              <a:rPr lang="en-VN" sz="1400" dirty="0">
                <a:solidFill>
                  <a:srgbClr val="FF0000"/>
                </a:solidFill>
                <a:latin typeface="Lato" panose="020F0502020204030203" pitchFamily="34" charset="0"/>
                <a:ea typeface="Lato" panose="020F0502020204030203" pitchFamily="34" charset="0"/>
                <a:cs typeface="Lato" panose="020F0502020204030203" pitchFamily="34" charset="0"/>
              </a:rPr>
              <a:t>N</a:t>
            </a:r>
          </a:p>
        </p:txBody>
      </p:sp>
      <p:sp>
        <p:nvSpPr>
          <p:cNvPr id="17" name="TextBox 16">
            <a:extLst>
              <a:ext uri="{FF2B5EF4-FFF2-40B4-BE49-F238E27FC236}">
                <a16:creationId xmlns:a16="http://schemas.microsoft.com/office/drawing/2014/main" id="{F6F5937C-A3DF-7AA0-F7A5-97D6EED98E53}"/>
              </a:ext>
            </a:extLst>
          </p:cNvPr>
          <p:cNvSpPr txBox="1"/>
          <p:nvPr/>
        </p:nvSpPr>
        <p:spPr>
          <a:xfrm flipH="1">
            <a:off x="5290620" y="3014371"/>
            <a:ext cx="369285" cy="307777"/>
          </a:xfrm>
          <a:prstGeom prst="rect">
            <a:avLst/>
          </a:prstGeom>
          <a:solidFill>
            <a:schemeClr val="bg1"/>
          </a:solidFill>
        </p:spPr>
        <p:txBody>
          <a:bodyPr wrap="square" rtlCol="0">
            <a:spAutoFit/>
          </a:bodyPr>
          <a:lstStyle/>
          <a:p>
            <a:r>
              <a:rPr lang="en-VN" sz="1400" dirty="0">
                <a:solidFill>
                  <a:srgbClr val="FF0000"/>
                </a:solidFill>
                <a:latin typeface="Lato" panose="020F0502020204030203" pitchFamily="34" charset="0"/>
                <a:ea typeface="Lato" panose="020F0502020204030203" pitchFamily="34" charset="0"/>
                <a:cs typeface="Lato" panose="020F0502020204030203" pitchFamily="34" charset="0"/>
              </a:rPr>
              <a:t>N</a:t>
            </a:r>
          </a:p>
        </p:txBody>
      </p:sp>
      <p:sp>
        <p:nvSpPr>
          <p:cNvPr id="18" name="TextBox 17">
            <a:extLst>
              <a:ext uri="{FF2B5EF4-FFF2-40B4-BE49-F238E27FC236}">
                <a16:creationId xmlns:a16="http://schemas.microsoft.com/office/drawing/2014/main" id="{F25D9285-80C6-3622-72C9-CB780F49258A}"/>
              </a:ext>
            </a:extLst>
          </p:cNvPr>
          <p:cNvSpPr txBox="1"/>
          <p:nvPr/>
        </p:nvSpPr>
        <p:spPr>
          <a:xfrm flipH="1">
            <a:off x="6843937" y="2957701"/>
            <a:ext cx="369285" cy="307777"/>
          </a:xfrm>
          <a:prstGeom prst="rect">
            <a:avLst/>
          </a:prstGeom>
          <a:solidFill>
            <a:schemeClr val="bg1"/>
          </a:solidFill>
        </p:spPr>
        <p:txBody>
          <a:bodyPr wrap="square" rtlCol="0">
            <a:spAutoFit/>
          </a:bodyPr>
          <a:lstStyle/>
          <a:p>
            <a:r>
              <a:rPr lang="en-VN" sz="1400" dirty="0">
                <a:solidFill>
                  <a:srgbClr val="FF0000"/>
                </a:solidFill>
                <a:latin typeface="Lato" panose="020F0502020204030203" pitchFamily="34" charset="0"/>
                <a:ea typeface="Lato" panose="020F0502020204030203" pitchFamily="34" charset="0"/>
                <a:cs typeface="Lato" panose="020F0502020204030203" pitchFamily="34" charset="0"/>
              </a:rPr>
              <a:t>N</a:t>
            </a:r>
          </a:p>
        </p:txBody>
      </p:sp>
      <p:sp>
        <p:nvSpPr>
          <p:cNvPr id="19" name="TextBox 18">
            <a:extLst>
              <a:ext uri="{FF2B5EF4-FFF2-40B4-BE49-F238E27FC236}">
                <a16:creationId xmlns:a16="http://schemas.microsoft.com/office/drawing/2014/main" id="{6A3839CB-F774-73FB-8E1E-17FFF00FCC63}"/>
              </a:ext>
            </a:extLst>
          </p:cNvPr>
          <p:cNvSpPr txBox="1"/>
          <p:nvPr/>
        </p:nvSpPr>
        <p:spPr>
          <a:xfrm flipH="1">
            <a:off x="7986928" y="2228925"/>
            <a:ext cx="369285" cy="307777"/>
          </a:xfrm>
          <a:prstGeom prst="rect">
            <a:avLst/>
          </a:prstGeom>
          <a:solidFill>
            <a:schemeClr val="bg1"/>
          </a:solidFill>
        </p:spPr>
        <p:txBody>
          <a:bodyPr wrap="square" rtlCol="0">
            <a:spAutoFit/>
          </a:bodyPr>
          <a:lstStyle/>
          <a:p>
            <a:r>
              <a:rPr lang="en-VN" sz="1400" dirty="0">
                <a:solidFill>
                  <a:srgbClr val="FF0000"/>
                </a:solidFill>
                <a:latin typeface="Lato" panose="020F0502020204030203" pitchFamily="34" charset="0"/>
                <a:ea typeface="Lato" panose="020F0502020204030203" pitchFamily="34" charset="0"/>
                <a:cs typeface="Lato" panose="020F0502020204030203" pitchFamily="34" charset="0"/>
              </a:rPr>
              <a:t>N</a:t>
            </a:r>
          </a:p>
        </p:txBody>
      </p:sp>
    </p:spTree>
    <p:extLst>
      <p:ext uri="{BB962C8B-B14F-4D97-AF65-F5344CB8AC3E}">
        <p14:creationId xmlns:p14="http://schemas.microsoft.com/office/powerpoint/2010/main" val="224362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17</a:t>
            </a:fld>
            <a:endParaRPr lang="en-US" dirty="0"/>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lang="en-US" dirty="0"/>
              <a:t>THAO TÁC CƠ BẢN</a:t>
            </a:r>
          </a:p>
        </p:txBody>
      </p:sp>
      <p:sp>
        <p:nvSpPr>
          <p:cNvPr id="3" name="TextBox 2">
            <a:extLst>
              <a:ext uri="{FF2B5EF4-FFF2-40B4-BE49-F238E27FC236}">
                <a16:creationId xmlns:a16="http://schemas.microsoft.com/office/drawing/2014/main" id="{FB2A445E-0F6E-815C-D17A-9F0A8135FE1E}"/>
              </a:ext>
            </a:extLst>
          </p:cNvPr>
          <p:cNvSpPr txBox="1"/>
          <p:nvPr/>
        </p:nvSpPr>
        <p:spPr>
          <a:xfrm>
            <a:off x="682906" y="729204"/>
            <a:ext cx="4780634" cy="707886"/>
          </a:xfrm>
          <a:prstGeom prst="rect">
            <a:avLst/>
          </a:prstGeom>
          <a:noFill/>
        </p:spPr>
        <p:txBody>
          <a:bodyPr wrap="square" rtlCol="0">
            <a:spAutoFit/>
          </a:bodyPr>
          <a:lstStyle/>
          <a:p>
            <a:r>
              <a:rPr lang="en-VN" sz="2000" b="1" dirty="0">
                <a:solidFill>
                  <a:schemeClr val="accent1">
                    <a:lumMod val="50000"/>
                  </a:schemeClr>
                </a:solidFill>
                <a:latin typeface="Lato" panose="020F0502020204030203" pitchFamily="34" charset="0"/>
                <a:ea typeface="Lato" panose="020F0502020204030203" pitchFamily="34" charset="0"/>
                <a:cs typeface="Lato" panose="020F0502020204030203" pitchFamily="34" charset="0"/>
              </a:rPr>
              <a:t>2. Insertion (Thêm node vào cây đỏ đen)</a:t>
            </a:r>
          </a:p>
          <a:p>
            <a:endParaRPr lang="en-VN" sz="2000" b="1" dirty="0">
              <a:solidFill>
                <a:schemeClr val="accent1">
                  <a:lumMod val="50000"/>
                </a:schemeClr>
              </a:solidFill>
            </a:endParaRPr>
          </a:p>
        </p:txBody>
      </p:sp>
      <p:pic>
        <p:nvPicPr>
          <p:cNvPr id="8" name="Picture 7" descr="A diagram of a tree&#10;&#10;Description automatically generated">
            <a:extLst>
              <a:ext uri="{FF2B5EF4-FFF2-40B4-BE49-F238E27FC236}">
                <a16:creationId xmlns:a16="http://schemas.microsoft.com/office/drawing/2014/main" id="{F765AACE-912A-506D-D0AF-0A6A9FD9A22E}"/>
              </a:ext>
            </a:extLst>
          </p:cNvPr>
          <p:cNvPicPr>
            <a:picLocks noChangeAspect="1"/>
          </p:cNvPicPr>
          <p:nvPr/>
        </p:nvPicPr>
        <p:blipFill rotWithShape="1">
          <a:blip r:embed="rId2">
            <a:extLst>
              <a:ext uri="{28A0092B-C50C-407E-A947-70E740481C1C}">
                <a14:useLocalDpi xmlns:a14="http://schemas.microsoft.com/office/drawing/2010/main" val="0"/>
              </a:ext>
            </a:extLst>
          </a:blip>
          <a:srcRect r="23965" b="26491"/>
          <a:stretch/>
        </p:blipFill>
        <p:spPr>
          <a:xfrm>
            <a:off x="4367747" y="1120162"/>
            <a:ext cx="4661953" cy="5225804"/>
          </a:xfrm>
          <a:prstGeom prst="rect">
            <a:avLst/>
          </a:prstGeom>
        </p:spPr>
      </p:pic>
      <p:sp>
        <p:nvSpPr>
          <p:cNvPr id="12" name="TextBox 11">
            <a:extLst>
              <a:ext uri="{FF2B5EF4-FFF2-40B4-BE49-F238E27FC236}">
                <a16:creationId xmlns:a16="http://schemas.microsoft.com/office/drawing/2014/main" id="{D1E01107-E1AF-279B-B8AA-7956EAFA15DB}"/>
              </a:ext>
            </a:extLst>
          </p:cNvPr>
          <p:cNvSpPr txBox="1"/>
          <p:nvPr/>
        </p:nvSpPr>
        <p:spPr>
          <a:xfrm flipH="1">
            <a:off x="5463540" y="4526280"/>
            <a:ext cx="777241" cy="307777"/>
          </a:xfrm>
          <a:prstGeom prst="rect">
            <a:avLst/>
          </a:prstGeom>
          <a:solidFill>
            <a:schemeClr val="bg1"/>
          </a:solidFill>
        </p:spPr>
        <p:txBody>
          <a:bodyPr wrap="square" rtlCol="0">
            <a:spAutoFit/>
          </a:bodyPr>
          <a:lstStyle/>
          <a:p>
            <a:r>
              <a:rPr lang="en-VN" sz="1400" dirty="0">
                <a:solidFill>
                  <a:srgbClr val="FF0000"/>
                </a:solidFill>
                <a:latin typeface="Lato" panose="020F0502020204030203" pitchFamily="34" charset="0"/>
                <a:ea typeface="Lato" panose="020F0502020204030203" pitchFamily="34" charset="0"/>
                <a:cs typeface="Lato" panose="020F0502020204030203" pitchFamily="34" charset="0"/>
              </a:rPr>
              <a:t>N</a:t>
            </a:r>
          </a:p>
        </p:txBody>
      </p:sp>
      <p:sp>
        <p:nvSpPr>
          <p:cNvPr id="14" name="TextBox 13">
            <a:extLst>
              <a:ext uri="{FF2B5EF4-FFF2-40B4-BE49-F238E27FC236}">
                <a16:creationId xmlns:a16="http://schemas.microsoft.com/office/drawing/2014/main" id="{083B7587-080F-B012-129F-4D9A36316B0D}"/>
              </a:ext>
            </a:extLst>
          </p:cNvPr>
          <p:cNvSpPr txBox="1"/>
          <p:nvPr/>
        </p:nvSpPr>
        <p:spPr>
          <a:xfrm flipH="1">
            <a:off x="7118842" y="4491157"/>
            <a:ext cx="777241" cy="307777"/>
          </a:xfrm>
          <a:prstGeom prst="rect">
            <a:avLst/>
          </a:prstGeom>
          <a:solidFill>
            <a:schemeClr val="bg1"/>
          </a:solidFill>
        </p:spPr>
        <p:txBody>
          <a:bodyPr wrap="square" rtlCol="0">
            <a:spAutoFit/>
          </a:bodyPr>
          <a:lstStyle/>
          <a:p>
            <a:r>
              <a:rPr lang="en-VN" sz="1400" dirty="0">
                <a:solidFill>
                  <a:srgbClr val="FF0000"/>
                </a:solidFill>
                <a:latin typeface="Lato" panose="020F0502020204030203" pitchFamily="34" charset="0"/>
                <a:ea typeface="Lato" panose="020F0502020204030203" pitchFamily="34" charset="0"/>
                <a:cs typeface="Lato" panose="020F0502020204030203" pitchFamily="34" charset="0"/>
              </a:rPr>
              <a:t>N</a:t>
            </a:r>
          </a:p>
        </p:txBody>
      </p:sp>
      <p:sp>
        <p:nvSpPr>
          <p:cNvPr id="15" name="TextBox 14">
            <a:extLst>
              <a:ext uri="{FF2B5EF4-FFF2-40B4-BE49-F238E27FC236}">
                <a16:creationId xmlns:a16="http://schemas.microsoft.com/office/drawing/2014/main" id="{E060119A-6FB0-0544-7B63-39830E3554D3}"/>
              </a:ext>
            </a:extLst>
          </p:cNvPr>
          <p:cNvSpPr txBox="1"/>
          <p:nvPr/>
        </p:nvSpPr>
        <p:spPr>
          <a:xfrm flipH="1">
            <a:off x="8676856" y="4183380"/>
            <a:ext cx="352843" cy="307777"/>
          </a:xfrm>
          <a:prstGeom prst="rect">
            <a:avLst/>
          </a:prstGeom>
          <a:solidFill>
            <a:schemeClr val="bg1"/>
          </a:solidFill>
        </p:spPr>
        <p:txBody>
          <a:bodyPr wrap="square" rtlCol="0">
            <a:spAutoFit/>
          </a:bodyPr>
          <a:lstStyle/>
          <a:p>
            <a:r>
              <a:rPr lang="en-VN" sz="1400" dirty="0">
                <a:solidFill>
                  <a:srgbClr val="FF0000"/>
                </a:solidFill>
                <a:latin typeface="Lato" panose="020F0502020204030203" pitchFamily="34" charset="0"/>
                <a:ea typeface="Lato" panose="020F0502020204030203" pitchFamily="34" charset="0"/>
                <a:cs typeface="Lato" panose="020F0502020204030203" pitchFamily="34" charset="0"/>
              </a:rPr>
              <a:t>N</a:t>
            </a:r>
          </a:p>
        </p:txBody>
      </p:sp>
      <p:sp>
        <p:nvSpPr>
          <p:cNvPr id="16" name="TextBox 15">
            <a:extLst>
              <a:ext uri="{FF2B5EF4-FFF2-40B4-BE49-F238E27FC236}">
                <a16:creationId xmlns:a16="http://schemas.microsoft.com/office/drawing/2014/main" id="{D68E90B0-1325-AA11-27A2-B2F1BD2560F4}"/>
              </a:ext>
            </a:extLst>
          </p:cNvPr>
          <p:cNvSpPr txBox="1"/>
          <p:nvPr/>
        </p:nvSpPr>
        <p:spPr>
          <a:xfrm flipH="1">
            <a:off x="5761301" y="6038189"/>
            <a:ext cx="369285" cy="307777"/>
          </a:xfrm>
          <a:prstGeom prst="rect">
            <a:avLst/>
          </a:prstGeom>
          <a:solidFill>
            <a:schemeClr val="bg1"/>
          </a:solidFill>
        </p:spPr>
        <p:txBody>
          <a:bodyPr wrap="square" rtlCol="0">
            <a:spAutoFit/>
          </a:bodyPr>
          <a:lstStyle/>
          <a:p>
            <a:r>
              <a:rPr lang="en-VN" sz="1400" dirty="0">
                <a:solidFill>
                  <a:srgbClr val="FF0000"/>
                </a:solidFill>
                <a:latin typeface="Lato" panose="020F0502020204030203" pitchFamily="34" charset="0"/>
                <a:ea typeface="Lato" panose="020F0502020204030203" pitchFamily="34" charset="0"/>
                <a:cs typeface="Lato" panose="020F0502020204030203" pitchFamily="34" charset="0"/>
              </a:rPr>
              <a:t>N</a:t>
            </a:r>
          </a:p>
        </p:txBody>
      </p:sp>
      <p:sp>
        <p:nvSpPr>
          <p:cNvPr id="17" name="TextBox 16">
            <a:extLst>
              <a:ext uri="{FF2B5EF4-FFF2-40B4-BE49-F238E27FC236}">
                <a16:creationId xmlns:a16="http://schemas.microsoft.com/office/drawing/2014/main" id="{F6F5937C-A3DF-7AA0-F7A5-97D6EED98E53}"/>
              </a:ext>
            </a:extLst>
          </p:cNvPr>
          <p:cNvSpPr txBox="1"/>
          <p:nvPr/>
        </p:nvSpPr>
        <p:spPr>
          <a:xfrm flipH="1">
            <a:off x="5290620" y="3014371"/>
            <a:ext cx="369285" cy="307777"/>
          </a:xfrm>
          <a:prstGeom prst="rect">
            <a:avLst/>
          </a:prstGeom>
          <a:solidFill>
            <a:schemeClr val="bg1"/>
          </a:solidFill>
        </p:spPr>
        <p:txBody>
          <a:bodyPr wrap="square" rtlCol="0">
            <a:spAutoFit/>
          </a:bodyPr>
          <a:lstStyle/>
          <a:p>
            <a:r>
              <a:rPr lang="en-VN" sz="1400" dirty="0">
                <a:solidFill>
                  <a:srgbClr val="FF0000"/>
                </a:solidFill>
                <a:latin typeface="Lato" panose="020F0502020204030203" pitchFamily="34" charset="0"/>
                <a:ea typeface="Lato" panose="020F0502020204030203" pitchFamily="34" charset="0"/>
                <a:cs typeface="Lato" panose="020F0502020204030203" pitchFamily="34" charset="0"/>
              </a:rPr>
              <a:t>N</a:t>
            </a:r>
          </a:p>
        </p:txBody>
      </p:sp>
      <p:sp>
        <p:nvSpPr>
          <p:cNvPr id="18" name="TextBox 17">
            <a:extLst>
              <a:ext uri="{FF2B5EF4-FFF2-40B4-BE49-F238E27FC236}">
                <a16:creationId xmlns:a16="http://schemas.microsoft.com/office/drawing/2014/main" id="{F25D9285-80C6-3622-72C9-CB780F49258A}"/>
              </a:ext>
            </a:extLst>
          </p:cNvPr>
          <p:cNvSpPr txBox="1"/>
          <p:nvPr/>
        </p:nvSpPr>
        <p:spPr>
          <a:xfrm flipH="1">
            <a:off x="6843937" y="2957701"/>
            <a:ext cx="369285" cy="307777"/>
          </a:xfrm>
          <a:prstGeom prst="rect">
            <a:avLst/>
          </a:prstGeom>
          <a:solidFill>
            <a:schemeClr val="bg1"/>
          </a:solidFill>
        </p:spPr>
        <p:txBody>
          <a:bodyPr wrap="square" rtlCol="0">
            <a:spAutoFit/>
          </a:bodyPr>
          <a:lstStyle/>
          <a:p>
            <a:r>
              <a:rPr lang="en-VN" sz="1400" dirty="0">
                <a:solidFill>
                  <a:srgbClr val="FF0000"/>
                </a:solidFill>
                <a:latin typeface="Lato" panose="020F0502020204030203" pitchFamily="34" charset="0"/>
                <a:ea typeface="Lato" panose="020F0502020204030203" pitchFamily="34" charset="0"/>
                <a:cs typeface="Lato" panose="020F0502020204030203" pitchFamily="34" charset="0"/>
              </a:rPr>
              <a:t>N</a:t>
            </a:r>
          </a:p>
        </p:txBody>
      </p:sp>
      <p:sp>
        <p:nvSpPr>
          <p:cNvPr id="19" name="TextBox 18">
            <a:extLst>
              <a:ext uri="{FF2B5EF4-FFF2-40B4-BE49-F238E27FC236}">
                <a16:creationId xmlns:a16="http://schemas.microsoft.com/office/drawing/2014/main" id="{6A3839CB-F774-73FB-8E1E-17FFF00FCC63}"/>
              </a:ext>
            </a:extLst>
          </p:cNvPr>
          <p:cNvSpPr txBox="1"/>
          <p:nvPr/>
        </p:nvSpPr>
        <p:spPr>
          <a:xfrm flipH="1">
            <a:off x="7986928" y="2228925"/>
            <a:ext cx="369285" cy="307777"/>
          </a:xfrm>
          <a:prstGeom prst="rect">
            <a:avLst/>
          </a:prstGeom>
          <a:solidFill>
            <a:schemeClr val="bg1"/>
          </a:solidFill>
        </p:spPr>
        <p:txBody>
          <a:bodyPr wrap="square" rtlCol="0">
            <a:spAutoFit/>
          </a:bodyPr>
          <a:lstStyle/>
          <a:p>
            <a:r>
              <a:rPr lang="en-VN" sz="1400" dirty="0">
                <a:solidFill>
                  <a:srgbClr val="FF0000"/>
                </a:solidFill>
                <a:latin typeface="Lato" panose="020F0502020204030203" pitchFamily="34" charset="0"/>
                <a:ea typeface="Lato" panose="020F0502020204030203" pitchFamily="34" charset="0"/>
                <a:cs typeface="Lato" panose="020F0502020204030203" pitchFamily="34" charset="0"/>
              </a:rPr>
              <a:t>N</a:t>
            </a:r>
          </a:p>
        </p:txBody>
      </p:sp>
      <p:sp>
        <p:nvSpPr>
          <p:cNvPr id="6" name="TextBox 5">
            <a:extLst>
              <a:ext uri="{FF2B5EF4-FFF2-40B4-BE49-F238E27FC236}">
                <a16:creationId xmlns:a16="http://schemas.microsoft.com/office/drawing/2014/main" id="{A54D3D1D-2C29-F57A-B841-7843E18884C5}"/>
              </a:ext>
            </a:extLst>
          </p:cNvPr>
          <p:cNvSpPr txBox="1"/>
          <p:nvPr/>
        </p:nvSpPr>
        <p:spPr>
          <a:xfrm>
            <a:off x="363415" y="1437090"/>
            <a:ext cx="3645877" cy="3777060"/>
          </a:xfrm>
          <a:prstGeom prst="rect">
            <a:avLst/>
          </a:prstGeom>
          <a:noFill/>
        </p:spPr>
        <p:txBody>
          <a:bodyPr wrap="square" rtlCol="0">
            <a:spAutoFit/>
          </a:bodyPr>
          <a:lstStyle/>
          <a:p>
            <a:pPr>
              <a:lnSpc>
                <a:spcPct val="150000"/>
              </a:lnSpc>
            </a:pPr>
            <a:r>
              <a:rPr lang="en-VN" dirty="0">
                <a:solidFill>
                  <a:srgbClr val="00B0F0"/>
                </a:solidFill>
                <a:latin typeface="Lato" panose="020F0502020204030203" pitchFamily="34" charset="0"/>
                <a:ea typeface="Lato" panose="020F0502020204030203" pitchFamily="34" charset="0"/>
                <a:cs typeface="Lato" panose="020F0502020204030203" pitchFamily="34" charset="0"/>
              </a:rPr>
              <a:t>Một số quy ước gọi tên:</a:t>
            </a:r>
          </a:p>
          <a:p>
            <a:pPr>
              <a:lnSpc>
                <a:spcPct val="150000"/>
              </a:lnSpc>
            </a:pPr>
            <a:endParaRPr lang="en-VN" dirty="0">
              <a:solidFill>
                <a:srgbClr val="00B0F0"/>
              </a:solidFill>
              <a:latin typeface="Lato" panose="020F0502020204030203" pitchFamily="34" charset="0"/>
              <a:ea typeface="Lato" panose="020F0502020204030203" pitchFamily="34" charset="0"/>
              <a:cs typeface="Lato" panose="020F0502020204030203" pitchFamily="34" charset="0"/>
            </a:endParaRPr>
          </a:p>
          <a:p>
            <a:pPr marL="285750" indent="-285750">
              <a:lnSpc>
                <a:spcPct val="150000"/>
              </a:lnSpc>
              <a:buFont typeface="Wingdings" pitchFamily="2" charset="2"/>
              <a:buChar char="Ø"/>
            </a:pPr>
            <a:r>
              <a:rPr lang="en-VN" dirty="0">
                <a:latin typeface="Lato" panose="020F0502020204030203" pitchFamily="34" charset="0"/>
                <a:ea typeface="Lato" panose="020F0502020204030203" pitchFamily="34" charset="0"/>
                <a:cs typeface="Lato" panose="020F0502020204030203" pitchFamily="34" charset="0"/>
              </a:rPr>
              <a:t>Gọi </a:t>
            </a:r>
            <a:r>
              <a:rPr lang="en-VN" dirty="0">
                <a:solidFill>
                  <a:srgbClr val="FF0000"/>
                </a:solidFill>
                <a:latin typeface="Lato" panose="020F0502020204030203" pitchFamily="34" charset="0"/>
                <a:ea typeface="Lato" panose="020F0502020204030203" pitchFamily="34" charset="0"/>
                <a:cs typeface="Lato" panose="020F0502020204030203" pitchFamily="34" charset="0"/>
              </a:rPr>
              <a:t>N</a:t>
            </a:r>
            <a:r>
              <a:rPr lang="en-VN" dirty="0">
                <a:latin typeface="Lato" panose="020F0502020204030203" pitchFamily="34" charset="0"/>
                <a:ea typeface="Lato" panose="020F0502020204030203" pitchFamily="34" charset="0"/>
                <a:cs typeface="Lato" panose="020F0502020204030203" pitchFamily="34" charset="0"/>
              </a:rPr>
              <a:t> là node vừa được thêm vào cây</a:t>
            </a:r>
          </a:p>
          <a:p>
            <a:pPr marL="285750" indent="-285750">
              <a:lnSpc>
                <a:spcPct val="150000"/>
              </a:lnSpc>
              <a:buFont typeface="Wingdings" pitchFamily="2" charset="2"/>
              <a:buChar char="Ø"/>
            </a:pPr>
            <a:r>
              <a:rPr lang="en-VN" dirty="0">
                <a:latin typeface="Lato" panose="020F0502020204030203" pitchFamily="34" charset="0"/>
                <a:ea typeface="Lato" panose="020F0502020204030203" pitchFamily="34" charset="0"/>
                <a:cs typeface="Lato" panose="020F0502020204030203" pitchFamily="34" charset="0"/>
              </a:rPr>
              <a:t>Gọi </a:t>
            </a:r>
            <a:r>
              <a:rPr lang="en-VN" dirty="0">
                <a:solidFill>
                  <a:srgbClr val="FF0000"/>
                </a:solidFill>
                <a:latin typeface="Lato" panose="020F0502020204030203" pitchFamily="34" charset="0"/>
                <a:ea typeface="Lato" panose="020F0502020204030203" pitchFamily="34" charset="0"/>
                <a:cs typeface="Lato" panose="020F0502020204030203" pitchFamily="34" charset="0"/>
              </a:rPr>
              <a:t>P</a:t>
            </a:r>
            <a:r>
              <a:rPr lang="en-VN" dirty="0">
                <a:latin typeface="Lato" panose="020F0502020204030203" pitchFamily="34" charset="0"/>
                <a:ea typeface="Lato" panose="020F0502020204030203" pitchFamily="34" charset="0"/>
                <a:cs typeface="Lato" panose="020F0502020204030203" pitchFamily="34" charset="0"/>
              </a:rPr>
              <a:t> là node cha của N</a:t>
            </a:r>
          </a:p>
          <a:p>
            <a:pPr marL="285750" indent="-285750">
              <a:lnSpc>
                <a:spcPct val="150000"/>
              </a:lnSpc>
              <a:buFont typeface="Wingdings" pitchFamily="2" charset="2"/>
              <a:buChar char="Ø"/>
            </a:pPr>
            <a:r>
              <a:rPr lang="en-VN" dirty="0">
                <a:latin typeface="Lato" panose="020F0502020204030203" pitchFamily="34" charset="0"/>
                <a:ea typeface="Lato" panose="020F0502020204030203" pitchFamily="34" charset="0"/>
                <a:cs typeface="Lato" panose="020F0502020204030203" pitchFamily="34" charset="0"/>
              </a:rPr>
              <a:t>Gọi </a:t>
            </a:r>
            <a:r>
              <a:rPr lang="en-VN" dirty="0">
                <a:solidFill>
                  <a:srgbClr val="FF0000"/>
                </a:solidFill>
                <a:latin typeface="Lato" panose="020F0502020204030203" pitchFamily="34" charset="0"/>
                <a:ea typeface="Lato" panose="020F0502020204030203" pitchFamily="34" charset="0"/>
                <a:cs typeface="Lato" panose="020F0502020204030203" pitchFamily="34" charset="0"/>
              </a:rPr>
              <a:t>U</a:t>
            </a:r>
            <a:r>
              <a:rPr lang="en-VN" dirty="0">
                <a:latin typeface="Lato" panose="020F0502020204030203" pitchFamily="34" charset="0"/>
                <a:ea typeface="Lato" panose="020F0502020204030203" pitchFamily="34" charset="0"/>
                <a:cs typeface="Lato" panose="020F0502020204030203" pitchFamily="34" charset="0"/>
              </a:rPr>
              <a:t> là node chú bác của N (node cùng cha với P)</a:t>
            </a:r>
          </a:p>
          <a:p>
            <a:pPr marL="285750" indent="-285750">
              <a:lnSpc>
                <a:spcPct val="150000"/>
              </a:lnSpc>
              <a:buFont typeface="Wingdings" pitchFamily="2" charset="2"/>
              <a:buChar char="Ø"/>
            </a:pPr>
            <a:r>
              <a:rPr lang="en-US" dirty="0">
                <a:latin typeface="Lato" panose="020F0502020204030203" pitchFamily="34" charset="0"/>
                <a:ea typeface="Lato" panose="020F0502020204030203" pitchFamily="34" charset="0"/>
                <a:cs typeface="Lato" panose="020F0502020204030203" pitchFamily="34" charset="0"/>
              </a:rPr>
              <a:t>G</a:t>
            </a:r>
            <a:r>
              <a:rPr lang="en-VN" dirty="0">
                <a:latin typeface="Lato" panose="020F0502020204030203" pitchFamily="34" charset="0"/>
                <a:ea typeface="Lato" panose="020F0502020204030203" pitchFamily="34" charset="0"/>
                <a:cs typeface="Lato" panose="020F0502020204030203" pitchFamily="34" charset="0"/>
              </a:rPr>
              <a:t>ọi </a:t>
            </a:r>
            <a:r>
              <a:rPr lang="en-VN" dirty="0">
                <a:solidFill>
                  <a:srgbClr val="FF0000"/>
                </a:solidFill>
                <a:latin typeface="Lato" panose="020F0502020204030203" pitchFamily="34" charset="0"/>
                <a:ea typeface="Lato" panose="020F0502020204030203" pitchFamily="34" charset="0"/>
                <a:cs typeface="Lato" panose="020F0502020204030203" pitchFamily="34" charset="0"/>
              </a:rPr>
              <a:t>G</a:t>
            </a:r>
            <a:r>
              <a:rPr lang="en-VN" dirty="0">
                <a:latin typeface="Lato" panose="020F0502020204030203" pitchFamily="34" charset="0"/>
                <a:ea typeface="Lato" panose="020F0502020204030203" pitchFamily="34" charset="0"/>
                <a:cs typeface="Lato" panose="020F0502020204030203" pitchFamily="34" charset="0"/>
              </a:rPr>
              <a:t> là node cha của node P (node ông của N)</a:t>
            </a:r>
          </a:p>
        </p:txBody>
      </p:sp>
    </p:spTree>
    <p:extLst>
      <p:ext uri="{BB962C8B-B14F-4D97-AF65-F5344CB8AC3E}">
        <p14:creationId xmlns:p14="http://schemas.microsoft.com/office/powerpoint/2010/main" val="37682027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18</a:t>
            </a:fld>
            <a:endParaRPr lang="en-US" dirty="0"/>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lang="en-US" dirty="0"/>
              <a:t>THAO TÁC CƠ BẢN</a:t>
            </a:r>
          </a:p>
        </p:txBody>
      </p:sp>
      <p:sp>
        <p:nvSpPr>
          <p:cNvPr id="3" name="TextBox 2">
            <a:extLst>
              <a:ext uri="{FF2B5EF4-FFF2-40B4-BE49-F238E27FC236}">
                <a16:creationId xmlns:a16="http://schemas.microsoft.com/office/drawing/2014/main" id="{FB2A445E-0F6E-815C-D17A-9F0A8135FE1E}"/>
              </a:ext>
            </a:extLst>
          </p:cNvPr>
          <p:cNvSpPr txBox="1"/>
          <p:nvPr/>
        </p:nvSpPr>
        <p:spPr>
          <a:xfrm>
            <a:off x="682906" y="729204"/>
            <a:ext cx="4780634" cy="707886"/>
          </a:xfrm>
          <a:prstGeom prst="rect">
            <a:avLst/>
          </a:prstGeom>
          <a:noFill/>
        </p:spPr>
        <p:txBody>
          <a:bodyPr wrap="square" rtlCol="0">
            <a:spAutoFit/>
          </a:bodyPr>
          <a:lstStyle/>
          <a:p>
            <a:r>
              <a:rPr lang="en-VN" sz="2000" b="1" dirty="0">
                <a:solidFill>
                  <a:schemeClr val="accent1">
                    <a:lumMod val="50000"/>
                  </a:schemeClr>
                </a:solidFill>
                <a:latin typeface="Lato" panose="020F0502020204030203" pitchFamily="34" charset="0"/>
                <a:ea typeface="Lato" panose="020F0502020204030203" pitchFamily="34" charset="0"/>
                <a:cs typeface="Lato" panose="020F0502020204030203" pitchFamily="34" charset="0"/>
              </a:rPr>
              <a:t>2. Insertion (Thêm node vào cây đỏ đen)</a:t>
            </a:r>
          </a:p>
          <a:p>
            <a:endParaRPr lang="en-VN" sz="2000" b="1" dirty="0">
              <a:solidFill>
                <a:schemeClr val="accent1">
                  <a:lumMod val="50000"/>
                </a:schemeClr>
              </a:solidFill>
            </a:endParaRPr>
          </a:p>
        </p:txBody>
      </p:sp>
      <p:sp>
        <p:nvSpPr>
          <p:cNvPr id="4" name="TextBox 3">
            <a:extLst>
              <a:ext uri="{FF2B5EF4-FFF2-40B4-BE49-F238E27FC236}">
                <a16:creationId xmlns:a16="http://schemas.microsoft.com/office/drawing/2014/main" id="{675253D9-59C9-39D5-65E5-2260F58698A3}"/>
              </a:ext>
            </a:extLst>
          </p:cNvPr>
          <p:cNvSpPr txBox="1"/>
          <p:nvPr/>
        </p:nvSpPr>
        <p:spPr>
          <a:xfrm>
            <a:off x="682906" y="1252424"/>
            <a:ext cx="7115907" cy="369332"/>
          </a:xfrm>
          <a:prstGeom prst="rect">
            <a:avLst/>
          </a:prstGeom>
          <a:noFill/>
        </p:spPr>
        <p:txBody>
          <a:bodyPr wrap="square" rtlCol="0">
            <a:spAutoFit/>
          </a:bodyPr>
          <a:lstStyle/>
          <a:p>
            <a:r>
              <a:rPr lang="en-VN" dirty="0">
                <a:solidFill>
                  <a:srgbClr val="00B0F0"/>
                </a:solidFill>
                <a:latin typeface="Lato" panose="020F0502020204030203" pitchFamily="34" charset="0"/>
                <a:ea typeface="Lato" panose="020F0502020204030203" pitchFamily="34" charset="0"/>
                <a:cs typeface="Lato" panose="020F0502020204030203" pitchFamily="34" charset="0"/>
              </a:rPr>
              <a:t>Có 4 trường hợp có thể xảy ra khi chèn 1 node vào cây đỏ đen:</a:t>
            </a:r>
          </a:p>
        </p:txBody>
      </p:sp>
      <p:sp>
        <p:nvSpPr>
          <p:cNvPr id="7" name="TextBox 6">
            <a:extLst>
              <a:ext uri="{FF2B5EF4-FFF2-40B4-BE49-F238E27FC236}">
                <a16:creationId xmlns:a16="http://schemas.microsoft.com/office/drawing/2014/main" id="{6C4639FF-C762-3F88-3CE8-48A40412B7B3}"/>
              </a:ext>
            </a:extLst>
          </p:cNvPr>
          <p:cNvSpPr txBox="1"/>
          <p:nvPr/>
        </p:nvSpPr>
        <p:spPr>
          <a:xfrm>
            <a:off x="682905" y="1621756"/>
            <a:ext cx="5799957" cy="1323439"/>
          </a:xfrm>
          <a:prstGeom prst="rect">
            <a:avLst/>
          </a:prstGeom>
          <a:noFill/>
        </p:spPr>
        <p:txBody>
          <a:bodyPr wrap="square" rtlCol="0">
            <a:spAutoFit/>
          </a:bodyPr>
          <a:lstStyle/>
          <a:p>
            <a:pPr marL="285750" indent="-285750">
              <a:buClr>
                <a:srgbClr val="C00000"/>
              </a:buClr>
              <a:buFont typeface="Wingdings" pitchFamily="2" charset="2"/>
              <a:buChar char="Ø"/>
            </a:pPr>
            <a:r>
              <a:rPr lang="en-VN" sz="2000" dirty="0">
                <a:solidFill>
                  <a:srgbClr val="C00000"/>
                </a:solidFill>
                <a:latin typeface="Lato" panose="020F0502020204030203" pitchFamily="34" charset="0"/>
                <a:ea typeface="Lato" panose="020F0502020204030203" pitchFamily="34" charset="0"/>
                <a:cs typeface="Lato" panose="020F0502020204030203" pitchFamily="34" charset="0"/>
              </a:rPr>
              <a:t>TH1: </a:t>
            </a:r>
            <a:r>
              <a:rPr lang="en-VN" sz="2000" dirty="0">
                <a:latin typeface="Lato" panose="020F0502020204030203" pitchFamily="34" charset="0"/>
                <a:ea typeface="Lato" panose="020F0502020204030203" pitchFamily="34" charset="0"/>
                <a:cs typeface="Lato" panose="020F0502020204030203" pitchFamily="34" charset="0"/>
              </a:rPr>
              <a:t>N được chèn vào vị trí node gốc của cây</a:t>
            </a:r>
          </a:p>
          <a:p>
            <a:pPr marL="285750" indent="-285750">
              <a:buClr>
                <a:srgbClr val="C00000"/>
              </a:buClr>
              <a:buFont typeface="Wingdings" pitchFamily="2" charset="2"/>
              <a:buChar char="Ø"/>
            </a:pPr>
            <a:r>
              <a:rPr lang="en-VN" sz="2000" dirty="0">
                <a:solidFill>
                  <a:srgbClr val="C00000"/>
                </a:solidFill>
                <a:latin typeface="Lato" panose="020F0502020204030203" pitchFamily="34" charset="0"/>
                <a:ea typeface="Lato" panose="020F0502020204030203" pitchFamily="34" charset="0"/>
                <a:cs typeface="Lato" panose="020F0502020204030203" pitchFamily="34" charset="0"/>
              </a:rPr>
              <a:t>TH2: </a:t>
            </a:r>
            <a:r>
              <a:rPr lang="en-VN" sz="2000" dirty="0">
                <a:latin typeface="Lato" panose="020F0502020204030203" pitchFamily="34" charset="0"/>
                <a:ea typeface="Lato" panose="020F0502020204030203" pitchFamily="34" charset="0"/>
                <a:cs typeface="Lato" panose="020F0502020204030203" pitchFamily="34" charset="0"/>
              </a:rPr>
              <a:t>P là node đen</a:t>
            </a:r>
          </a:p>
          <a:p>
            <a:pPr marL="285750" indent="-285750">
              <a:buClr>
                <a:srgbClr val="C00000"/>
              </a:buClr>
              <a:buFont typeface="Wingdings" pitchFamily="2" charset="2"/>
              <a:buChar char="Ø"/>
            </a:pPr>
            <a:r>
              <a:rPr lang="en-VN" sz="2000" dirty="0">
                <a:solidFill>
                  <a:srgbClr val="C00000"/>
                </a:solidFill>
                <a:latin typeface="Lato" panose="020F0502020204030203" pitchFamily="34" charset="0"/>
                <a:ea typeface="Lato" panose="020F0502020204030203" pitchFamily="34" charset="0"/>
                <a:cs typeface="Lato" panose="020F0502020204030203" pitchFamily="34" charset="0"/>
              </a:rPr>
              <a:t>TH3: </a:t>
            </a:r>
            <a:r>
              <a:rPr lang="en-VN" sz="2000" dirty="0">
                <a:latin typeface="Lato" panose="020F0502020204030203" pitchFamily="34" charset="0"/>
                <a:ea typeface="Lato" panose="020F0502020204030203" pitchFamily="34" charset="0"/>
                <a:cs typeface="Lato" panose="020F0502020204030203" pitchFamily="34" charset="0"/>
              </a:rPr>
              <a:t>Cả P và U đều đỏ</a:t>
            </a:r>
          </a:p>
          <a:p>
            <a:pPr marL="285750" indent="-285750">
              <a:buClr>
                <a:srgbClr val="C00000"/>
              </a:buClr>
              <a:buFont typeface="Wingdings" pitchFamily="2" charset="2"/>
              <a:buChar char="Ø"/>
            </a:pPr>
            <a:r>
              <a:rPr lang="en-VN" sz="2000" dirty="0">
                <a:solidFill>
                  <a:srgbClr val="C00000"/>
                </a:solidFill>
                <a:latin typeface="Lato" panose="020F0502020204030203" pitchFamily="34" charset="0"/>
                <a:ea typeface="Lato" panose="020F0502020204030203" pitchFamily="34" charset="0"/>
                <a:cs typeface="Lato" panose="020F0502020204030203" pitchFamily="34" charset="0"/>
              </a:rPr>
              <a:t>TH4: </a:t>
            </a:r>
            <a:r>
              <a:rPr lang="en-VN" sz="2000" dirty="0">
                <a:latin typeface="Lato" panose="020F0502020204030203" pitchFamily="34" charset="0"/>
                <a:ea typeface="Lato" panose="020F0502020204030203" pitchFamily="34" charset="0"/>
                <a:cs typeface="Lato" panose="020F0502020204030203" pitchFamily="34" charset="0"/>
              </a:rPr>
              <a:t>P là node đỏ, U là node đen  </a:t>
            </a:r>
          </a:p>
        </p:txBody>
      </p:sp>
      <p:sp>
        <p:nvSpPr>
          <p:cNvPr id="9" name="Rounded Rectangle 8">
            <a:extLst>
              <a:ext uri="{FF2B5EF4-FFF2-40B4-BE49-F238E27FC236}">
                <a16:creationId xmlns:a16="http://schemas.microsoft.com/office/drawing/2014/main" id="{C9B4D0AA-7C10-AA3D-0A29-CAE94638E184}"/>
              </a:ext>
            </a:extLst>
          </p:cNvPr>
          <p:cNvSpPr/>
          <p:nvPr/>
        </p:nvSpPr>
        <p:spPr>
          <a:xfrm>
            <a:off x="4607755" y="3575262"/>
            <a:ext cx="1008185" cy="386861"/>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VN" sz="1600" dirty="0"/>
              <a:t>N là gốc</a:t>
            </a:r>
          </a:p>
        </p:txBody>
      </p:sp>
      <p:sp>
        <p:nvSpPr>
          <p:cNvPr id="10" name="Rounded Rectangle 9">
            <a:extLst>
              <a:ext uri="{FF2B5EF4-FFF2-40B4-BE49-F238E27FC236}">
                <a16:creationId xmlns:a16="http://schemas.microsoft.com/office/drawing/2014/main" id="{6F6BEB6B-DA31-B601-1246-5E1634E35B91}"/>
              </a:ext>
            </a:extLst>
          </p:cNvPr>
          <p:cNvSpPr/>
          <p:nvPr/>
        </p:nvSpPr>
        <p:spPr>
          <a:xfrm>
            <a:off x="5615940" y="2836985"/>
            <a:ext cx="597291" cy="386861"/>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VN" sz="1600" dirty="0"/>
              <a:t>N</a:t>
            </a:r>
          </a:p>
        </p:txBody>
      </p:sp>
      <p:sp>
        <p:nvSpPr>
          <p:cNvPr id="11" name="Rounded Rectangle 10">
            <a:extLst>
              <a:ext uri="{FF2B5EF4-FFF2-40B4-BE49-F238E27FC236}">
                <a16:creationId xmlns:a16="http://schemas.microsoft.com/office/drawing/2014/main" id="{89A09492-EAB2-69E4-4203-D316B88F8BD3}"/>
              </a:ext>
            </a:extLst>
          </p:cNvPr>
          <p:cNvSpPr/>
          <p:nvPr/>
        </p:nvSpPr>
        <p:spPr>
          <a:xfrm>
            <a:off x="6213231" y="3575262"/>
            <a:ext cx="1008185" cy="386861"/>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VN" sz="1600" dirty="0"/>
              <a:t>Có P</a:t>
            </a:r>
          </a:p>
        </p:txBody>
      </p:sp>
      <p:sp>
        <p:nvSpPr>
          <p:cNvPr id="13" name="Rounded Rectangle 12">
            <a:extLst>
              <a:ext uri="{FF2B5EF4-FFF2-40B4-BE49-F238E27FC236}">
                <a16:creationId xmlns:a16="http://schemas.microsoft.com/office/drawing/2014/main" id="{1BC3174E-ADBD-AED7-9FB9-61E947B74FED}"/>
              </a:ext>
            </a:extLst>
          </p:cNvPr>
          <p:cNvSpPr/>
          <p:nvPr/>
        </p:nvSpPr>
        <p:spPr>
          <a:xfrm>
            <a:off x="5474678" y="4452688"/>
            <a:ext cx="738553" cy="386861"/>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VN" sz="1600" dirty="0"/>
              <a:t>P đen</a:t>
            </a:r>
          </a:p>
        </p:txBody>
      </p:sp>
      <p:sp>
        <p:nvSpPr>
          <p:cNvPr id="20" name="Rounded Rectangle 19">
            <a:extLst>
              <a:ext uri="{FF2B5EF4-FFF2-40B4-BE49-F238E27FC236}">
                <a16:creationId xmlns:a16="http://schemas.microsoft.com/office/drawing/2014/main" id="{DEEE85DF-1932-0F43-3F09-695112B98B10}"/>
              </a:ext>
            </a:extLst>
          </p:cNvPr>
          <p:cNvSpPr/>
          <p:nvPr/>
        </p:nvSpPr>
        <p:spPr>
          <a:xfrm>
            <a:off x="7221416" y="4452687"/>
            <a:ext cx="738553" cy="386861"/>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VN" sz="1600" dirty="0"/>
              <a:t>P đỏ</a:t>
            </a:r>
          </a:p>
        </p:txBody>
      </p:sp>
      <p:sp>
        <p:nvSpPr>
          <p:cNvPr id="21" name="Rounded Rectangle 20">
            <a:extLst>
              <a:ext uri="{FF2B5EF4-FFF2-40B4-BE49-F238E27FC236}">
                <a16:creationId xmlns:a16="http://schemas.microsoft.com/office/drawing/2014/main" id="{87501EE5-7862-70E7-85E1-F79306E99D68}"/>
              </a:ext>
            </a:extLst>
          </p:cNvPr>
          <p:cNvSpPr/>
          <p:nvPr/>
        </p:nvSpPr>
        <p:spPr>
          <a:xfrm>
            <a:off x="6482863" y="5218715"/>
            <a:ext cx="738553" cy="386861"/>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VN" sz="1600" dirty="0"/>
              <a:t>U đỏ</a:t>
            </a:r>
          </a:p>
        </p:txBody>
      </p:sp>
      <p:sp>
        <p:nvSpPr>
          <p:cNvPr id="22" name="Rounded Rectangle 21">
            <a:extLst>
              <a:ext uri="{FF2B5EF4-FFF2-40B4-BE49-F238E27FC236}">
                <a16:creationId xmlns:a16="http://schemas.microsoft.com/office/drawing/2014/main" id="{0B2D20DC-9C01-B70F-F42A-9C6DC29C4523}"/>
              </a:ext>
            </a:extLst>
          </p:cNvPr>
          <p:cNvSpPr/>
          <p:nvPr/>
        </p:nvSpPr>
        <p:spPr>
          <a:xfrm>
            <a:off x="7959969" y="5218715"/>
            <a:ext cx="738553" cy="386861"/>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VN" sz="1600" dirty="0"/>
              <a:t>U đen</a:t>
            </a:r>
          </a:p>
        </p:txBody>
      </p:sp>
      <p:cxnSp>
        <p:nvCxnSpPr>
          <p:cNvPr id="24" name="Straight Arrow Connector 23">
            <a:extLst>
              <a:ext uri="{FF2B5EF4-FFF2-40B4-BE49-F238E27FC236}">
                <a16:creationId xmlns:a16="http://schemas.microsoft.com/office/drawing/2014/main" id="{A931A358-D582-CFB6-10F5-45A8CC224561}"/>
              </a:ext>
            </a:extLst>
          </p:cNvPr>
          <p:cNvCxnSpPr>
            <a:cxnSpLocks/>
            <a:stCxn id="10" idx="2"/>
            <a:endCxn id="11" idx="0"/>
          </p:cNvCxnSpPr>
          <p:nvPr/>
        </p:nvCxnSpPr>
        <p:spPr>
          <a:xfrm>
            <a:off x="5914586" y="3223846"/>
            <a:ext cx="802738" cy="351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75565BEA-A627-9B37-6A1A-D315DF755C60}"/>
              </a:ext>
            </a:extLst>
          </p:cNvPr>
          <p:cNvCxnSpPr>
            <a:cxnSpLocks/>
            <a:stCxn id="10" idx="2"/>
            <a:endCxn id="9" idx="0"/>
          </p:cNvCxnSpPr>
          <p:nvPr/>
        </p:nvCxnSpPr>
        <p:spPr>
          <a:xfrm flipH="1">
            <a:off x="5111848" y="3223846"/>
            <a:ext cx="802738" cy="351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92A50F6A-B93A-DED1-D27E-159B82A6766B}"/>
              </a:ext>
            </a:extLst>
          </p:cNvPr>
          <p:cNvCxnSpPr>
            <a:cxnSpLocks/>
            <a:stCxn id="11" idx="2"/>
            <a:endCxn id="13" idx="0"/>
          </p:cNvCxnSpPr>
          <p:nvPr/>
        </p:nvCxnSpPr>
        <p:spPr>
          <a:xfrm flipH="1">
            <a:off x="5843955" y="3962123"/>
            <a:ext cx="873369" cy="4905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32565F78-A8F7-5A10-9718-A86ABEDA0BAD}"/>
              </a:ext>
            </a:extLst>
          </p:cNvPr>
          <p:cNvCxnSpPr>
            <a:cxnSpLocks/>
            <a:stCxn id="11" idx="2"/>
            <a:endCxn id="20" idx="0"/>
          </p:cNvCxnSpPr>
          <p:nvPr/>
        </p:nvCxnSpPr>
        <p:spPr>
          <a:xfrm>
            <a:off x="6717324" y="3962123"/>
            <a:ext cx="873369" cy="4905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090E4FC7-9CEB-E1AF-0DC5-9635AB06A609}"/>
              </a:ext>
            </a:extLst>
          </p:cNvPr>
          <p:cNvCxnSpPr>
            <a:cxnSpLocks/>
            <a:stCxn id="20" idx="2"/>
            <a:endCxn id="21" idx="0"/>
          </p:cNvCxnSpPr>
          <p:nvPr/>
        </p:nvCxnSpPr>
        <p:spPr>
          <a:xfrm flipH="1">
            <a:off x="6852140" y="4839548"/>
            <a:ext cx="738553" cy="3791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A51FE86F-DC98-7796-751B-CB16155DCFF9}"/>
              </a:ext>
            </a:extLst>
          </p:cNvPr>
          <p:cNvCxnSpPr>
            <a:cxnSpLocks/>
            <a:stCxn id="20" idx="2"/>
            <a:endCxn id="22" idx="0"/>
          </p:cNvCxnSpPr>
          <p:nvPr/>
        </p:nvCxnSpPr>
        <p:spPr>
          <a:xfrm>
            <a:off x="7590693" y="4839548"/>
            <a:ext cx="738553" cy="3791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5244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
                                            <p:txEl>
                                              <p:pRg st="2" end="2"/>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7">
                                            <p:txEl>
                                              <p:pRg st="3" end="3"/>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animBg="1"/>
      <p:bldP spid="10" grpId="0" animBg="1"/>
      <p:bldP spid="11" grpId="0" animBg="1"/>
      <p:bldP spid="13" grpId="0" animBg="1"/>
      <p:bldP spid="20" grpId="0" animBg="1"/>
      <p:bldP spid="21" grpId="0" animBg="1"/>
      <p:bldP spid="2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19</a:t>
            </a:fld>
            <a:endParaRPr lang="en-US" dirty="0"/>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lang="en-US" dirty="0"/>
              <a:t>THAO TÁC CƠ BẢN</a:t>
            </a:r>
          </a:p>
        </p:txBody>
      </p:sp>
      <p:sp>
        <p:nvSpPr>
          <p:cNvPr id="3" name="TextBox 2">
            <a:extLst>
              <a:ext uri="{FF2B5EF4-FFF2-40B4-BE49-F238E27FC236}">
                <a16:creationId xmlns:a16="http://schemas.microsoft.com/office/drawing/2014/main" id="{FB2A445E-0F6E-815C-D17A-9F0A8135FE1E}"/>
              </a:ext>
            </a:extLst>
          </p:cNvPr>
          <p:cNvSpPr txBox="1"/>
          <p:nvPr/>
        </p:nvSpPr>
        <p:spPr>
          <a:xfrm>
            <a:off x="682906" y="729204"/>
            <a:ext cx="4780634" cy="707886"/>
          </a:xfrm>
          <a:prstGeom prst="rect">
            <a:avLst/>
          </a:prstGeom>
          <a:noFill/>
        </p:spPr>
        <p:txBody>
          <a:bodyPr wrap="square" rtlCol="0">
            <a:spAutoFit/>
          </a:bodyPr>
          <a:lstStyle/>
          <a:p>
            <a:r>
              <a:rPr lang="en-VN" sz="2000" b="1" dirty="0">
                <a:solidFill>
                  <a:schemeClr val="accent1">
                    <a:lumMod val="50000"/>
                  </a:schemeClr>
                </a:solidFill>
                <a:latin typeface="Lato" panose="020F0502020204030203" pitchFamily="34" charset="0"/>
                <a:ea typeface="Lato" panose="020F0502020204030203" pitchFamily="34" charset="0"/>
                <a:cs typeface="Lato" panose="020F0502020204030203" pitchFamily="34" charset="0"/>
              </a:rPr>
              <a:t>2. Insertion (Thêm node vào cây đỏ đen)</a:t>
            </a:r>
          </a:p>
          <a:p>
            <a:endParaRPr lang="en-VN" sz="2000" b="1" dirty="0">
              <a:solidFill>
                <a:schemeClr val="accent1">
                  <a:lumMod val="50000"/>
                </a:schemeClr>
              </a:solidFill>
            </a:endParaRPr>
          </a:p>
        </p:txBody>
      </p:sp>
      <p:sp>
        <p:nvSpPr>
          <p:cNvPr id="7" name="TextBox 6">
            <a:extLst>
              <a:ext uri="{FF2B5EF4-FFF2-40B4-BE49-F238E27FC236}">
                <a16:creationId xmlns:a16="http://schemas.microsoft.com/office/drawing/2014/main" id="{6C4639FF-C762-3F88-3CE8-48A40412B7B3}"/>
              </a:ext>
            </a:extLst>
          </p:cNvPr>
          <p:cNvSpPr txBox="1"/>
          <p:nvPr/>
        </p:nvSpPr>
        <p:spPr>
          <a:xfrm>
            <a:off x="682906" y="1266610"/>
            <a:ext cx="5820764" cy="400110"/>
          </a:xfrm>
          <a:prstGeom prst="rect">
            <a:avLst/>
          </a:prstGeom>
          <a:noFill/>
        </p:spPr>
        <p:txBody>
          <a:bodyPr wrap="square" rtlCol="0">
            <a:spAutoFit/>
          </a:bodyPr>
          <a:lstStyle/>
          <a:p>
            <a:pPr marL="285750" indent="-285750">
              <a:buClr>
                <a:srgbClr val="C00000"/>
              </a:buClr>
              <a:buFont typeface="Wingdings" pitchFamily="2" charset="2"/>
              <a:buChar char="Ø"/>
            </a:pPr>
            <a:r>
              <a:rPr lang="en-VN" sz="2000" dirty="0">
                <a:solidFill>
                  <a:srgbClr val="C00000"/>
                </a:solidFill>
                <a:latin typeface="Lato" panose="020F0502020204030203" pitchFamily="34" charset="0"/>
                <a:ea typeface="Lato" panose="020F0502020204030203" pitchFamily="34" charset="0"/>
                <a:cs typeface="Lato" panose="020F0502020204030203" pitchFamily="34" charset="0"/>
              </a:rPr>
              <a:t>TH1: </a:t>
            </a:r>
            <a:r>
              <a:rPr lang="en-VN" sz="2000" dirty="0">
                <a:latin typeface="Lato" panose="020F0502020204030203" pitchFamily="34" charset="0"/>
                <a:ea typeface="Lato" panose="020F0502020204030203" pitchFamily="34" charset="0"/>
                <a:cs typeface="Lato" panose="020F0502020204030203" pitchFamily="34" charset="0"/>
              </a:rPr>
              <a:t>N được chèn vào vị trí node gốc của cây</a:t>
            </a:r>
          </a:p>
        </p:txBody>
      </p:sp>
      <p:grpSp>
        <p:nvGrpSpPr>
          <p:cNvPr id="19" name="Group 18">
            <a:extLst>
              <a:ext uri="{FF2B5EF4-FFF2-40B4-BE49-F238E27FC236}">
                <a16:creationId xmlns:a16="http://schemas.microsoft.com/office/drawing/2014/main" id="{EF45E40C-6E62-73D8-5CC1-2C60B4D09236}"/>
              </a:ext>
            </a:extLst>
          </p:cNvPr>
          <p:cNvGrpSpPr/>
          <p:nvPr/>
        </p:nvGrpSpPr>
        <p:grpSpPr>
          <a:xfrm>
            <a:off x="1920240" y="2320290"/>
            <a:ext cx="958673" cy="982980"/>
            <a:chOff x="1920240" y="2320290"/>
            <a:chExt cx="958673" cy="982980"/>
          </a:xfrm>
        </p:grpSpPr>
        <p:grpSp>
          <p:nvGrpSpPr>
            <p:cNvPr id="17" name="Group 16">
              <a:extLst>
                <a:ext uri="{FF2B5EF4-FFF2-40B4-BE49-F238E27FC236}">
                  <a16:creationId xmlns:a16="http://schemas.microsoft.com/office/drawing/2014/main" id="{E45292F3-81AE-5A80-F27C-D9D155BA8B8A}"/>
                </a:ext>
              </a:extLst>
            </p:cNvPr>
            <p:cNvGrpSpPr/>
            <p:nvPr/>
          </p:nvGrpSpPr>
          <p:grpSpPr>
            <a:xfrm>
              <a:off x="1920240" y="2320290"/>
              <a:ext cx="422910" cy="982980"/>
              <a:chOff x="1920240" y="2320290"/>
              <a:chExt cx="422910" cy="982980"/>
            </a:xfrm>
          </p:grpSpPr>
          <p:sp>
            <p:nvSpPr>
              <p:cNvPr id="6" name="Oval 5">
                <a:extLst>
                  <a:ext uri="{FF2B5EF4-FFF2-40B4-BE49-F238E27FC236}">
                    <a16:creationId xmlns:a16="http://schemas.microsoft.com/office/drawing/2014/main" id="{95BE6ADB-183C-BFBB-5E43-E875A96C1C72}"/>
                  </a:ext>
                </a:extLst>
              </p:cNvPr>
              <p:cNvSpPr/>
              <p:nvPr/>
            </p:nvSpPr>
            <p:spPr>
              <a:xfrm>
                <a:off x="1920240" y="2903160"/>
                <a:ext cx="411480"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N</a:t>
                </a:r>
              </a:p>
            </p:txBody>
          </p:sp>
          <p:cxnSp>
            <p:nvCxnSpPr>
              <p:cNvPr id="12" name="Straight Arrow Connector 11">
                <a:extLst>
                  <a:ext uri="{FF2B5EF4-FFF2-40B4-BE49-F238E27FC236}">
                    <a16:creationId xmlns:a16="http://schemas.microsoft.com/office/drawing/2014/main" id="{D05A84EB-EE7F-DFB4-68DA-A448F70FAFCF}"/>
                  </a:ext>
                </a:extLst>
              </p:cNvPr>
              <p:cNvCxnSpPr>
                <a:cxnSpLocks/>
              </p:cNvCxnSpPr>
              <p:nvPr/>
            </p:nvCxnSpPr>
            <p:spPr>
              <a:xfrm flipH="1">
                <a:off x="2148840" y="2423160"/>
                <a:ext cx="102870" cy="48000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798F4909-8586-ECD0-BFF4-46191F27CE7A}"/>
                  </a:ext>
                </a:extLst>
              </p:cNvPr>
              <p:cNvSpPr/>
              <p:nvPr/>
            </p:nvSpPr>
            <p:spPr>
              <a:xfrm flipV="1">
                <a:off x="2183130" y="2320290"/>
                <a:ext cx="16002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18" name="TextBox 17">
              <a:extLst>
                <a:ext uri="{FF2B5EF4-FFF2-40B4-BE49-F238E27FC236}">
                  <a16:creationId xmlns:a16="http://schemas.microsoft.com/office/drawing/2014/main" id="{BD4BDA7F-B1B5-78CC-6F9E-7AF34D74138B}"/>
                </a:ext>
              </a:extLst>
            </p:cNvPr>
            <p:cNvSpPr txBox="1"/>
            <p:nvPr/>
          </p:nvSpPr>
          <p:spPr>
            <a:xfrm>
              <a:off x="2286000" y="2342374"/>
              <a:ext cx="592913" cy="307777"/>
            </a:xfrm>
            <a:prstGeom prst="rect">
              <a:avLst/>
            </a:prstGeom>
            <a:noFill/>
          </p:spPr>
          <p:txBody>
            <a:bodyPr wrap="square" rtlCol="0">
              <a:spAutoFit/>
            </a:bodyPr>
            <a:lstStyle/>
            <a:p>
              <a:r>
                <a:rPr lang="en-VN" sz="1400" dirty="0">
                  <a:solidFill>
                    <a:srgbClr val="C00000"/>
                  </a:solidFill>
                  <a:latin typeface="Lato" panose="020F0502020204030203" pitchFamily="34" charset="0"/>
                  <a:ea typeface="Lato" panose="020F0502020204030203" pitchFamily="34" charset="0"/>
                  <a:cs typeface="Lato" panose="020F0502020204030203" pitchFamily="34" charset="0"/>
                </a:rPr>
                <a:t>root</a:t>
              </a:r>
            </a:p>
          </p:txBody>
        </p:sp>
      </p:grpSp>
      <p:grpSp>
        <p:nvGrpSpPr>
          <p:cNvPr id="45" name="Group 44">
            <a:extLst>
              <a:ext uri="{FF2B5EF4-FFF2-40B4-BE49-F238E27FC236}">
                <a16:creationId xmlns:a16="http://schemas.microsoft.com/office/drawing/2014/main" id="{7BD8F923-5AFB-9B34-DDEA-FA94A1572191}"/>
              </a:ext>
            </a:extLst>
          </p:cNvPr>
          <p:cNvGrpSpPr/>
          <p:nvPr/>
        </p:nvGrpSpPr>
        <p:grpSpPr>
          <a:xfrm>
            <a:off x="1771650" y="3295177"/>
            <a:ext cx="4777740" cy="1011790"/>
            <a:chOff x="1771650" y="3295177"/>
            <a:chExt cx="4777740" cy="1011790"/>
          </a:xfrm>
        </p:grpSpPr>
        <p:sp>
          <p:nvSpPr>
            <p:cNvPr id="26" name="TextBox 25">
              <a:extLst>
                <a:ext uri="{FF2B5EF4-FFF2-40B4-BE49-F238E27FC236}">
                  <a16:creationId xmlns:a16="http://schemas.microsoft.com/office/drawing/2014/main" id="{EBAAEDF9-8359-8FC3-3769-1DF2929B086E}"/>
                </a:ext>
              </a:extLst>
            </p:cNvPr>
            <p:cNvSpPr txBox="1"/>
            <p:nvPr/>
          </p:nvSpPr>
          <p:spPr>
            <a:xfrm>
              <a:off x="1771650" y="3937635"/>
              <a:ext cx="4777740" cy="369332"/>
            </a:xfrm>
            <a:prstGeom prst="rect">
              <a:avLst/>
            </a:prstGeom>
            <a:noFill/>
          </p:spPr>
          <p:txBody>
            <a:bodyPr wrap="square" rtlCol="0">
              <a:spAutoFit/>
            </a:bodyPr>
            <a:lstStyle/>
            <a:p>
              <a:r>
                <a:rPr lang="en-VN" dirty="0">
                  <a:latin typeface="Lato" panose="020F0502020204030203" pitchFamily="34" charset="0"/>
                  <a:ea typeface="Lato" panose="020F0502020204030203" pitchFamily="34" charset="0"/>
                  <a:cs typeface="Lato" panose="020F0502020204030203" pitchFamily="34" charset="0"/>
                </a:rPr>
                <a:t>Vi phạm yêu cầu: node gốc phải là node đen</a:t>
              </a:r>
            </a:p>
          </p:txBody>
        </p:sp>
        <p:cxnSp>
          <p:nvCxnSpPr>
            <p:cNvPr id="30" name="Curved Connector 29">
              <a:extLst>
                <a:ext uri="{FF2B5EF4-FFF2-40B4-BE49-F238E27FC236}">
                  <a16:creationId xmlns:a16="http://schemas.microsoft.com/office/drawing/2014/main" id="{AF499522-7966-98B7-D477-B61A533F4D44}"/>
                </a:ext>
              </a:extLst>
            </p:cNvPr>
            <p:cNvCxnSpPr>
              <a:cxnSpLocks/>
              <a:endCxn id="26" idx="1"/>
            </p:cNvCxnSpPr>
            <p:nvPr/>
          </p:nvCxnSpPr>
          <p:spPr>
            <a:xfrm rot="5400000">
              <a:off x="1361267" y="3705561"/>
              <a:ext cx="827123" cy="6356"/>
            </a:xfrm>
            <a:prstGeom prst="curvedConnector4">
              <a:avLst>
                <a:gd name="adj1" fmla="val 38837"/>
                <a:gd name="adj2" fmla="val 3696602"/>
              </a:avLst>
            </a:prstGeom>
            <a:ln w="9525">
              <a:tailEnd type="triangle"/>
            </a:ln>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10CF66B3-9AB5-5672-D88A-2671B4F2E7A0}"/>
              </a:ext>
            </a:extLst>
          </p:cNvPr>
          <p:cNvGrpSpPr/>
          <p:nvPr/>
        </p:nvGrpSpPr>
        <p:grpSpPr>
          <a:xfrm>
            <a:off x="1303020" y="4465611"/>
            <a:ext cx="4669797" cy="369332"/>
            <a:chOff x="1303020" y="4465611"/>
            <a:chExt cx="4669797" cy="369332"/>
          </a:xfrm>
        </p:grpSpPr>
        <p:sp>
          <p:nvSpPr>
            <p:cNvPr id="25" name="Right Arrow 24">
              <a:extLst>
                <a:ext uri="{FF2B5EF4-FFF2-40B4-BE49-F238E27FC236}">
                  <a16:creationId xmlns:a16="http://schemas.microsoft.com/office/drawing/2014/main" id="{08F1874D-6284-70D3-A06F-31A594DAEEAA}"/>
                </a:ext>
              </a:extLst>
            </p:cNvPr>
            <p:cNvSpPr/>
            <p:nvPr/>
          </p:nvSpPr>
          <p:spPr>
            <a:xfrm>
              <a:off x="1303020" y="4552702"/>
              <a:ext cx="365760" cy="195150"/>
            </a:xfrm>
            <a:prstGeom prst="rightArrow">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a:p>
          </p:txBody>
        </p:sp>
        <p:sp>
          <p:nvSpPr>
            <p:cNvPr id="43" name="TextBox 42">
              <a:extLst>
                <a:ext uri="{FF2B5EF4-FFF2-40B4-BE49-F238E27FC236}">
                  <a16:creationId xmlns:a16="http://schemas.microsoft.com/office/drawing/2014/main" id="{5FA773F0-9F0A-3175-0845-5E4F0D5B1ADA}"/>
                </a:ext>
              </a:extLst>
            </p:cNvPr>
            <p:cNvSpPr txBox="1"/>
            <p:nvPr/>
          </p:nvSpPr>
          <p:spPr>
            <a:xfrm>
              <a:off x="1778007" y="4465611"/>
              <a:ext cx="4194810" cy="369332"/>
            </a:xfrm>
            <a:prstGeom prst="rect">
              <a:avLst/>
            </a:prstGeom>
            <a:noFill/>
          </p:spPr>
          <p:txBody>
            <a:bodyPr wrap="square" rtlCol="0">
              <a:spAutoFit/>
            </a:bodyPr>
            <a:lstStyle/>
            <a:p>
              <a:r>
                <a:rPr lang="en-VN" dirty="0">
                  <a:latin typeface="Lato" panose="020F0502020204030203" pitchFamily="34" charset="0"/>
                  <a:ea typeface="Lato" panose="020F0502020204030203" pitchFamily="34" charset="0"/>
                  <a:cs typeface="Lato" panose="020F0502020204030203" pitchFamily="34" charset="0"/>
                </a:rPr>
                <a:t>Đổi màu node N thành màu đen</a:t>
              </a:r>
            </a:p>
          </p:txBody>
        </p:sp>
      </p:grpSp>
      <p:grpSp>
        <p:nvGrpSpPr>
          <p:cNvPr id="46" name="Group 45">
            <a:extLst>
              <a:ext uri="{FF2B5EF4-FFF2-40B4-BE49-F238E27FC236}">
                <a16:creationId xmlns:a16="http://schemas.microsoft.com/office/drawing/2014/main" id="{FEAC6BC4-D3F8-F4E6-639B-C95A08C601BB}"/>
              </a:ext>
            </a:extLst>
          </p:cNvPr>
          <p:cNvGrpSpPr/>
          <p:nvPr/>
        </p:nvGrpSpPr>
        <p:grpSpPr>
          <a:xfrm>
            <a:off x="5306416" y="2320290"/>
            <a:ext cx="958673" cy="982980"/>
            <a:chOff x="1920240" y="2320290"/>
            <a:chExt cx="958673" cy="982980"/>
          </a:xfrm>
        </p:grpSpPr>
        <p:grpSp>
          <p:nvGrpSpPr>
            <p:cNvPr id="47" name="Group 46">
              <a:extLst>
                <a:ext uri="{FF2B5EF4-FFF2-40B4-BE49-F238E27FC236}">
                  <a16:creationId xmlns:a16="http://schemas.microsoft.com/office/drawing/2014/main" id="{4FA2C4EF-C08A-E6B2-418F-C202F02934EA}"/>
                </a:ext>
              </a:extLst>
            </p:cNvPr>
            <p:cNvGrpSpPr/>
            <p:nvPr/>
          </p:nvGrpSpPr>
          <p:grpSpPr>
            <a:xfrm>
              <a:off x="1920240" y="2320290"/>
              <a:ext cx="422910" cy="982980"/>
              <a:chOff x="1920240" y="2320290"/>
              <a:chExt cx="422910" cy="982980"/>
            </a:xfrm>
          </p:grpSpPr>
          <p:sp>
            <p:nvSpPr>
              <p:cNvPr id="49" name="Oval 48">
                <a:extLst>
                  <a:ext uri="{FF2B5EF4-FFF2-40B4-BE49-F238E27FC236}">
                    <a16:creationId xmlns:a16="http://schemas.microsoft.com/office/drawing/2014/main" id="{E4CA1B67-AD54-C15D-B8C0-5F1E67F43413}"/>
                  </a:ext>
                </a:extLst>
              </p:cNvPr>
              <p:cNvSpPr/>
              <p:nvPr/>
            </p:nvSpPr>
            <p:spPr>
              <a:xfrm>
                <a:off x="1920240" y="2903160"/>
                <a:ext cx="411480"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N</a:t>
                </a:r>
              </a:p>
            </p:txBody>
          </p:sp>
          <p:cxnSp>
            <p:nvCxnSpPr>
              <p:cNvPr id="50" name="Straight Arrow Connector 49">
                <a:extLst>
                  <a:ext uri="{FF2B5EF4-FFF2-40B4-BE49-F238E27FC236}">
                    <a16:creationId xmlns:a16="http://schemas.microsoft.com/office/drawing/2014/main" id="{BEAC5245-E3D7-24E9-44A6-381430D987A9}"/>
                  </a:ext>
                </a:extLst>
              </p:cNvPr>
              <p:cNvCxnSpPr>
                <a:cxnSpLocks/>
              </p:cNvCxnSpPr>
              <p:nvPr/>
            </p:nvCxnSpPr>
            <p:spPr>
              <a:xfrm flipH="1">
                <a:off x="2148840" y="2423160"/>
                <a:ext cx="102870" cy="48000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7093DCA4-DF55-FD8E-0DFB-2F1DBAF75418}"/>
                  </a:ext>
                </a:extLst>
              </p:cNvPr>
              <p:cNvSpPr/>
              <p:nvPr/>
            </p:nvSpPr>
            <p:spPr>
              <a:xfrm flipV="1">
                <a:off x="2183130" y="2320290"/>
                <a:ext cx="160020" cy="114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48" name="TextBox 47">
              <a:extLst>
                <a:ext uri="{FF2B5EF4-FFF2-40B4-BE49-F238E27FC236}">
                  <a16:creationId xmlns:a16="http://schemas.microsoft.com/office/drawing/2014/main" id="{7B3EE5BA-B7CE-4FB2-646F-F0F39DC119BB}"/>
                </a:ext>
              </a:extLst>
            </p:cNvPr>
            <p:cNvSpPr txBox="1"/>
            <p:nvPr/>
          </p:nvSpPr>
          <p:spPr>
            <a:xfrm>
              <a:off x="2286000" y="2342374"/>
              <a:ext cx="592913" cy="307777"/>
            </a:xfrm>
            <a:prstGeom prst="rect">
              <a:avLst/>
            </a:prstGeom>
            <a:noFill/>
          </p:spPr>
          <p:txBody>
            <a:bodyPr wrap="square" rtlCol="0">
              <a:spAutoFit/>
            </a:bodyPr>
            <a:lstStyle/>
            <a:p>
              <a:r>
                <a:rPr lang="en-VN" sz="1400" dirty="0">
                  <a:solidFill>
                    <a:srgbClr val="C00000"/>
                  </a:solidFill>
                  <a:latin typeface="Lato" panose="020F0502020204030203" pitchFamily="34" charset="0"/>
                  <a:ea typeface="Lato" panose="020F0502020204030203" pitchFamily="34" charset="0"/>
                  <a:cs typeface="Lato" panose="020F0502020204030203" pitchFamily="34" charset="0"/>
                </a:rPr>
                <a:t>root</a:t>
              </a:r>
            </a:p>
          </p:txBody>
        </p:sp>
      </p:grpSp>
      <p:sp>
        <p:nvSpPr>
          <p:cNvPr id="53" name="Right Arrow 52">
            <a:extLst>
              <a:ext uri="{FF2B5EF4-FFF2-40B4-BE49-F238E27FC236}">
                <a16:creationId xmlns:a16="http://schemas.microsoft.com/office/drawing/2014/main" id="{729C93D9-2C21-61BB-7A7D-C0B77B7FF853}"/>
              </a:ext>
            </a:extLst>
          </p:cNvPr>
          <p:cNvSpPr/>
          <p:nvPr/>
        </p:nvSpPr>
        <p:spPr>
          <a:xfrm>
            <a:off x="3347902" y="2764391"/>
            <a:ext cx="1170933" cy="31194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4239192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20</a:t>
            </a:fld>
            <a:endParaRPr lang="en-US" dirty="0"/>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lang="en-US" dirty="0"/>
              <a:t>THAO TÁC CƠ BẢN</a:t>
            </a:r>
          </a:p>
        </p:txBody>
      </p:sp>
      <p:sp>
        <p:nvSpPr>
          <p:cNvPr id="3" name="TextBox 2">
            <a:extLst>
              <a:ext uri="{FF2B5EF4-FFF2-40B4-BE49-F238E27FC236}">
                <a16:creationId xmlns:a16="http://schemas.microsoft.com/office/drawing/2014/main" id="{FB2A445E-0F6E-815C-D17A-9F0A8135FE1E}"/>
              </a:ext>
            </a:extLst>
          </p:cNvPr>
          <p:cNvSpPr txBox="1"/>
          <p:nvPr/>
        </p:nvSpPr>
        <p:spPr>
          <a:xfrm>
            <a:off x="682906" y="729204"/>
            <a:ext cx="4780634" cy="707886"/>
          </a:xfrm>
          <a:prstGeom prst="rect">
            <a:avLst/>
          </a:prstGeom>
          <a:noFill/>
        </p:spPr>
        <p:txBody>
          <a:bodyPr wrap="square" rtlCol="0">
            <a:spAutoFit/>
          </a:bodyPr>
          <a:lstStyle/>
          <a:p>
            <a:r>
              <a:rPr lang="en-VN" sz="2000" b="1" dirty="0">
                <a:solidFill>
                  <a:schemeClr val="accent1">
                    <a:lumMod val="50000"/>
                  </a:schemeClr>
                </a:solidFill>
                <a:latin typeface="Lato" panose="020F0502020204030203" pitchFamily="34" charset="0"/>
                <a:ea typeface="Lato" panose="020F0502020204030203" pitchFamily="34" charset="0"/>
                <a:cs typeface="Lato" panose="020F0502020204030203" pitchFamily="34" charset="0"/>
              </a:rPr>
              <a:t>2. Insertion (Thêm node vào cây đỏ đen)</a:t>
            </a:r>
          </a:p>
          <a:p>
            <a:endParaRPr lang="en-VN" sz="2000" b="1" dirty="0">
              <a:solidFill>
                <a:schemeClr val="accent1">
                  <a:lumMod val="50000"/>
                </a:schemeClr>
              </a:solidFill>
            </a:endParaRPr>
          </a:p>
        </p:txBody>
      </p:sp>
      <p:sp>
        <p:nvSpPr>
          <p:cNvPr id="7" name="TextBox 6">
            <a:extLst>
              <a:ext uri="{FF2B5EF4-FFF2-40B4-BE49-F238E27FC236}">
                <a16:creationId xmlns:a16="http://schemas.microsoft.com/office/drawing/2014/main" id="{6C4639FF-C762-3F88-3CE8-48A40412B7B3}"/>
              </a:ext>
            </a:extLst>
          </p:cNvPr>
          <p:cNvSpPr txBox="1"/>
          <p:nvPr/>
        </p:nvSpPr>
        <p:spPr>
          <a:xfrm>
            <a:off x="682906" y="1266610"/>
            <a:ext cx="5820764" cy="400110"/>
          </a:xfrm>
          <a:prstGeom prst="rect">
            <a:avLst/>
          </a:prstGeom>
          <a:noFill/>
        </p:spPr>
        <p:txBody>
          <a:bodyPr wrap="square" rtlCol="0">
            <a:spAutoFit/>
          </a:bodyPr>
          <a:lstStyle/>
          <a:p>
            <a:pPr marL="285750" indent="-285750">
              <a:buClr>
                <a:srgbClr val="C00000"/>
              </a:buClr>
              <a:buFont typeface="Wingdings" pitchFamily="2" charset="2"/>
              <a:buChar char="Ø"/>
            </a:pPr>
            <a:r>
              <a:rPr lang="en-VN" sz="2000" dirty="0">
                <a:solidFill>
                  <a:srgbClr val="C00000"/>
                </a:solidFill>
                <a:latin typeface="Lato" panose="020F0502020204030203" pitchFamily="34" charset="0"/>
                <a:ea typeface="Lato" panose="020F0502020204030203" pitchFamily="34" charset="0"/>
                <a:cs typeface="Lato" panose="020F0502020204030203" pitchFamily="34" charset="0"/>
              </a:rPr>
              <a:t>TH2: </a:t>
            </a:r>
            <a:r>
              <a:rPr lang="en-VN" sz="2000" dirty="0">
                <a:latin typeface="Lato" panose="020F0502020204030203" pitchFamily="34" charset="0"/>
                <a:ea typeface="Lato" panose="020F0502020204030203" pitchFamily="34" charset="0"/>
                <a:cs typeface="Lato" panose="020F0502020204030203" pitchFamily="34" charset="0"/>
              </a:rPr>
              <a:t>P là node đen</a:t>
            </a:r>
          </a:p>
        </p:txBody>
      </p:sp>
      <p:grpSp>
        <p:nvGrpSpPr>
          <p:cNvPr id="35" name="Group 34">
            <a:extLst>
              <a:ext uri="{FF2B5EF4-FFF2-40B4-BE49-F238E27FC236}">
                <a16:creationId xmlns:a16="http://schemas.microsoft.com/office/drawing/2014/main" id="{CE46966D-7FF6-A617-4B49-384164580996}"/>
              </a:ext>
            </a:extLst>
          </p:cNvPr>
          <p:cNvGrpSpPr/>
          <p:nvPr/>
        </p:nvGrpSpPr>
        <p:grpSpPr>
          <a:xfrm>
            <a:off x="880110" y="2948940"/>
            <a:ext cx="2214526" cy="1880205"/>
            <a:chOff x="880110" y="2948940"/>
            <a:chExt cx="2214526" cy="1880205"/>
          </a:xfrm>
        </p:grpSpPr>
        <p:sp>
          <p:nvSpPr>
            <p:cNvPr id="4" name="Oval 3">
              <a:extLst>
                <a:ext uri="{FF2B5EF4-FFF2-40B4-BE49-F238E27FC236}">
                  <a16:creationId xmlns:a16="http://schemas.microsoft.com/office/drawing/2014/main" id="{1F5E7F4A-E76C-F32E-EDBD-3F412F1E519A}"/>
                </a:ext>
              </a:extLst>
            </p:cNvPr>
            <p:cNvSpPr/>
            <p:nvPr/>
          </p:nvSpPr>
          <p:spPr>
            <a:xfrm>
              <a:off x="880110" y="4429035"/>
              <a:ext cx="411480"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N</a:t>
              </a:r>
            </a:p>
          </p:txBody>
        </p:sp>
        <p:sp>
          <p:nvSpPr>
            <p:cNvPr id="8" name="Oval 7">
              <a:extLst>
                <a:ext uri="{FF2B5EF4-FFF2-40B4-BE49-F238E27FC236}">
                  <a16:creationId xmlns:a16="http://schemas.microsoft.com/office/drawing/2014/main" id="{6349335B-FC07-C20D-A822-9361F578921C}"/>
                </a:ext>
              </a:extLst>
            </p:cNvPr>
            <p:cNvSpPr/>
            <p:nvPr/>
          </p:nvSpPr>
          <p:spPr>
            <a:xfrm>
              <a:off x="1565910" y="3520320"/>
              <a:ext cx="411480"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P</a:t>
              </a:r>
            </a:p>
          </p:txBody>
        </p:sp>
        <p:sp>
          <p:nvSpPr>
            <p:cNvPr id="9" name="Triangle 8">
              <a:extLst>
                <a:ext uri="{FF2B5EF4-FFF2-40B4-BE49-F238E27FC236}">
                  <a16:creationId xmlns:a16="http://schemas.microsoft.com/office/drawing/2014/main" id="{0DC1F3B9-A3C3-A494-5E5F-DDA9B50BF43B}"/>
                </a:ext>
              </a:extLst>
            </p:cNvPr>
            <p:cNvSpPr/>
            <p:nvPr/>
          </p:nvSpPr>
          <p:spPr>
            <a:xfrm>
              <a:off x="2385976" y="3520320"/>
              <a:ext cx="708660"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100" dirty="0">
                  <a:latin typeface="Lato" panose="020F0502020204030203" pitchFamily="34" charset="0"/>
                  <a:ea typeface="Lato" panose="020F0502020204030203" pitchFamily="34" charset="0"/>
                  <a:cs typeface="Lato" panose="020F0502020204030203" pitchFamily="34" charset="0"/>
                </a:rPr>
                <a:t>R1</a:t>
              </a:r>
            </a:p>
          </p:txBody>
        </p:sp>
        <p:sp>
          <p:nvSpPr>
            <p:cNvPr id="11" name="Triangle 10">
              <a:extLst>
                <a:ext uri="{FF2B5EF4-FFF2-40B4-BE49-F238E27FC236}">
                  <a16:creationId xmlns:a16="http://schemas.microsoft.com/office/drawing/2014/main" id="{D55E5154-4FD7-88D8-7B95-1DFFDA370F2C}"/>
                </a:ext>
              </a:extLst>
            </p:cNvPr>
            <p:cNvSpPr/>
            <p:nvPr/>
          </p:nvSpPr>
          <p:spPr>
            <a:xfrm>
              <a:off x="1940206" y="4429035"/>
              <a:ext cx="708660"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100" dirty="0">
                  <a:latin typeface="Lato" panose="020F0502020204030203" pitchFamily="34" charset="0"/>
                  <a:ea typeface="Lato" panose="020F0502020204030203" pitchFamily="34" charset="0"/>
                  <a:cs typeface="Lato" panose="020F0502020204030203" pitchFamily="34" charset="0"/>
                </a:rPr>
                <a:t>R2</a:t>
              </a:r>
            </a:p>
          </p:txBody>
        </p:sp>
        <p:cxnSp>
          <p:nvCxnSpPr>
            <p:cNvPr id="14" name="Straight Arrow Connector 13">
              <a:extLst>
                <a:ext uri="{FF2B5EF4-FFF2-40B4-BE49-F238E27FC236}">
                  <a16:creationId xmlns:a16="http://schemas.microsoft.com/office/drawing/2014/main" id="{F708856B-2775-C666-EDEC-8CE378A8EFF7}"/>
                </a:ext>
              </a:extLst>
            </p:cNvPr>
            <p:cNvCxnSpPr>
              <a:cxnSpLocks/>
              <a:endCxn id="9" idx="0"/>
            </p:cNvCxnSpPr>
            <p:nvPr/>
          </p:nvCxnSpPr>
          <p:spPr>
            <a:xfrm>
              <a:off x="2294536" y="2983230"/>
              <a:ext cx="445770" cy="5370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A68E328-6181-4375-5CA8-079089A5CFA1}"/>
                </a:ext>
              </a:extLst>
            </p:cNvPr>
            <p:cNvCxnSpPr>
              <a:cxnSpLocks/>
              <a:endCxn id="8" idx="0"/>
            </p:cNvCxnSpPr>
            <p:nvPr/>
          </p:nvCxnSpPr>
          <p:spPr>
            <a:xfrm flipH="1">
              <a:off x="1771650" y="2948940"/>
              <a:ext cx="522886" cy="5713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B869C74-ABDF-31C5-E060-6C51EB60EC14}"/>
                </a:ext>
              </a:extLst>
            </p:cNvPr>
            <p:cNvCxnSpPr>
              <a:cxnSpLocks/>
              <a:stCxn id="8" idx="4"/>
              <a:endCxn id="4" idx="0"/>
            </p:cNvCxnSpPr>
            <p:nvPr/>
          </p:nvCxnSpPr>
          <p:spPr>
            <a:xfrm flipH="1">
              <a:off x="1085850" y="3920430"/>
              <a:ext cx="685800" cy="5086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59EEDE0-216D-9967-65C3-7632CE2B5405}"/>
                </a:ext>
              </a:extLst>
            </p:cNvPr>
            <p:cNvCxnSpPr>
              <a:cxnSpLocks/>
              <a:stCxn id="8" idx="4"/>
              <a:endCxn id="11" idx="0"/>
            </p:cNvCxnSpPr>
            <p:nvPr/>
          </p:nvCxnSpPr>
          <p:spPr>
            <a:xfrm>
              <a:off x="1771650" y="3920430"/>
              <a:ext cx="522886" cy="5086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32" name="TextBox 31">
            <a:extLst>
              <a:ext uri="{FF2B5EF4-FFF2-40B4-BE49-F238E27FC236}">
                <a16:creationId xmlns:a16="http://schemas.microsoft.com/office/drawing/2014/main" id="{99BF17CC-A465-320D-E1FB-AECF67066D1E}"/>
              </a:ext>
            </a:extLst>
          </p:cNvPr>
          <p:cNvSpPr txBox="1"/>
          <p:nvPr/>
        </p:nvSpPr>
        <p:spPr>
          <a:xfrm>
            <a:off x="3503222" y="3314700"/>
            <a:ext cx="4954978" cy="646331"/>
          </a:xfrm>
          <a:prstGeom prst="rect">
            <a:avLst/>
          </a:prstGeom>
          <a:noFill/>
        </p:spPr>
        <p:txBody>
          <a:bodyPr wrap="square" rtlCol="0">
            <a:spAutoFit/>
          </a:bodyPr>
          <a:lstStyle/>
          <a:p>
            <a:pPr marL="285750" indent="-285750">
              <a:buFont typeface="Wingdings" pitchFamily="2" charset="2"/>
              <a:buChar char="Ø"/>
            </a:pPr>
            <a:r>
              <a:rPr lang="en-VN" dirty="0">
                <a:latin typeface="Lato" panose="020F0502020204030203" pitchFamily="34" charset="0"/>
                <a:ea typeface="Lato" panose="020F0502020204030203" pitchFamily="34" charset="0"/>
                <a:cs typeface="Lato" panose="020F0502020204030203" pitchFamily="34" charset="0"/>
              </a:rPr>
              <a:t>Không vi phạm định nghĩa của cây đỏ đen</a:t>
            </a:r>
          </a:p>
          <a:p>
            <a:pPr marL="285750" indent="-285750">
              <a:buFont typeface="Wingdings" pitchFamily="2" charset="2"/>
              <a:buChar char="Ø"/>
            </a:pPr>
            <a:r>
              <a:rPr lang="en-VN" dirty="0">
                <a:latin typeface="Lato" panose="020F0502020204030203" pitchFamily="34" charset="0"/>
                <a:ea typeface="Lato" panose="020F0502020204030203" pitchFamily="34" charset="0"/>
                <a:cs typeface="Lato" panose="020F0502020204030203" pitchFamily="34" charset="0"/>
              </a:rPr>
              <a:t>Không vi phạm tính chất của cây đỏ đen</a:t>
            </a:r>
          </a:p>
        </p:txBody>
      </p:sp>
      <p:sp>
        <p:nvSpPr>
          <p:cNvPr id="33" name="Right Arrow 32">
            <a:extLst>
              <a:ext uri="{FF2B5EF4-FFF2-40B4-BE49-F238E27FC236}">
                <a16:creationId xmlns:a16="http://schemas.microsoft.com/office/drawing/2014/main" id="{685B2334-4177-E1B1-BAB8-75AF924F3FFF}"/>
              </a:ext>
            </a:extLst>
          </p:cNvPr>
          <p:cNvSpPr/>
          <p:nvPr/>
        </p:nvSpPr>
        <p:spPr>
          <a:xfrm>
            <a:off x="3593288" y="4123863"/>
            <a:ext cx="365760" cy="195150"/>
          </a:xfrm>
          <a:prstGeom prst="rightArrow">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a:p>
        </p:txBody>
      </p:sp>
      <p:sp>
        <p:nvSpPr>
          <p:cNvPr id="34" name="TextBox 33">
            <a:extLst>
              <a:ext uri="{FF2B5EF4-FFF2-40B4-BE49-F238E27FC236}">
                <a16:creationId xmlns:a16="http://schemas.microsoft.com/office/drawing/2014/main" id="{37448E5F-07DA-E587-A977-27191A319BB9}"/>
              </a:ext>
            </a:extLst>
          </p:cNvPr>
          <p:cNvSpPr txBox="1"/>
          <p:nvPr/>
        </p:nvSpPr>
        <p:spPr>
          <a:xfrm>
            <a:off x="4140481" y="4022609"/>
            <a:ext cx="3680460" cy="369332"/>
          </a:xfrm>
          <a:prstGeom prst="rect">
            <a:avLst/>
          </a:prstGeom>
          <a:noFill/>
        </p:spPr>
        <p:txBody>
          <a:bodyPr wrap="square" rtlCol="0">
            <a:spAutoFit/>
          </a:bodyPr>
          <a:lstStyle/>
          <a:p>
            <a:r>
              <a:rPr lang="en-VN" dirty="0">
                <a:latin typeface="Lato" panose="020F0502020204030203" pitchFamily="34" charset="0"/>
                <a:ea typeface="Lato" panose="020F0502020204030203" pitchFamily="34" charset="0"/>
                <a:cs typeface="Lato" panose="020F0502020204030203" pitchFamily="34" charset="0"/>
              </a:rPr>
              <a:t>Không cần điều chỉnh</a:t>
            </a:r>
          </a:p>
        </p:txBody>
      </p:sp>
    </p:spTree>
    <p:extLst>
      <p:ext uri="{BB962C8B-B14F-4D97-AF65-F5344CB8AC3E}">
        <p14:creationId xmlns:p14="http://schemas.microsoft.com/office/powerpoint/2010/main" val="1302690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animBg="1"/>
      <p:bldP spid="3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21</a:t>
            </a:fld>
            <a:endParaRPr lang="en-US" dirty="0"/>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lang="en-US" dirty="0"/>
              <a:t>THAO TÁC CƠ BẢN</a:t>
            </a:r>
          </a:p>
        </p:txBody>
      </p:sp>
      <p:sp>
        <p:nvSpPr>
          <p:cNvPr id="3" name="TextBox 2">
            <a:extLst>
              <a:ext uri="{FF2B5EF4-FFF2-40B4-BE49-F238E27FC236}">
                <a16:creationId xmlns:a16="http://schemas.microsoft.com/office/drawing/2014/main" id="{FB2A445E-0F6E-815C-D17A-9F0A8135FE1E}"/>
              </a:ext>
            </a:extLst>
          </p:cNvPr>
          <p:cNvSpPr txBox="1"/>
          <p:nvPr/>
        </p:nvSpPr>
        <p:spPr>
          <a:xfrm>
            <a:off x="682906" y="729204"/>
            <a:ext cx="4780634" cy="707886"/>
          </a:xfrm>
          <a:prstGeom prst="rect">
            <a:avLst/>
          </a:prstGeom>
          <a:noFill/>
        </p:spPr>
        <p:txBody>
          <a:bodyPr wrap="square" rtlCol="0">
            <a:spAutoFit/>
          </a:bodyPr>
          <a:lstStyle/>
          <a:p>
            <a:r>
              <a:rPr lang="en-VN" sz="2000" b="1" dirty="0">
                <a:solidFill>
                  <a:schemeClr val="accent1">
                    <a:lumMod val="50000"/>
                  </a:schemeClr>
                </a:solidFill>
                <a:latin typeface="Lato" panose="020F0502020204030203" pitchFamily="34" charset="0"/>
                <a:ea typeface="Lato" panose="020F0502020204030203" pitchFamily="34" charset="0"/>
                <a:cs typeface="Lato" panose="020F0502020204030203" pitchFamily="34" charset="0"/>
              </a:rPr>
              <a:t>2. Insertion (Thêm node vào cây đỏ đen)</a:t>
            </a:r>
          </a:p>
          <a:p>
            <a:endParaRPr lang="en-VN" sz="2000" b="1" dirty="0">
              <a:solidFill>
                <a:schemeClr val="accent1">
                  <a:lumMod val="50000"/>
                </a:schemeClr>
              </a:solidFill>
            </a:endParaRPr>
          </a:p>
        </p:txBody>
      </p:sp>
      <p:sp>
        <p:nvSpPr>
          <p:cNvPr id="7" name="TextBox 6">
            <a:extLst>
              <a:ext uri="{FF2B5EF4-FFF2-40B4-BE49-F238E27FC236}">
                <a16:creationId xmlns:a16="http://schemas.microsoft.com/office/drawing/2014/main" id="{6C4639FF-C762-3F88-3CE8-48A40412B7B3}"/>
              </a:ext>
            </a:extLst>
          </p:cNvPr>
          <p:cNvSpPr txBox="1"/>
          <p:nvPr/>
        </p:nvSpPr>
        <p:spPr>
          <a:xfrm>
            <a:off x="682906" y="1266610"/>
            <a:ext cx="5820764" cy="400110"/>
          </a:xfrm>
          <a:prstGeom prst="rect">
            <a:avLst/>
          </a:prstGeom>
          <a:noFill/>
        </p:spPr>
        <p:txBody>
          <a:bodyPr wrap="square" rtlCol="0">
            <a:spAutoFit/>
          </a:bodyPr>
          <a:lstStyle/>
          <a:p>
            <a:pPr marL="285750" indent="-285750">
              <a:buClr>
                <a:srgbClr val="C00000"/>
              </a:buClr>
              <a:buFont typeface="Wingdings" pitchFamily="2" charset="2"/>
              <a:buChar char="Ø"/>
            </a:pPr>
            <a:r>
              <a:rPr lang="en-VN" sz="2000" dirty="0">
                <a:solidFill>
                  <a:srgbClr val="C00000"/>
                </a:solidFill>
                <a:latin typeface="Lato" panose="020F0502020204030203" pitchFamily="34" charset="0"/>
                <a:ea typeface="Lato" panose="020F0502020204030203" pitchFamily="34" charset="0"/>
                <a:cs typeface="Lato" panose="020F0502020204030203" pitchFamily="34" charset="0"/>
              </a:rPr>
              <a:t>TH3: </a:t>
            </a:r>
            <a:r>
              <a:rPr lang="en-VN" sz="2000" dirty="0">
                <a:latin typeface="Lato" panose="020F0502020204030203" pitchFamily="34" charset="0"/>
                <a:ea typeface="Lato" panose="020F0502020204030203" pitchFamily="34" charset="0"/>
                <a:cs typeface="Lato" panose="020F0502020204030203" pitchFamily="34" charset="0"/>
              </a:rPr>
              <a:t>Cả</a:t>
            </a:r>
            <a:r>
              <a:rPr lang="en-VN" sz="2000" dirty="0">
                <a:solidFill>
                  <a:srgbClr val="C00000"/>
                </a:solidFill>
                <a:latin typeface="Lato" panose="020F0502020204030203" pitchFamily="34" charset="0"/>
                <a:ea typeface="Lato" panose="020F0502020204030203" pitchFamily="34" charset="0"/>
                <a:cs typeface="Lato" panose="020F0502020204030203" pitchFamily="34" charset="0"/>
              </a:rPr>
              <a:t> </a:t>
            </a:r>
            <a:r>
              <a:rPr lang="en-VN" sz="2000" dirty="0">
                <a:latin typeface="Lato" panose="020F0502020204030203" pitchFamily="34" charset="0"/>
                <a:ea typeface="Lato" panose="020F0502020204030203" pitchFamily="34" charset="0"/>
                <a:cs typeface="Lato" panose="020F0502020204030203" pitchFamily="34" charset="0"/>
              </a:rPr>
              <a:t>P và U đều đỏ</a:t>
            </a:r>
          </a:p>
        </p:txBody>
      </p:sp>
      <p:sp>
        <p:nvSpPr>
          <p:cNvPr id="32" name="TextBox 31">
            <a:extLst>
              <a:ext uri="{FF2B5EF4-FFF2-40B4-BE49-F238E27FC236}">
                <a16:creationId xmlns:a16="http://schemas.microsoft.com/office/drawing/2014/main" id="{99BF17CC-A465-320D-E1FB-AECF67066D1E}"/>
              </a:ext>
            </a:extLst>
          </p:cNvPr>
          <p:cNvSpPr txBox="1"/>
          <p:nvPr/>
        </p:nvSpPr>
        <p:spPr>
          <a:xfrm>
            <a:off x="1668902" y="5036259"/>
            <a:ext cx="5909188" cy="369332"/>
          </a:xfrm>
          <a:prstGeom prst="rect">
            <a:avLst/>
          </a:prstGeom>
          <a:noFill/>
        </p:spPr>
        <p:txBody>
          <a:bodyPr wrap="square" rtlCol="0">
            <a:spAutoFit/>
          </a:bodyPr>
          <a:lstStyle/>
          <a:p>
            <a:pPr marL="285750" indent="-285750">
              <a:buFont typeface="Wingdings" pitchFamily="2" charset="2"/>
              <a:buChar char="Ø"/>
            </a:pPr>
            <a:r>
              <a:rPr lang="en-VN" dirty="0">
                <a:latin typeface="Lato" panose="020F0502020204030203" pitchFamily="34" charset="0"/>
                <a:ea typeface="Lato" panose="020F0502020204030203" pitchFamily="34" charset="0"/>
                <a:cs typeface="Lato" panose="020F0502020204030203" pitchFamily="34" charset="0"/>
              </a:rPr>
              <a:t>Vi phạm yêu cầu: cha của node đỏ phải là node đen</a:t>
            </a:r>
          </a:p>
        </p:txBody>
      </p:sp>
      <p:sp>
        <p:nvSpPr>
          <p:cNvPr id="33" name="Right Arrow 32">
            <a:extLst>
              <a:ext uri="{FF2B5EF4-FFF2-40B4-BE49-F238E27FC236}">
                <a16:creationId xmlns:a16="http://schemas.microsoft.com/office/drawing/2014/main" id="{685B2334-4177-E1B1-BAB8-75AF924F3FFF}"/>
              </a:ext>
            </a:extLst>
          </p:cNvPr>
          <p:cNvSpPr/>
          <p:nvPr/>
        </p:nvSpPr>
        <p:spPr>
          <a:xfrm>
            <a:off x="1581804" y="5517935"/>
            <a:ext cx="365760" cy="195150"/>
          </a:xfrm>
          <a:prstGeom prst="rightArrow">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a:p>
        </p:txBody>
      </p:sp>
      <p:sp>
        <p:nvSpPr>
          <p:cNvPr id="34" name="TextBox 33">
            <a:extLst>
              <a:ext uri="{FF2B5EF4-FFF2-40B4-BE49-F238E27FC236}">
                <a16:creationId xmlns:a16="http://schemas.microsoft.com/office/drawing/2014/main" id="{37448E5F-07DA-E587-A977-27191A319BB9}"/>
              </a:ext>
            </a:extLst>
          </p:cNvPr>
          <p:cNvSpPr txBox="1"/>
          <p:nvPr/>
        </p:nvSpPr>
        <p:spPr>
          <a:xfrm>
            <a:off x="2128997" y="5416681"/>
            <a:ext cx="3680460" cy="369332"/>
          </a:xfrm>
          <a:prstGeom prst="rect">
            <a:avLst/>
          </a:prstGeom>
          <a:noFill/>
        </p:spPr>
        <p:txBody>
          <a:bodyPr wrap="square" rtlCol="0">
            <a:spAutoFit/>
          </a:bodyPr>
          <a:lstStyle/>
          <a:p>
            <a:r>
              <a:rPr lang="en-VN" dirty="0">
                <a:latin typeface="Lato" panose="020F0502020204030203" pitchFamily="34" charset="0"/>
                <a:ea typeface="Lato" panose="020F0502020204030203" pitchFamily="34" charset="0"/>
                <a:cs typeface="Lato" panose="020F0502020204030203" pitchFamily="34" charset="0"/>
              </a:rPr>
              <a:t>Chuyển P và U thành node đen</a:t>
            </a:r>
          </a:p>
        </p:txBody>
      </p:sp>
      <p:grpSp>
        <p:nvGrpSpPr>
          <p:cNvPr id="51" name="Group 50">
            <a:extLst>
              <a:ext uri="{FF2B5EF4-FFF2-40B4-BE49-F238E27FC236}">
                <a16:creationId xmlns:a16="http://schemas.microsoft.com/office/drawing/2014/main" id="{C99ABE2F-EA69-8D5D-D636-E5FF95C7EBEB}"/>
              </a:ext>
            </a:extLst>
          </p:cNvPr>
          <p:cNvGrpSpPr/>
          <p:nvPr/>
        </p:nvGrpSpPr>
        <p:grpSpPr>
          <a:xfrm>
            <a:off x="580087" y="2545361"/>
            <a:ext cx="3497379" cy="2238064"/>
            <a:chOff x="580087" y="2545361"/>
            <a:chExt cx="3497379" cy="2238064"/>
          </a:xfrm>
        </p:grpSpPr>
        <p:sp>
          <p:nvSpPr>
            <p:cNvPr id="4" name="Oval 3">
              <a:extLst>
                <a:ext uri="{FF2B5EF4-FFF2-40B4-BE49-F238E27FC236}">
                  <a16:creationId xmlns:a16="http://schemas.microsoft.com/office/drawing/2014/main" id="{1F5E7F4A-E76C-F32E-EDBD-3F412F1E519A}"/>
                </a:ext>
              </a:extLst>
            </p:cNvPr>
            <p:cNvSpPr/>
            <p:nvPr/>
          </p:nvSpPr>
          <p:spPr>
            <a:xfrm>
              <a:off x="580087" y="4383315"/>
              <a:ext cx="411480"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N</a:t>
              </a:r>
            </a:p>
          </p:txBody>
        </p:sp>
        <p:sp>
          <p:nvSpPr>
            <p:cNvPr id="8" name="Oval 7">
              <a:extLst>
                <a:ext uri="{FF2B5EF4-FFF2-40B4-BE49-F238E27FC236}">
                  <a16:creationId xmlns:a16="http://schemas.microsoft.com/office/drawing/2014/main" id="{6349335B-FC07-C20D-A822-9361F578921C}"/>
                </a:ext>
              </a:extLst>
            </p:cNvPr>
            <p:cNvSpPr/>
            <p:nvPr/>
          </p:nvSpPr>
          <p:spPr>
            <a:xfrm>
              <a:off x="1257423" y="3474600"/>
              <a:ext cx="411480"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P</a:t>
              </a:r>
            </a:p>
          </p:txBody>
        </p:sp>
        <p:sp>
          <p:nvSpPr>
            <p:cNvPr id="9" name="Triangle 8">
              <a:extLst>
                <a:ext uri="{FF2B5EF4-FFF2-40B4-BE49-F238E27FC236}">
                  <a16:creationId xmlns:a16="http://schemas.microsoft.com/office/drawing/2014/main" id="{0DC1F3B9-A3C3-A494-5E5F-DDA9B50BF43B}"/>
                </a:ext>
              </a:extLst>
            </p:cNvPr>
            <p:cNvSpPr/>
            <p:nvPr/>
          </p:nvSpPr>
          <p:spPr>
            <a:xfrm>
              <a:off x="2364563" y="4349085"/>
              <a:ext cx="708660"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100" dirty="0">
                  <a:latin typeface="Lato" panose="020F0502020204030203" pitchFamily="34" charset="0"/>
                  <a:ea typeface="Lato" panose="020F0502020204030203" pitchFamily="34" charset="0"/>
                  <a:cs typeface="Lato" panose="020F0502020204030203" pitchFamily="34" charset="0"/>
                </a:rPr>
                <a:t>R2</a:t>
              </a:r>
            </a:p>
          </p:txBody>
        </p:sp>
        <p:sp>
          <p:nvSpPr>
            <p:cNvPr id="11" name="Triangle 10">
              <a:extLst>
                <a:ext uri="{FF2B5EF4-FFF2-40B4-BE49-F238E27FC236}">
                  <a16:creationId xmlns:a16="http://schemas.microsoft.com/office/drawing/2014/main" id="{D55E5154-4FD7-88D8-7B95-1DFFDA370F2C}"/>
                </a:ext>
              </a:extLst>
            </p:cNvPr>
            <p:cNvSpPr/>
            <p:nvPr/>
          </p:nvSpPr>
          <p:spPr>
            <a:xfrm>
              <a:off x="1423354" y="4349085"/>
              <a:ext cx="708660"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100" dirty="0">
                  <a:latin typeface="Lato" panose="020F0502020204030203" pitchFamily="34" charset="0"/>
                  <a:ea typeface="Lato" panose="020F0502020204030203" pitchFamily="34" charset="0"/>
                  <a:cs typeface="Lato" panose="020F0502020204030203" pitchFamily="34" charset="0"/>
                </a:rPr>
                <a:t>R1</a:t>
              </a:r>
            </a:p>
          </p:txBody>
        </p:sp>
        <p:cxnSp>
          <p:nvCxnSpPr>
            <p:cNvPr id="14" name="Straight Arrow Connector 13">
              <a:extLst>
                <a:ext uri="{FF2B5EF4-FFF2-40B4-BE49-F238E27FC236}">
                  <a16:creationId xmlns:a16="http://schemas.microsoft.com/office/drawing/2014/main" id="{F708856B-2775-C666-EDEC-8CE378A8EFF7}"/>
                </a:ext>
              </a:extLst>
            </p:cNvPr>
            <p:cNvCxnSpPr>
              <a:cxnSpLocks/>
              <a:stCxn id="6" idx="4"/>
              <a:endCxn id="10" idx="0"/>
            </p:cNvCxnSpPr>
            <p:nvPr/>
          </p:nvCxnSpPr>
          <p:spPr>
            <a:xfrm>
              <a:off x="2334737" y="2945471"/>
              <a:ext cx="851411" cy="5291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A68E328-6181-4375-5CA8-079089A5CFA1}"/>
                </a:ext>
              </a:extLst>
            </p:cNvPr>
            <p:cNvCxnSpPr>
              <a:cxnSpLocks/>
              <a:stCxn id="6" idx="4"/>
              <a:endCxn id="8" idx="0"/>
            </p:cNvCxnSpPr>
            <p:nvPr/>
          </p:nvCxnSpPr>
          <p:spPr>
            <a:xfrm flipH="1">
              <a:off x="1463163" y="2945471"/>
              <a:ext cx="871574" cy="5291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B869C74-ABDF-31C5-E060-6C51EB60EC14}"/>
                </a:ext>
              </a:extLst>
            </p:cNvPr>
            <p:cNvCxnSpPr>
              <a:cxnSpLocks/>
              <a:stCxn id="8" idx="4"/>
              <a:endCxn id="4" idx="0"/>
            </p:cNvCxnSpPr>
            <p:nvPr/>
          </p:nvCxnSpPr>
          <p:spPr>
            <a:xfrm flipH="1">
              <a:off x="785827" y="3874710"/>
              <a:ext cx="677336" cy="5086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59EEDE0-216D-9967-65C3-7632CE2B5405}"/>
                </a:ext>
              </a:extLst>
            </p:cNvPr>
            <p:cNvCxnSpPr>
              <a:cxnSpLocks/>
              <a:stCxn id="8" idx="4"/>
              <a:endCxn id="11" idx="0"/>
            </p:cNvCxnSpPr>
            <p:nvPr/>
          </p:nvCxnSpPr>
          <p:spPr>
            <a:xfrm>
              <a:off x="1463163" y="3874710"/>
              <a:ext cx="314521" cy="4743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AFA08417-EBF4-A3AB-A4D1-2BF11A0B4CAA}"/>
                </a:ext>
              </a:extLst>
            </p:cNvPr>
            <p:cNvSpPr/>
            <p:nvPr/>
          </p:nvSpPr>
          <p:spPr>
            <a:xfrm>
              <a:off x="2128997" y="2545361"/>
              <a:ext cx="411480"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G</a:t>
              </a:r>
            </a:p>
          </p:txBody>
        </p:sp>
        <p:sp>
          <p:nvSpPr>
            <p:cNvPr id="10" name="Oval 9">
              <a:extLst>
                <a:ext uri="{FF2B5EF4-FFF2-40B4-BE49-F238E27FC236}">
                  <a16:creationId xmlns:a16="http://schemas.microsoft.com/office/drawing/2014/main" id="{EA81FEF3-CF1D-109D-951D-7D5D8AAEB9BD}"/>
                </a:ext>
              </a:extLst>
            </p:cNvPr>
            <p:cNvSpPr/>
            <p:nvPr/>
          </p:nvSpPr>
          <p:spPr>
            <a:xfrm>
              <a:off x="2980408" y="3474600"/>
              <a:ext cx="411480"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U</a:t>
              </a:r>
            </a:p>
          </p:txBody>
        </p:sp>
        <p:sp>
          <p:nvSpPr>
            <p:cNvPr id="22" name="Triangle 21">
              <a:extLst>
                <a:ext uri="{FF2B5EF4-FFF2-40B4-BE49-F238E27FC236}">
                  <a16:creationId xmlns:a16="http://schemas.microsoft.com/office/drawing/2014/main" id="{F5C68046-0C36-96A1-3A9E-2A1F34B6DEE2}"/>
                </a:ext>
              </a:extLst>
            </p:cNvPr>
            <p:cNvSpPr/>
            <p:nvPr/>
          </p:nvSpPr>
          <p:spPr>
            <a:xfrm>
              <a:off x="3368806" y="4349085"/>
              <a:ext cx="708660"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100" dirty="0">
                  <a:latin typeface="Lato" panose="020F0502020204030203" pitchFamily="34" charset="0"/>
                  <a:ea typeface="Lato" panose="020F0502020204030203" pitchFamily="34" charset="0"/>
                  <a:cs typeface="Lato" panose="020F0502020204030203" pitchFamily="34" charset="0"/>
                </a:rPr>
                <a:t>R3</a:t>
              </a:r>
            </a:p>
          </p:txBody>
        </p:sp>
        <p:cxnSp>
          <p:nvCxnSpPr>
            <p:cNvPr id="25" name="Straight Arrow Connector 24">
              <a:extLst>
                <a:ext uri="{FF2B5EF4-FFF2-40B4-BE49-F238E27FC236}">
                  <a16:creationId xmlns:a16="http://schemas.microsoft.com/office/drawing/2014/main" id="{9D7C33FD-C4CE-2ECC-61B4-10C6AAEF8BFB}"/>
                </a:ext>
              </a:extLst>
            </p:cNvPr>
            <p:cNvCxnSpPr>
              <a:cxnSpLocks/>
              <a:stCxn id="10" idx="4"/>
              <a:endCxn id="9" idx="0"/>
            </p:cNvCxnSpPr>
            <p:nvPr/>
          </p:nvCxnSpPr>
          <p:spPr>
            <a:xfrm flipH="1">
              <a:off x="2718893" y="3874710"/>
              <a:ext cx="467255" cy="4743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3F478C0-341C-92E6-5251-36DBB66AED55}"/>
                </a:ext>
              </a:extLst>
            </p:cNvPr>
            <p:cNvCxnSpPr>
              <a:cxnSpLocks/>
              <a:stCxn id="10" idx="4"/>
              <a:endCxn id="22" idx="0"/>
            </p:cNvCxnSpPr>
            <p:nvPr/>
          </p:nvCxnSpPr>
          <p:spPr>
            <a:xfrm>
              <a:off x="3186148" y="3874710"/>
              <a:ext cx="536988" cy="4743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36" name="Oval 35">
            <a:extLst>
              <a:ext uri="{FF2B5EF4-FFF2-40B4-BE49-F238E27FC236}">
                <a16:creationId xmlns:a16="http://schemas.microsoft.com/office/drawing/2014/main" id="{EFC4DBCC-FB68-587B-ED47-39D1E04E0F73}"/>
              </a:ext>
            </a:extLst>
          </p:cNvPr>
          <p:cNvSpPr/>
          <p:nvPr/>
        </p:nvSpPr>
        <p:spPr>
          <a:xfrm>
            <a:off x="5063490" y="4383315"/>
            <a:ext cx="411480"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N</a:t>
            </a:r>
          </a:p>
        </p:txBody>
      </p:sp>
      <p:sp>
        <p:nvSpPr>
          <p:cNvPr id="37" name="Oval 36">
            <a:extLst>
              <a:ext uri="{FF2B5EF4-FFF2-40B4-BE49-F238E27FC236}">
                <a16:creationId xmlns:a16="http://schemas.microsoft.com/office/drawing/2014/main" id="{F607125E-E5C2-85B2-5730-8C96E3F9DDC0}"/>
              </a:ext>
            </a:extLst>
          </p:cNvPr>
          <p:cNvSpPr/>
          <p:nvPr/>
        </p:nvSpPr>
        <p:spPr>
          <a:xfrm>
            <a:off x="5740826" y="3474600"/>
            <a:ext cx="411480"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P</a:t>
            </a:r>
          </a:p>
        </p:txBody>
      </p:sp>
      <p:sp>
        <p:nvSpPr>
          <p:cNvPr id="38" name="Triangle 37">
            <a:extLst>
              <a:ext uri="{FF2B5EF4-FFF2-40B4-BE49-F238E27FC236}">
                <a16:creationId xmlns:a16="http://schemas.microsoft.com/office/drawing/2014/main" id="{3C5B20B0-CB1F-2F6A-2E3F-0090494432C2}"/>
              </a:ext>
            </a:extLst>
          </p:cNvPr>
          <p:cNvSpPr/>
          <p:nvPr/>
        </p:nvSpPr>
        <p:spPr>
          <a:xfrm>
            <a:off x="6847966" y="4349085"/>
            <a:ext cx="708660"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100" dirty="0">
                <a:latin typeface="Lato" panose="020F0502020204030203" pitchFamily="34" charset="0"/>
                <a:ea typeface="Lato" panose="020F0502020204030203" pitchFamily="34" charset="0"/>
                <a:cs typeface="Lato" panose="020F0502020204030203" pitchFamily="34" charset="0"/>
              </a:rPr>
              <a:t>R2</a:t>
            </a:r>
          </a:p>
        </p:txBody>
      </p:sp>
      <p:sp>
        <p:nvSpPr>
          <p:cNvPr id="39" name="Triangle 38">
            <a:extLst>
              <a:ext uri="{FF2B5EF4-FFF2-40B4-BE49-F238E27FC236}">
                <a16:creationId xmlns:a16="http://schemas.microsoft.com/office/drawing/2014/main" id="{F926EAAB-F976-F7B6-7D42-293387034D27}"/>
              </a:ext>
            </a:extLst>
          </p:cNvPr>
          <p:cNvSpPr/>
          <p:nvPr/>
        </p:nvSpPr>
        <p:spPr>
          <a:xfrm>
            <a:off x="5906757" y="4349085"/>
            <a:ext cx="708660"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100" dirty="0">
                <a:latin typeface="Lato" panose="020F0502020204030203" pitchFamily="34" charset="0"/>
                <a:ea typeface="Lato" panose="020F0502020204030203" pitchFamily="34" charset="0"/>
                <a:cs typeface="Lato" panose="020F0502020204030203" pitchFamily="34" charset="0"/>
              </a:rPr>
              <a:t>R1</a:t>
            </a:r>
          </a:p>
        </p:txBody>
      </p:sp>
      <p:cxnSp>
        <p:nvCxnSpPr>
          <p:cNvPr id="40" name="Straight Arrow Connector 39">
            <a:extLst>
              <a:ext uri="{FF2B5EF4-FFF2-40B4-BE49-F238E27FC236}">
                <a16:creationId xmlns:a16="http://schemas.microsoft.com/office/drawing/2014/main" id="{E2D43762-6BC8-939B-28D5-BD99CB035A3E}"/>
              </a:ext>
            </a:extLst>
          </p:cNvPr>
          <p:cNvCxnSpPr>
            <a:cxnSpLocks/>
            <a:stCxn id="44" idx="4"/>
            <a:endCxn id="45" idx="0"/>
          </p:cNvCxnSpPr>
          <p:nvPr/>
        </p:nvCxnSpPr>
        <p:spPr>
          <a:xfrm>
            <a:off x="6818140" y="2945471"/>
            <a:ext cx="851411" cy="5291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80298C9B-7F8D-2372-8EC7-4EF1F7BE8F3B}"/>
              </a:ext>
            </a:extLst>
          </p:cNvPr>
          <p:cNvCxnSpPr>
            <a:cxnSpLocks/>
            <a:stCxn id="44" idx="4"/>
            <a:endCxn id="37" idx="0"/>
          </p:cNvCxnSpPr>
          <p:nvPr/>
        </p:nvCxnSpPr>
        <p:spPr>
          <a:xfrm flipH="1">
            <a:off x="5946566" y="2945471"/>
            <a:ext cx="871574" cy="5291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A6C60FC8-2753-EF65-44D3-149B1C888FA3}"/>
              </a:ext>
            </a:extLst>
          </p:cNvPr>
          <p:cNvCxnSpPr>
            <a:cxnSpLocks/>
            <a:stCxn id="37" idx="4"/>
            <a:endCxn id="36" idx="0"/>
          </p:cNvCxnSpPr>
          <p:nvPr/>
        </p:nvCxnSpPr>
        <p:spPr>
          <a:xfrm flipH="1">
            <a:off x="5269230" y="3874710"/>
            <a:ext cx="677336" cy="5086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39D6E5C4-DECA-0371-F2F1-A8517AE337A3}"/>
              </a:ext>
            </a:extLst>
          </p:cNvPr>
          <p:cNvCxnSpPr>
            <a:cxnSpLocks/>
            <a:stCxn id="37" idx="4"/>
            <a:endCxn id="39" idx="0"/>
          </p:cNvCxnSpPr>
          <p:nvPr/>
        </p:nvCxnSpPr>
        <p:spPr>
          <a:xfrm>
            <a:off x="5946566" y="3874710"/>
            <a:ext cx="314521" cy="4743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Oval 43">
            <a:extLst>
              <a:ext uri="{FF2B5EF4-FFF2-40B4-BE49-F238E27FC236}">
                <a16:creationId xmlns:a16="http://schemas.microsoft.com/office/drawing/2014/main" id="{B0DC59EB-5257-02F4-F076-C6A20A72631C}"/>
              </a:ext>
            </a:extLst>
          </p:cNvPr>
          <p:cNvSpPr/>
          <p:nvPr/>
        </p:nvSpPr>
        <p:spPr>
          <a:xfrm>
            <a:off x="6612400" y="2545361"/>
            <a:ext cx="411480"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G</a:t>
            </a:r>
          </a:p>
        </p:txBody>
      </p:sp>
      <p:sp>
        <p:nvSpPr>
          <p:cNvPr id="45" name="Oval 44">
            <a:extLst>
              <a:ext uri="{FF2B5EF4-FFF2-40B4-BE49-F238E27FC236}">
                <a16:creationId xmlns:a16="http://schemas.microsoft.com/office/drawing/2014/main" id="{53E76619-0F78-6CC7-A270-076B80BD1A8C}"/>
              </a:ext>
            </a:extLst>
          </p:cNvPr>
          <p:cNvSpPr/>
          <p:nvPr/>
        </p:nvSpPr>
        <p:spPr>
          <a:xfrm>
            <a:off x="7463811" y="3474600"/>
            <a:ext cx="411480"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U</a:t>
            </a:r>
          </a:p>
        </p:txBody>
      </p:sp>
      <p:sp>
        <p:nvSpPr>
          <p:cNvPr id="46" name="Triangle 45">
            <a:extLst>
              <a:ext uri="{FF2B5EF4-FFF2-40B4-BE49-F238E27FC236}">
                <a16:creationId xmlns:a16="http://schemas.microsoft.com/office/drawing/2014/main" id="{9F419262-D6A8-526C-6D16-39F4099AB5D2}"/>
              </a:ext>
            </a:extLst>
          </p:cNvPr>
          <p:cNvSpPr/>
          <p:nvPr/>
        </p:nvSpPr>
        <p:spPr>
          <a:xfrm>
            <a:off x="7852209" y="4349085"/>
            <a:ext cx="708660"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100" dirty="0">
                <a:latin typeface="Lato" panose="020F0502020204030203" pitchFamily="34" charset="0"/>
                <a:ea typeface="Lato" panose="020F0502020204030203" pitchFamily="34" charset="0"/>
                <a:cs typeface="Lato" panose="020F0502020204030203" pitchFamily="34" charset="0"/>
              </a:rPr>
              <a:t>R3</a:t>
            </a:r>
          </a:p>
        </p:txBody>
      </p:sp>
      <p:cxnSp>
        <p:nvCxnSpPr>
          <p:cNvPr id="47" name="Straight Arrow Connector 46">
            <a:extLst>
              <a:ext uri="{FF2B5EF4-FFF2-40B4-BE49-F238E27FC236}">
                <a16:creationId xmlns:a16="http://schemas.microsoft.com/office/drawing/2014/main" id="{43EDDD2F-6DE8-AB42-ACBE-20D220167C4B}"/>
              </a:ext>
            </a:extLst>
          </p:cNvPr>
          <p:cNvCxnSpPr>
            <a:cxnSpLocks/>
            <a:stCxn id="45" idx="4"/>
            <a:endCxn id="38" idx="0"/>
          </p:cNvCxnSpPr>
          <p:nvPr/>
        </p:nvCxnSpPr>
        <p:spPr>
          <a:xfrm flipH="1">
            <a:off x="7202296" y="3874710"/>
            <a:ext cx="467255" cy="4743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7E43616-A21E-9173-2B1B-20106CB14335}"/>
              </a:ext>
            </a:extLst>
          </p:cNvPr>
          <p:cNvCxnSpPr>
            <a:cxnSpLocks/>
            <a:stCxn id="45" idx="4"/>
            <a:endCxn id="46" idx="0"/>
          </p:cNvCxnSpPr>
          <p:nvPr/>
        </p:nvCxnSpPr>
        <p:spPr>
          <a:xfrm>
            <a:off x="7669551" y="3874710"/>
            <a:ext cx="536988" cy="4743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Right Arrow 48">
            <a:extLst>
              <a:ext uri="{FF2B5EF4-FFF2-40B4-BE49-F238E27FC236}">
                <a16:creationId xmlns:a16="http://schemas.microsoft.com/office/drawing/2014/main" id="{7C00CC03-B948-8AC4-CEAF-ED575F75AB49}"/>
              </a:ext>
            </a:extLst>
          </p:cNvPr>
          <p:cNvSpPr/>
          <p:nvPr/>
        </p:nvSpPr>
        <p:spPr>
          <a:xfrm>
            <a:off x="1584821" y="5868277"/>
            <a:ext cx="365760" cy="195150"/>
          </a:xfrm>
          <a:prstGeom prst="rightArrow">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a:p>
        </p:txBody>
      </p:sp>
      <p:sp>
        <p:nvSpPr>
          <p:cNvPr id="50" name="TextBox 49">
            <a:extLst>
              <a:ext uri="{FF2B5EF4-FFF2-40B4-BE49-F238E27FC236}">
                <a16:creationId xmlns:a16="http://schemas.microsoft.com/office/drawing/2014/main" id="{7E39DE73-AFC2-7528-3BB9-8B15021333A8}"/>
              </a:ext>
            </a:extLst>
          </p:cNvPr>
          <p:cNvSpPr txBox="1"/>
          <p:nvPr/>
        </p:nvSpPr>
        <p:spPr>
          <a:xfrm>
            <a:off x="2132014" y="5767023"/>
            <a:ext cx="3680460" cy="369332"/>
          </a:xfrm>
          <a:prstGeom prst="rect">
            <a:avLst/>
          </a:prstGeom>
          <a:noFill/>
        </p:spPr>
        <p:txBody>
          <a:bodyPr wrap="square" rtlCol="0">
            <a:spAutoFit/>
          </a:bodyPr>
          <a:lstStyle/>
          <a:p>
            <a:r>
              <a:rPr lang="en-VN" dirty="0">
                <a:latin typeface="Lato" panose="020F0502020204030203" pitchFamily="34" charset="0"/>
                <a:ea typeface="Lato" panose="020F0502020204030203" pitchFamily="34" charset="0"/>
                <a:cs typeface="Lato" panose="020F0502020204030203" pitchFamily="34" charset="0"/>
              </a:rPr>
              <a:t>Chuyển G thành đỏ</a:t>
            </a:r>
          </a:p>
        </p:txBody>
      </p:sp>
      <p:sp>
        <p:nvSpPr>
          <p:cNvPr id="52" name="Right Arrow 51">
            <a:extLst>
              <a:ext uri="{FF2B5EF4-FFF2-40B4-BE49-F238E27FC236}">
                <a16:creationId xmlns:a16="http://schemas.microsoft.com/office/drawing/2014/main" id="{40675BC5-F45A-9EBD-7339-F6B124E96DC3}"/>
              </a:ext>
            </a:extLst>
          </p:cNvPr>
          <p:cNvSpPr/>
          <p:nvPr/>
        </p:nvSpPr>
        <p:spPr>
          <a:xfrm>
            <a:off x="4128317" y="3524764"/>
            <a:ext cx="1170933" cy="31194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54" name="Straight Arrow Connector 53">
            <a:extLst>
              <a:ext uri="{FF2B5EF4-FFF2-40B4-BE49-F238E27FC236}">
                <a16:creationId xmlns:a16="http://schemas.microsoft.com/office/drawing/2014/main" id="{11CE2E70-8FC4-5458-ACA1-E64E6F12576F}"/>
              </a:ext>
            </a:extLst>
          </p:cNvPr>
          <p:cNvCxnSpPr>
            <a:cxnSpLocks/>
          </p:cNvCxnSpPr>
          <p:nvPr/>
        </p:nvCxnSpPr>
        <p:spPr>
          <a:xfrm flipH="1">
            <a:off x="6845741" y="1916024"/>
            <a:ext cx="178139" cy="56676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6" name="Up Arrow 55">
            <a:extLst>
              <a:ext uri="{FF2B5EF4-FFF2-40B4-BE49-F238E27FC236}">
                <a16:creationId xmlns:a16="http://schemas.microsoft.com/office/drawing/2014/main" id="{9E052267-2CCB-4F44-E1CF-3920B7B325DF}"/>
              </a:ext>
            </a:extLst>
          </p:cNvPr>
          <p:cNvSpPr/>
          <p:nvPr/>
        </p:nvSpPr>
        <p:spPr>
          <a:xfrm rot="1985481">
            <a:off x="7133725" y="1840120"/>
            <a:ext cx="152888" cy="699639"/>
          </a:xfrm>
          <a:prstGeom prst="up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VN"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1151040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3"/>
                                        </p:tgtEl>
                                        <p:attrNameLst>
                                          <p:attrName>style.visibility</p:attrName>
                                        </p:attrNameLst>
                                      </p:cBhvr>
                                      <p:to>
                                        <p:strVal val="visible"/>
                                      </p:to>
                                    </p:set>
                                  </p:childTnLst>
                                </p:cTn>
                              </p:par>
                              <p:par>
                                <p:cTn id="31" presetID="1" presetClass="entr" presetSubtype="0" fill="hold" grpId="0" nodeType="withEffect">
                                  <p:stCondLst>
                                    <p:cond delay="0"/>
                                  </p:stCondLst>
                                  <p:iterate type="lt">
                                    <p:tmAbs val="0"/>
                                  </p:iterate>
                                  <p:childTnLst>
                                    <p:set>
                                      <p:cBhvr>
                                        <p:cTn id="32" dur="1" fill="hold">
                                          <p:stCondLst>
                                            <p:cond delay="0"/>
                                          </p:stCondLst>
                                        </p:cTn>
                                        <p:tgtEl>
                                          <p:spTgt spid="4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9"/>
                                        </p:tgtEl>
                                        <p:attrNameLst>
                                          <p:attrName>style.visibility</p:attrName>
                                        </p:attrNameLst>
                                      </p:cBhvr>
                                      <p:to>
                                        <p:strVal val="visible"/>
                                      </p:to>
                                    </p:set>
                                  </p:childTnLst>
                                </p:cTn>
                              </p:par>
                              <p:par>
                                <p:cTn id="47" presetID="16" presetClass="emph" presetSubtype="0" fill="hold" grpId="1" nodeType="withEffect">
                                  <p:stCondLst>
                                    <p:cond delay="0"/>
                                  </p:stCondLst>
                                  <p:iterate type="lt">
                                    <p:tmPct val="4000"/>
                                  </p:iterate>
                                  <p:childTnLst>
                                    <p:set>
                                      <p:cBhvr override="childStyle">
                                        <p:cTn id="48" dur="500" fill="hold"/>
                                        <p:tgtEl>
                                          <p:spTgt spid="44"/>
                                        </p:tgtEl>
                                        <p:attrNameLst>
                                          <p:attrName>style.color</p:attrName>
                                        </p:attrNameLst>
                                      </p:cBhvr>
                                      <p:to>
                                        <p:clrVal>
                                          <a:srgbClr val="F31407"/>
                                        </p:clrVal>
                                      </p:to>
                                    </p:set>
                                    <p:set>
                                      <p:cBhvr>
                                        <p:cTn id="49" dur="500" fill="hold"/>
                                        <p:tgtEl>
                                          <p:spTgt spid="44"/>
                                        </p:tgtEl>
                                        <p:attrNameLst>
                                          <p:attrName>fillcolor</p:attrName>
                                        </p:attrNameLst>
                                      </p:cBhvr>
                                      <p:to>
                                        <p:clrVal>
                                          <a:srgbClr val="F31407"/>
                                        </p:clrVal>
                                      </p:to>
                                    </p:set>
                                    <p:set>
                                      <p:cBhvr>
                                        <p:cTn id="50" dur="500" fill="hold"/>
                                        <p:tgtEl>
                                          <p:spTgt spid="44"/>
                                        </p:tgtEl>
                                        <p:attrNameLst>
                                          <p:attrName>fill.type</p:attrName>
                                        </p:attrNameLst>
                                      </p:cBhvr>
                                      <p:to>
                                        <p:strVal val="solid"/>
                                      </p:to>
                                    </p:set>
                                  </p:childTnLst>
                                </p:cTn>
                              </p:par>
                              <p:par>
                                <p:cTn id="51" presetID="3" presetClass="emph" presetSubtype="2" fill="hold" grpId="2" nodeType="withEffect">
                                  <p:stCondLst>
                                    <p:cond delay="0"/>
                                  </p:stCondLst>
                                  <p:iterate type="lt">
                                    <p:tmPct val="0"/>
                                  </p:iterate>
                                  <p:childTnLst>
                                    <p:animClr clrSpc="rgb" dir="cw">
                                      <p:cBhvr override="childStyle">
                                        <p:cTn id="52" dur="2000" fill="hold"/>
                                        <p:tgtEl>
                                          <p:spTgt spid="44"/>
                                        </p:tgtEl>
                                        <p:attrNameLst>
                                          <p:attrName>style.color</p:attrName>
                                        </p:attrNameLst>
                                      </p:cBhvr>
                                      <p:to>
                                        <a:schemeClr val="bg1"/>
                                      </p:to>
                                    </p:animClr>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5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8" presetClass="entr" presetSubtype="12" repeatCount="10000" fill="hold" grpId="0" nodeType="clickEffect">
                                  <p:stCondLst>
                                    <p:cond delay="0"/>
                                  </p:stCondLst>
                                  <p:childTnLst>
                                    <p:set>
                                      <p:cBhvr>
                                        <p:cTn id="60" dur="1" fill="hold">
                                          <p:stCondLst>
                                            <p:cond delay="0"/>
                                          </p:stCondLst>
                                        </p:cTn>
                                        <p:tgtEl>
                                          <p:spTgt spid="56"/>
                                        </p:tgtEl>
                                        <p:attrNameLst>
                                          <p:attrName>style.visibility</p:attrName>
                                        </p:attrNameLst>
                                      </p:cBhvr>
                                      <p:to>
                                        <p:strVal val="visible"/>
                                      </p:to>
                                    </p:set>
                                    <p:animEffect transition="in" filter="strips(downLeft)">
                                      <p:cBhvr>
                                        <p:cTn id="61"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animBg="1"/>
      <p:bldP spid="34" grpId="0"/>
      <p:bldP spid="36" grpId="0" animBg="1"/>
      <p:bldP spid="37" grpId="0" animBg="1"/>
      <p:bldP spid="38" grpId="0" animBg="1"/>
      <p:bldP spid="39" grpId="0" animBg="1"/>
      <p:bldP spid="44" grpId="0" animBg="1"/>
      <p:bldP spid="44" grpId="1" animBg="1"/>
      <p:bldP spid="44" grpId="2" animBg="1"/>
      <p:bldP spid="45" grpId="0" animBg="1"/>
      <p:bldP spid="46" grpId="0" animBg="1"/>
      <p:bldP spid="49" grpId="0" animBg="1"/>
      <p:bldP spid="50" grpId="0"/>
      <p:bldP spid="52" grpId="0" animBg="1"/>
      <p:bldP spid="5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22</a:t>
            </a:fld>
            <a:endParaRPr lang="en-US" dirty="0"/>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lang="en-US" dirty="0"/>
              <a:t>THAO TÁC CƠ BẢN</a:t>
            </a:r>
          </a:p>
        </p:txBody>
      </p:sp>
      <p:sp>
        <p:nvSpPr>
          <p:cNvPr id="3" name="TextBox 2">
            <a:extLst>
              <a:ext uri="{FF2B5EF4-FFF2-40B4-BE49-F238E27FC236}">
                <a16:creationId xmlns:a16="http://schemas.microsoft.com/office/drawing/2014/main" id="{FB2A445E-0F6E-815C-D17A-9F0A8135FE1E}"/>
              </a:ext>
            </a:extLst>
          </p:cNvPr>
          <p:cNvSpPr txBox="1"/>
          <p:nvPr/>
        </p:nvSpPr>
        <p:spPr>
          <a:xfrm>
            <a:off x="682906" y="729204"/>
            <a:ext cx="4780634" cy="707886"/>
          </a:xfrm>
          <a:prstGeom prst="rect">
            <a:avLst/>
          </a:prstGeom>
          <a:noFill/>
        </p:spPr>
        <p:txBody>
          <a:bodyPr wrap="square" rtlCol="0">
            <a:spAutoFit/>
          </a:bodyPr>
          <a:lstStyle/>
          <a:p>
            <a:r>
              <a:rPr lang="en-VN" sz="2000" b="1" dirty="0">
                <a:solidFill>
                  <a:schemeClr val="accent1">
                    <a:lumMod val="50000"/>
                  </a:schemeClr>
                </a:solidFill>
                <a:latin typeface="Lato" panose="020F0502020204030203" pitchFamily="34" charset="0"/>
                <a:ea typeface="Lato" panose="020F0502020204030203" pitchFamily="34" charset="0"/>
                <a:cs typeface="Lato" panose="020F0502020204030203" pitchFamily="34" charset="0"/>
              </a:rPr>
              <a:t>2. Insertion (Thêm node vào cây đỏ đen)</a:t>
            </a:r>
          </a:p>
          <a:p>
            <a:endParaRPr lang="en-VN" sz="2000" b="1" dirty="0">
              <a:solidFill>
                <a:schemeClr val="accent1">
                  <a:lumMod val="50000"/>
                </a:schemeClr>
              </a:solidFill>
            </a:endParaRPr>
          </a:p>
        </p:txBody>
      </p:sp>
      <p:sp>
        <p:nvSpPr>
          <p:cNvPr id="7" name="TextBox 6">
            <a:extLst>
              <a:ext uri="{FF2B5EF4-FFF2-40B4-BE49-F238E27FC236}">
                <a16:creationId xmlns:a16="http://schemas.microsoft.com/office/drawing/2014/main" id="{6C4639FF-C762-3F88-3CE8-48A40412B7B3}"/>
              </a:ext>
            </a:extLst>
          </p:cNvPr>
          <p:cNvSpPr txBox="1"/>
          <p:nvPr/>
        </p:nvSpPr>
        <p:spPr>
          <a:xfrm>
            <a:off x="682906" y="1266610"/>
            <a:ext cx="6686092" cy="369332"/>
          </a:xfrm>
          <a:prstGeom prst="rect">
            <a:avLst/>
          </a:prstGeom>
          <a:noFill/>
        </p:spPr>
        <p:txBody>
          <a:bodyPr wrap="square" rtlCol="0">
            <a:spAutoFit/>
          </a:bodyPr>
          <a:lstStyle/>
          <a:p>
            <a:pPr marL="285750" indent="-285750">
              <a:buClr>
                <a:srgbClr val="C00000"/>
              </a:buClr>
              <a:buFont typeface="Wingdings" pitchFamily="2" charset="2"/>
              <a:buChar char="Ø"/>
            </a:pPr>
            <a:r>
              <a:rPr lang="en-VN" dirty="0">
                <a:solidFill>
                  <a:srgbClr val="C00000"/>
                </a:solidFill>
                <a:latin typeface="Lato" panose="020F0502020204030203" pitchFamily="34" charset="0"/>
                <a:ea typeface="Lato" panose="020F0502020204030203" pitchFamily="34" charset="0"/>
                <a:cs typeface="Lato" panose="020F0502020204030203" pitchFamily="34" charset="0"/>
              </a:rPr>
              <a:t>Ví dụ: </a:t>
            </a:r>
            <a:r>
              <a:rPr lang="en-VN" dirty="0">
                <a:latin typeface="Lato" panose="020F0502020204030203" pitchFamily="34" charset="0"/>
                <a:ea typeface="Lato" panose="020F0502020204030203" pitchFamily="34" charset="0"/>
                <a:cs typeface="Lato" panose="020F0502020204030203" pitchFamily="34" charset="0"/>
              </a:rPr>
              <a:t>Tạo cây đỏ đen từ dãy số: 50, 75, 25, 80,…</a:t>
            </a:r>
          </a:p>
        </p:txBody>
      </p:sp>
      <p:sp>
        <p:nvSpPr>
          <p:cNvPr id="8" name="Oval 7">
            <a:extLst>
              <a:ext uri="{FF2B5EF4-FFF2-40B4-BE49-F238E27FC236}">
                <a16:creationId xmlns:a16="http://schemas.microsoft.com/office/drawing/2014/main" id="{6349335B-FC07-C20D-A822-9361F578921C}"/>
              </a:ext>
            </a:extLst>
          </p:cNvPr>
          <p:cNvSpPr/>
          <p:nvPr/>
        </p:nvSpPr>
        <p:spPr>
          <a:xfrm>
            <a:off x="3073558" y="3349212"/>
            <a:ext cx="499902"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25</a:t>
            </a:r>
          </a:p>
        </p:txBody>
      </p:sp>
      <p:cxnSp>
        <p:nvCxnSpPr>
          <p:cNvPr id="14" name="Straight Arrow Connector 13">
            <a:extLst>
              <a:ext uri="{FF2B5EF4-FFF2-40B4-BE49-F238E27FC236}">
                <a16:creationId xmlns:a16="http://schemas.microsoft.com/office/drawing/2014/main" id="{F708856B-2775-C666-EDEC-8CE378A8EFF7}"/>
              </a:ext>
            </a:extLst>
          </p:cNvPr>
          <p:cNvCxnSpPr>
            <a:cxnSpLocks/>
            <a:stCxn id="6" idx="4"/>
            <a:endCxn id="10" idx="0"/>
          </p:cNvCxnSpPr>
          <p:nvPr/>
        </p:nvCxnSpPr>
        <p:spPr>
          <a:xfrm>
            <a:off x="3710682" y="2803088"/>
            <a:ext cx="499902" cy="546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A68E328-6181-4375-5CA8-079089A5CFA1}"/>
              </a:ext>
            </a:extLst>
          </p:cNvPr>
          <p:cNvCxnSpPr>
            <a:cxnSpLocks/>
            <a:stCxn id="6" idx="4"/>
            <a:endCxn id="8" idx="0"/>
          </p:cNvCxnSpPr>
          <p:nvPr/>
        </p:nvCxnSpPr>
        <p:spPr>
          <a:xfrm flipH="1">
            <a:off x="3323509" y="2803088"/>
            <a:ext cx="387173" cy="546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AFA08417-EBF4-A3AB-A4D1-2BF11A0B4CAA}"/>
              </a:ext>
            </a:extLst>
          </p:cNvPr>
          <p:cNvSpPr/>
          <p:nvPr/>
        </p:nvSpPr>
        <p:spPr>
          <a:xfrm>
            <a:off x="3460730" y="2402978"/>
            <a:ext cx="499903"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50</a:t>
            </a:r>
          </a:p>
        </p:txBody>
      </p:sp>
      <p:sp>
        <p:nvSpPr>
          <p:cNvPr id="10" name="Oval 9">
            <a:extLst>
              <a:ext uri="{FF2B5EF4-FFF2-40B4-BE49-F238E27FC236}">
                <a16:creationId xmlns:a16="http://schemas.microsoft.com/office/drawing/2014/main" id="{EA81FEF3-CF1D-109D-951D-7D5D8AAEB9BD}"/>
              </a:ext>
            </a:extLst>
          </p:cNvPr>
          <p:cNvSpPr/>
          <p:nvPr/>
        </p:nvSpPr>
        <p:spPr>
          <a:xfrm>
            <a:off x="3960632" y="3349212"/>
            <a:ext cx="499903"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75</a:t>
            </a:r>
          </a:p>
        </p:txBody>
      </p:sp>
      <p:cxnSp>
        <p:nvCxnSpPr>
          <p:cNvPr id="28" name="Straight Arrow Connector 27">
            <a:extLst>
              <a:ext uri="{FF2B5EF4-FFF2-40B4-BE49-F238E27FC236}">
                <a16:creationId xmlns:a16="http://schemas.microsoft.com/office/drawing/2014/main" id="{43F478C0-341C-92E6-5251-36DBB66AED55}"/>
              </a:ext>
            </a:extLst>
          </p:cNvPr>
          <p:cNvCxnSpPr>
            <a:cxnSpLocks/>
            <a:stCxn id="10" idx="4"/>
          </p:cNvCxnSpPr>
          <p:nvPr/>
        </p:nvCxnSpPr>
        <p:spPr>
          <a:xfrm>
            <a:off x="4210584" y="3749322"/>
            <a:ext cx="194373" cy="4573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B7C9EE18-318F-FBD4-E6F5-70F324A7DCF5}"/>
              </a:ext>
            </a:extLst>
          </p:cNvPr>
          <p:cNvSpPr/>
          <p:nvPr/>
        </p:nvSpPr>
        <p:spPr>
          <a:xfrm>
            <a:off x="4199216" y="4206702"/>
            <a:ext cx="499903"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80</a:t>
            </a:r>
          </a:p>
        </p:txBody>
      </p:sp>
      <p:sp>
        <p:nvSpPr>
          <p:cNvPr id="53" name="Oval 52">
            <a:extLst>
              <a:ext uri="{FF2B5EF4-FFF2-40B4-BE49-F238E27FC236}">
                <a16:creationId xmlns:a16="http://schemas.microsoft.com/office/drawing/2014/main" id="{61BDD064-C3AB-A709-A423-09E126D63472}"/>
              </a:ext>
            </a:extLst>
          </p:cNvPr>
          <p:cNvSpPr/>
          <p:nvPr/>
        </p:nvSpPr>
        <p:spPr>
          <a:xfrm>
            <a:off x="1169488" y="2402978"/>
            <a:ext cx="499903"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050" dirty="0"/>
              <a:t>50</a:t>
            </a:r>
          </a:p>
        </p:txBody>
      </p:sp>
      <p:sp>
        <p:nvSpPr>
          <p:cNvPr id="55" name="TextBox 54">
            <a:extLst>
              <a:ext uri="{FF2B5EF4-FFF2-40B4-BE49-F238E27FC236}">
                <a16:creationId xmlns:a16="http://schemas.microsoft.com/office/drawing/2014/main" id="{9F05D6E8-B9B6-7D63-47C9-39C289BEA897}"/>
              </a:ext>
            </a:extLst>
          </p:cNvPr>
          <p:cNvSpPr txBox="1"/>
          <p:nvPr/>
        </p:nvSpPr>
        <p:spPr>
          <a:xfrm>
            <a:off x="916519" y="1955171"/>
            <a:ext cx="1005840" cy="338554"/>
          </a:xfrm>
          <a:prstGeom prst="rect">
            <a:avLst/>
          </a:prstGeom>
          <a:noFill/>
        </p:spPr>
        <p:txBody>
          <a:bodyPr wrap="square" rtlCol="0">
            <a:spAutoFit/>
          </a:bodyPr>
          <a:lstStyle/>
          <a:p>
            <a:r>
              <a:rPr lang="en-US" sz="1600" dirty="0">
                <a:solidFill>
                  <a:srgbClr val="7030A0"/>
                </a:solidFill>
                <a:latin typeface="Lato" panose="020F0502020204030203" pitchFamily="34" charset="0"/>
                <a:ea typeface="Lato" panose="020F0502020204030203" pitchFamily="34" charset="0"/>
                <a:cs typeface="Lato" panose="020F0502020204030203" pitchFamily="34" charset="0"/>
              </a:rPr>
              <a:t>T</a:t>
            </a:r>
            <a:r>
              <a:rPr lang="en-VN" sz="1600" dirty="0">
                <a:solidFill>
                  <a:srgbClr val="7030A0"/>
                </a:solidFill>
                <a:latin typeface="Lato" panose="020F0502020204030203" pitchFamily="34" charset="0"/>
                <a:ea typeface="Lato" panose="020F0502020204030203" pitchFamily="34" charset="0"/>
                <a:cs typeface="Lato" panose="020F0502020204030203" pitchFamily="34" charset="0"/>
              </a:rPr>
              <a:t>hêm 50</a:t>
            </a:r>
          </a:p>
        </p:txBody>
      </p:sp>
      <p:sp>
        <p:nvSpPr>
          <p:cNvPr id="57" name="TextBox 56">
            <a:extLst>
              <a:ext uri="{FF2B5EF4-FFF2-40B4-BE49-F238E27FC236}">
                <a16:creationId xmlns:a16="http://schemas.microsoft.com/office/drawing/2014/main" id="{ED7AD724-8B38-E48A-73EB-350701E198AF}"/>
              </a:ext>
            </a:extLst>
          </p:cNvPr>
          <p:cNvSpPr txBox="1"/>
          <p:nvPr/>
        </p:nvSpPr>
        <p:spPr>
          <a:xfrm>
            <a:off x="2633671" y="1955171"/>
            <a:ext cx="1005840" cy="338554"/>
          </a:xfrm>
          <a:prstGeom prst="rect">
            <a:avLst/>
          </a:prstGeom>
          <a:noFill/>
        </p:spPr>
        <p:txBody>
          <a:bodyPr wrap="square" rtlCol="0">
            <a:spAutoFit/>
          </a:bodyPr>
          <a:lstStyle/>
          <a:p>
            <a:r>
              <a:rPr lang="en-US" sz="1600" dirty="0">
                <a:solidFill>
                  <a:srgbClr val="7030A0"/>
                </a:solidFill>
                <a:latin typeface="Lato" panose="020F0502020204030203" pitchFamily="34" charset="0"/>
                <a:ea typeface="Lato" panose="020F0502020204030203" pitchFamily="34" charset="0"/>
                <a:cs typeface="Lato" panose="020F0502020204030203" pitchFamily="34" charset="0"/>
              </a:rPr>
              <a:t>T</a:t>
            </a:r>
            <a:r>
              <a:rPr lang="en-VN" sz="1600" dirty="0">
                <a:solidFill>
                  <a:srgbClr val="7030A0"/>
                </a:solidFill>
                <a:latin typeface="Lato" panose="020F0502020204030203" pitchFamily="34" charset="0"/>
                <a:ea typeface="Lato" panose="020F0502020204030203" pitchFamily="34" charset="0"/>
                <a:cs typeface="Lato" panose="020F0502020204030203" pitchFamily="34" charset="0"/>
              </a:rPr>
              <a:t>hêm 75</a:t>
            </a:r>
          </a:p>
        </p:txBody>
      </p:sp>
      <p:sp>
        <p:nvSpPr>
          <p:cNvPr id="58" name="TextBox 57">
            <a:extLst>
              <a:ext uri="{FF2B5EF4-FFF2-40B4-BE49-F238E27FC236}">
                <a16:creationId xmlns:a16="http://schemas.microsoft.com/office/drawing/2014/main" id="{97C1CBD7-6716-7A95-E1E0-09F2D028C457}"/>
              </a:ext>
            </a:extLst>
          </p:cNvPr>
          <p:cNvSpPr txBox="1"/>
          <p:nvPr/>
        </p:nvSpPr>
        <p:spPr>
          <a:xfrm>
            <a:off x="3687737" y="1958676"/>
            <a:ext cx="455691" cy="338554"/>
          </a:xfrm>
          <a:prstGeom prst="rect">
            <a:avLst/>
          </a:prstGeom>
          <a:noFill/>
        </p:spPr>
        <p:txBody>
          <a:bodyPr wrap="square" rtlCol="0">
            <a:spAutoFit/>
          </a:bodyPr>
          <a:lstStyle/>
          <a:p>
            <a:r>
              <a:rPr lang="en-US" sz="1600" dirty="0">
                <a:solidFill>
                  <a:srgbClr val="7030A0"/>
                </a:solidFill>
                <a:latin typeface="Lato" panose="020F0502020204030203" pitchFamily="34" charset="0"/>
                <a:ea typeface="Lato" panose="020F0502020204030203" pitchFamily="34" charset="0"/>
                <a:cs typeface="Lato" panose="020F0502020204030203" pitchFamily="34" charset="0"/>
              </a:rPr>
              <a:t>25</a:t>
            </a:r>
            <a:endParaRPr lang="en-VN" sz="1600" dirty="0">
              <a:solidFill>
                <a:srgbClr val="7030A0"/>
              </a:solidFill>
              <a:latin typeface="Lato" panose="020F0502020204030203" pitchFamily="34" charset="0"/>
              <a:ea typeface="Lato" panose="020F0502020204030203" pitchFamily="34" charset="0"/>
              <a:cs typeface="Lato" panose="020F0502020204030203" pitchFamily="34" charset="0"/>
            </a:endParaRPr>
          </a:p>
        </p:txBody>
      </p:sp>
      <p:sp>
        <p:nvSpPr>
          <p:cNvPr id="59" name="TextBox 58">
            <a:extLst>
              <a:ext uri="{FF2B5EF4-FFF2-40B4-BE49-F238E27FC236}">
                <a16:creationId xmlns:a16="http://schemas.microsoft.com/office/drawing/2014/main" id="{F41BBDEE-2E92-2A4D-8C8D-7C4D33F3B6E6}"/>
              </a:ext>
            </a:extLst>
          </p:cNvPr>
          <p:cNvSpPr txBox="1"/>
          <p:nvPr/>
        </p:nvSpPr>
        <p:spPr>
          <a:xfrm>
            <a:off x="4192194" y="1953968"/>
            <a:ext cx="455691" cy="338554"/>
          </a:xfrm>
          <a:prstGeom prst="rect">
            <a:avLst/>
          </a:prstGeom>
          <a:noFill/>
        </p:spPr>
        <p:txBody>
          <a:bodyPr wrap="square" rtlCol="0">
            <a:spAutoFit/>
          </a:bodyPr>
          <a:lstStyle/>
          <a:p>
            <a:r>
              <a:rPr lang="en-US" sz="1600" dirty="0">
                <a:solidFill>
                  <a:srgbClr val="7030A0"/>
                </a:solidFill>
                <a:latin typeface="Lato" panose="020F0502020204030203" pitchFamily="34" charset="0"/>
                <a:ea typeface="Lato" panose="020F0502020204030203" pitchFamily="34" charset="0"/>
                <a:cs typeface="Lato" panose="020F0502020204030203" pitchFamily="34" charset="0"/>
              </a:rPr>
              <a:t>80</a:t>
            </a:r>
            <a:endParaRPr lang="en-VN" sz="1600" dirty="0">
              <a:solidFill>
                <a:srgbClr val="7030A0"/>
              </a:solidFill>
              <a:latin typeface="Lato" panose="020F0502020204030203" pitchFamily="34" charset="0"/>
              <a:ea typeface="Lato" panose="020F0502020204030203" pitchFamily="34" charset="0"/>
              <a:cs typeface="Lato" panose="020F0502020204030203" pitchFamily="34" charset="0"/>
            </a:endParaRPr>
          </a:p>
        </p:txBody>
      </p:sp>
      <p:sp>
        <p:nvSpPr>
          <p:cNvPr id="64" name="Oval 63">
            <a:extLst>
              <a:ext uri="{FF2B5EF4-FFF2-40B4-BE49-F238E27FC236}">
                <a16:creationId xmlns:a16="http://schemas.microsoft.com/office/drawing/2014/main" id="{3DB7DA7B-11A2-C3AD-DB23-494E0B2EBBF9}"/>
              </a:ext>
            </a:extLst>
          </p:cNvPr>
          <p:cNvSpPr/>
          <p:nvPr/>
        </p:nvSpPr>
        <p:spPr>
          <a:xfrm>
            <a:off x="5993388" y="3349212"/>
            <a:ext cx="499902"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25</a:t>
            </a:r>
          </a:p>
        </p:txBody>
      </p:sp>
      <p:cxnSp>
        <p:nvCxnSpPr>
          <p:cNvPr id="65" name="Straight Arrow Connector 64">
            <a:extLst>
              <a:ext uri="{FF2B5EF4-FFF2-40B4-BE49-F238E27FC236}">
                <a16:creationId xmlns:a16="http://schemas.microsoft.com/office/drawing/2014/main" id="{BD35087C-A924-1935-A18B-02F50951B0A4}"/>
              </a:ext>
            </a:extLst>
          </p:cNvPr>
          <p:cNvCxnSpPr>
            <a:cxnSpLocks/>
            <a:stCxn id="67" idx="4"/>
            <a:endCxn id="68" idx="0"/>
          </p:cNvCxnSpPr>
          <p:nvPr/>
        </p:nvCxnSpPr>
        <p:spPr>
          <a:xfrm>
            <a:off x="6630512" y="2803088"/>
            <a:ext cx="499902" cy="546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A6C92503-D0D5-BE5E-D556-517AB3E608B0}"/>
              </a:ext>
            </a:extLst>
          </p:cNvPr>
          <p:cNvCxnSpPr>
            <a:cxnSpLocks/>
            <a:stCxn id="67" idx="4"/>
            <a:endCxn id="64" idx="0"/>
          </p:cNvCxnSpPr>
          <p:nvPr/>
        </p:nvCxnSpPr>
        <p:spPr>
          <a:xfrm flipH="1">
            <a:off x="6243339" y="2803088"/>
            <a:ext cx="387173" cy="546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763934BE-EB43-87ED-36AF-00900B22CF13}"/>
              </a:ext>
            </a:extLst>
          </p:cNvPr>
          <p:cNvSpPr/>
          <p:nvPr/>
        </p:nvSpPr>
        <p:spPr>
          <a:xfrm>
            <a:off x="6380560" y="2402978"/>
            <a:ext cx="499903"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50</a:t>
            </a:r>
          </a:p>
        </p:txBody>
      </p:sp>
      <p:sp>
        <p:nvSpPr>
          <p:cNvPr id="68" name="Oval 67">
            <a:extLst>
              <a:ext uri="{FF2B5EF4-FFF2-40B4-BE49-F238E27FC236}">
                <a16:creationId xmlns:a16="http://schemas.microsoft.com/office/drawing/2014/main" id="{81F43955-326C-05AC-DF32-C814AE70A4F0}"/>
              </a:ext>
            </a:extLst>
          </p:cNvPr>
          <p:cNvSpPr/>
          <p:nvPr/>
        </p:nvSpPr>
        <p:spPr>
          <a:xfrm>
            <a:off x="6880462" y="3349212"/>
            <a:ext cx="499903"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75</a:t>
            </a:r>
          </a:p>
        </p:txBody>
      </p:sp>
      <p:cxnSp>
        <p:nvCxnSpPr>
          <p:cNvPr id="69" name="Straight Arrow Connector 68">
            <a:extLst>
              <a:ext uri="{FF2B5EF4-FFF2-40B4-BE49-F238E27FC236}">
                <a16:creationId xmlns:a16="http://schemas.microsoft.com/office/drawing/2014/main" id="{EFB3E3A4-99BB-1218-9D6E-940A454FE76A}"/>
              </a:ext>
            </a:extLst>
          </p:cNvPr>
          <p:cNvCxnSpPr>
            <a:cxnSpLocks/>
            <a:stCxn id="68" idx="4"/>
          </p:cNvCxnSpPr>
          <p:nvPr/>
        </p:nvCxnSpPr>
        <p:spPr>
          <a:xfrm>
            <a:off x="7130414" y="3749322"/>
            <a:ext cx="194373" cy="4573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Oval 69">
            <a:extLst>
              <a:ext uri="{FF2B5EF4-FFF2-40B4-BE49-F238E27FC236}">
                <a16:creationId xmlns:a16="http://schemas.microsoft.com/office/drawing/2014/main" id="{84EE3BC2-1F8E-8E70-DB78-F90FB5649FEC}"/>
              </a:ext>
            </a:extLst>
          </p:cNvPr>
          <p:cNvSpPr/>
          <p:nvPr/>
        </p:nvSpPr>
        <p:spPr>
          <a:xfrm>
            <a:off x="7119046" y="4206702"/>
            <a:ext cx="499903"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80</a:t>
            </a:r>
          </a:p>
        </p:txBody>
      </p:sp>
      <p:sp>
        <p:nvSpPr>
          <p:cNvPr id="72" name="TextBox 71">
            <a:extLst>
              <a:ext uri="{FF2B5EF4-FFF2-40B4-BE49-F238E27FC236}">
                <a16:creationId xmlns:a16="http://schemas.microsoft.com/office/drawing/2014/main" id="{3F5B3AA3-F3C6-8F36-7BCE-7B01185911FE}"/>
              </a:ext>
            </a:extLst>
          </p:cNvPr>
          <p:cNvSpPr txBox="1"/>
          <p:nvPr/>
        </p:nvSpPr>
        <p:spPr>
          <a:xfrm>
            <a:off x="2232249" y="5088975"/>
            <a:ext cx="2682422" cy="830997"/>
          </a:xfrm>
          <a:prstGeom prst="rect">
            <a:avLst/>
          </a:prstGeom>
          <a:noFill/>
        </p:spPr>
        <p:txBody>
          <a:bodyPr wrap="square" rtlCol="0">
            <a:spAutoFit/>
          </a:bodyPr>
          <a:lstStyle/>
          <a:p>
            <a:r>
              <a:rPr lang="en-VN" sz="1600" dirty="0">
                <a:solidFill>
                  <a:srgbClr val="FF0000"/>
                </a:solidFill>
                <a:latin typeface="Lato" panose="020F0502020204030203" pitchFamily="34" charset="0"/>
                <a:ea typeface="Lato" panose="020F0502020204030203" pitchFamily="34" charset="0"/>
                <a:cs typeface="Lato" panose="020F0502020204030203" pitchFamily="34" charset="0"/>
              </a:rPr>
              <a:t>TH3: </a:t>
            </a:r>
            <a:r>
              <a:rPr lang="en-VN" sz="1600" dirty="0">
                <a:latin typeface="Lato" panose="020F0502020204030203" pitchFamily="34" charset="0"/>
                <a:ea typeface="Lato" panose="020F0502020204030203" pitchFamily="34" charset="0"/>
                <a:cs typeface="Lato" panose="020F0502020204030203" pitchFamily="34" charset="0"/>
              </a:rPr>
              <a:t>P và U đều là node đỏ</a:t>
            </a:r>
          </a:p>
          <a:p>
            <a:pPr marL="285750" indent="-285750">
              <a:buFont typeface="Wingdings" pitchFamily="2" charset="2"/>
              <a:buChar char="Ø"/>
            </a:pPr>
            <a:r>
              <a:rPr lang="en-VN" sz="1600" dirty="0">
                <a:latin typeface="Lato" panose="020F0502020204030203" pitchFamily="34" charset="0"/>
                <a:ea typeface="Lato" panose="020F0502020204030203" pitchFamily="34" charset="0"/>
                <a:cs typeface="Lato" panose="020F0502020204030203" pitchFamily="34" charset="0"/>
              </a:rPr>
              <a:t>Đổi 75 và 25 thành đen</a:t>
            </a:r>
          </a:p>
          <a:p>
            <a:pPr marL="285750" indent="-285750">
              <a:buFont typeface="Wingdings" pitchFamily="2" charset="2"/>
              <a:buChar char="Ø"/>
            </a:pPr>
            <a:r>
              <a:rPr lang="en-VN" sz="1600" dirty="0">
                <a:latin typeface="Lato" panose="020F0502020204030203" pitchFamily="34" charset="0"/>
                <a:ea typeface="Lato" panose="020F0502020204030203" pitchFamily="34" charset="0"/>
                <a:cs typeface="Lato" panose="020F0502020204030203" pitchFamily="34" charset="0"/>
              </a:rPr>
              <a:t>Đổi 50 thành đỏ </a:t>
            </a:r>
          </a:p>
        </p:txBody>
      </p:sp>
      <p:sp>
        <p:nvSpPr>
          <p:cNvPr id="73" name="Right Arrow 72">
            <a:extLst>
              <a:ext uri="{FF2B5EF4-FFF2-40B4-BE49-F238E27FC236}">
                <a16:creationId xmlns:a16="http://schemas.microsoft.com/office/drawing/2014/main" id="{D8AB4AD6-FF7A-32F5-1768-6BA64643F07A}"/>
              </a:ext>
            </a:extLst>
          </p:cNvPr>
          <p:cNvSpPr/>
          <p:nvPr/>
        </p:nvSpPr>
        <p:spPr>
          <a:xfrm>
            <a:off x="4767699" y="3229197"/>
            <a:ext cx="987105" cy="240030"/>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VN"/>
          </a:p>
        </p:txBody>
      </p:sp>
      <p:sp>
        <p:nvSpPr>
          <p:cNvPr id="74" name="TextBox 73">
            <a:extLst>
              <a:ext uri="{FF2B5EF4-FFF2-40B4-BE49-F238E27FC236}">
                <a16:creationId xmlns:a16="http://schemas.microsoft.com/office/drawing/2014/main" id="{A1E60107-8830-F2E7-825B-26FB29FE5271}"/>
              </a:ext>
            </a:extLst>
          </p:cNvPr>
          <p:cNvSpPr txBox="1"/>
          <p:nvPr/>
        </p:nvSpPr>
        <p:spPr>
          <a:xfrm>
            <a:off x="5526172" y="5182497"/>
            <a:ext cx="2682422" cy="584775"/>
          </a:xfrm>
          <a:prstGeom prst="rect">
            <a:avLst/>
          </a:prstGeom>
          <a:noFill/>
        </p:spPr>
        <p:txBody>
          <a:bodyPr wrap="square" rtlCol="0">
            <a:spAutoFit/>
          </a:bodyPr>
          <a:lstStyle/>
          <a:p>
            <a:r>
              <a:rPr lang="en-VN" sz="1600" dirty="0">
                <a:solidFill>
                  <a:srgbClr val="FF0000"/>
                </a:solidFill>
                <a:latin typeface="Lato" panose="020F0502020204030203" pitchFamily="34" charset="0"/>
                <a:ea typeface="Lato" panose="020F0502020204030203" pitchFamily="34" charset="0"/>
                <a:cs typeface="Lato" panose="020F0502020204030203" pitchFamily="34" charset="0"/>
              </a:rPr>
              <a:t>TH1: </a:t>
            </a:r>
            <a:r>
              <a:rPr lang="en-VN" sz="1600" dirty="0">
                <a:latin typeface="Lato" panose="020F0502020204030203" pitchFamily="34" charset="0"/>
                <a:ea typeface="Lato" panose="020F0502020204030203" pitchFamily="34" charset="0"/>
                <a:cs typeface="Lato" panose="020F0502020204030203" pitchFamily="34" charset="0"/>
              </a:rPr>
              <a:t>Node gốc màu đen</a:t>
            </a:r>
          </a:p>
          <a:p>
            <a:pPr marL="285750" indent="-285750">
              <a:buFont typeface="Wingdings" pitchFamily="2" charset="2"/>
              <a:buChar char="Ø"/>
            </a:pPr>
            <a:r>
              <a:rPr lang="en-VN" sz="1600" dirty="0">
                <a:latin typeface="Lato" panose="020F0502020204030203" pitchFamily="34" charset="0"/>
                <a:ea typeface="Lato" panose="020F0502020204030203" pitchFamily="34" charset="0"/>
                <a:cs typeface="Lato" panose="020F0502020204030203" pitchFamily="34" charset="0"/>
              </a:rPr>
              <a:t>Đổi 50 thành đen</a:t>
            </a:r>
          </a:p>
        </p:txBody>
      </p:sp>
    </p:spTree>
    <p:extLst>
      <p:ext uri="{BB962C8B-B14F-4D97-AF65-F5344CB8AC3E}">
        <p14:creationId xmlns:p14="http://schemas.microsoft.com/office/powerpoint/2010/main" val="4216543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7"/>
                                        </p:tgtEl>
                                        <p:attrNameLst>
                                          <p:attrName>style.visibility</p:attrName>
                                        </p:attrNameLst>
                                      </p:cBhvr>
                                      <p:to>
                                        <p:strVal val="visible"/>
                                      </p:to>
                                    </p:set>
                                  </p:childTnLst>
                                </p:cTn>
                              </p:par>
                              <p:par>
                                <p:cTn id="13" presetID="14" presetClass="entr" presetSubtype="1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randombar(horizontal)">
                                      <p:cBhvr>
                                        <p:cTn id="15" dur="500"/>
                                        <p:tgtEl>
                                          <p:spTgt spid="6"/>
                                        </p:tgtEl>
                                      </p:cBhvr>
                                    </p:animEffect>
                                  </p:childTnLst>
                                </p:cTn>
                              </p:par>
                              <p:par>
                                <p:cTn id="16" presetID="14" presetClass="entr" presetSubtype="1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randombar(horizontal)">
                                      <p:cBhvr>
                                        <p:cTn id="18" dur="500"/>
                                        <p:tgtEl>
                                          <p:spTgt spid="14"/>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randombar(horizontal)">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58"/>
                                        </p:tgtEl>
                                        <p:attrNameLst>
                                          <p:attrName>style.visibility</p:attrName>
                                        </p:attrNameLst>
                                      </p:cBhvr>
                                      <p:to>
                                        <p:strVal val="visible"/>
                                      </p:to>
                                    </p:set>
                                  </p:childTnLst>
                                </p:cTn>
                              </p:par>
                              <p:par>
                                <p:cTn id="26" presetID="5" presetClass="entr" presetSubtype="1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checkerboard(across)">
                                      <p:cBhvr>
                                        <p:cTn id="28" dur="500"/>
                                        <p:tgtEl>
                                          <p:spTgt spid="8"/>
                                        </p:tgtEl>
                                      </p:cBhvr>
                                    </p:animEffect>
                                  </p:childTnLst>
                                </p:cTn>
                              </p:par>
                              <p:par>
                                <p:cTn id="29" presetID="5" presetClass="entr" presetSubtype="1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checkerboard(across)">
                                      <p:cBhvr>
                                        <p:cTn id="31" dur="50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59"/>
                                        </p:tgtEl>
                                        <p:attrNameLst>
                                          <p:attrName>style.visibility</p:attrName>
                                        </p:attrNameLst>
                                      </p:cBhvr>
                                      <p:to>
                                        <p:strVal val="visible"/>
                                      </p:to>
                                    </p:set>
                                  </p:childTnLst>
                                </p:cTn>
                              </p:par>
                              <p:par>
                                <p:cTn id="36" presetID="5" presetClass="entr" presetSubtype="1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checkerboard(across)">
                                      <p:cBhvr>
                                        <p:cTn id="38" dur="500"/>
                                        <p:tgtEl>
                                          <p:spTgt spid="18"/>
                                        </p:tgtEl>
                                      </p:cBhvr>
                                    </p:animEffect>
                                  </p:childTnLst>
                                </p:cTn>
                              </p:par>
                              <p:par>
                                <p:cTn id="39" presetID="5" presetClass="entr" presetSubtype="10"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checkerboard(across)">
                                      <p:cBhvr>
                                        <p:cTn id="41" dur="500"/>
                                        <p:tgtEl>
                                          <p:spTgt spid="28"/>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72"/>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64"/>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65"/>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66"/>
                                        </p:tgtEl>
                                        <p:attrNameLst>
                                          <p:attrName>style.visibility</p:attrName>
                                        </p:attrNameLst>
                                      </p:cBhvr>
                                      <p:to>
                                        <p:strVal val="visible"/>
                                      </p:to>
                                    </p:set>
                                  </p:childTnLst>
                                </p:cTn>
                              </p:par>
                              <p:par>
                                <p:cTn id="54" presetID="1" presetClass="entr" presetSubtype="0" fill="hold" grpId="0" nodeType="withEffect">
                                  <p:stCondLst>
                                    <p:cond delay="0"/>
                                  </p:stCondLst>
                                  <p:iterate type="lt">
                                    <p:tmAbs val="0"/>
                                  </p:iterate>
                                  <p:childTnLst>
                                    <p:set>
                                      <p:cBhvr>
                                        <p:cTn id="55" dur="1" fill="hold">
                                          <p:stCondLst>
                                            <p:cond delay="0"/>
                                          </p:stCondLst>
                                        </p:cTn>
                                        <p:tgtEl>
                                          <p:spTgt spid="67"/>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68"/>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69"/>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70"/>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73"/>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74"/>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6" presetClass="emph" presetSubtype="0" fill="hold" grpId="1" nodeType="clickEffect">
                                  <p:stCondLst>
                                    <p:cond delay="0"/>
                                  </p:stCondLst>
                                  <p:iterate type="lt">
                                    <p:tmPct val="4000"/>
                                  </p:iterate>
                                  <p:childTnLst>
                                    <p:set>
                                      <p:cBhvr override="childStyle">
                                        <p:cTn id="71" dur="500" fill="hold"/>
                                        <p:tgtEl>
                                          <p:spTgt spid="67"/>
                                        </p:tgtEl>
                                        <p:attrNameLst>
                                          <p:attrName>style.color</p:attrName>
                                        </p:attrNameLst>
                                      </p:cBhvr>
                                      <p:to>
                                        <p:clrVal>
                                          <a:schemeClr val="tx1"/>
                                        </p:clrVal>
                                      </p:to>
                                    </p:set>
                                    <p:set>
                                      <p:cBhvr>
                                        <p:cTn id="72" dur="500" fill="hold"/>
                                        <p:tgtEl>
                                          <p:spTgt spid="67"/>
                                        </p:tgtEl>
                                        <p:attrNameLst>
                                          <p:attrName>fillcolor</p:attrName>
                                        </p:attrNameLst>
                                      </p:cBhvr>
                                      <p:to>
                                        <p:clrVal>
                                          <a:schemeClr val="tx1"/>
                                        </p:clrVal>
                                      </p:to>
                                    </p:set>
                                    <p:set>
                                      <p:cBhvr>
                                        <p:cTn id="73" dur="500" fill="hold"/>
                                        <p:tgtEl>
                                          <p:spTgt spid="67"/>
                                        </p:tgtEl>
                                        <p:attrNameLst>
                                          <p:attrName>fill.type</p:attrName>
                                        </p:attrNameLst>
                                      </p:cBhvr>
                                      <p:to>
                                        <p:strVal val="solid"/>
                                      </p:to>
                                    </p:set>
                                  </p:childTnLst>
                                </p:cTn>
                              </p:par>
                              <p:par>
                                <p:cTn id="74" presetID="16" presetClass="emph" presetSubtype="0" fill="hold" nodeType="withEffect">
                                  <p:stCondLst>
                                    <p:cond delay="0"/>
                                  </p:stCondLst>
                                  <p:iterate type="lt">
                                    <p:tmPct val="4000"/>
                                  </p:iterate>
                                  <p:childTnLst>
                                    <p:set>
                                      <p:cBhvr override="childStyle">
                                        <p:cTn id="75" dur="500" fill="hold"/>
                                        <p:tgtEl>
                                          <p:spTgt spid="67">
                                            <p:txEl>
                                              <p:pRg st="0" end="0"/>
                                            </p:txEl>
                                          </p:spTgt>
                                        </p:tgtEl>
                                        <p:attrNameLst>
                                          <p:attrName>style.color</p:attrName>
                                        </p:attrNameLst>
                                      </p:cBhvr>
                                      <p:to>
                                        <p:clrVal>
                                          <a:schemeClr val="bg1"/>
                                        </p:clrVal>
                                      </p:to>
                                    </p:set>
                                    <p:set>
                                      <p:cBhvr>
                                        <p:cTn id="76" dur="500" fill="hold"/>
                                        <p:tgtEl>
                                          <p:spTgt spid="67">
                                            <p:txEl>
                                              <p:pRg st="0" end="0"/>
                                            </p:txEl>
                                          </p:spTgt>
                                        </p:tgtEl>
                                        <p:attrNameLst>
                                          <p:attrName>fillcolor</p:attrName>
                                        </p:attrNameLst>
                                      </p:cBhvr>
                                      <p:to>
                                        <p:clrVal>
                                          <a:schemeClr val="bg1"/>
                                        </p:clrVal>
                                      </p:to>
                                    </p:set>
                                    <p:set>
                                      <p:cBhvr>
                                        <p:cTn id="77" dur="500" fill="hold"/>
                                        <p:tgtEl>
                                          <p:spTgt spid="67">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6" grpId="0" animBg="1"/>
      <p:bldP spid="10" grpId="0" animBg="1"/>
      <p:bldP spid="18" grpId="0" animBg="1"/>
      <p:bldP spid="53" grpId="0" animBg="1"/>
      <p:bldP spid="55" grpId="0"/>
      <p:bldP spid="57" grpId="0"/>
      <p:bldP spid="58" grpId="0"/>
      <p:bldP spid="59" grpId="0"/>
      <p:bldP spid="64" grpId="0" animBg="1"/>
      <p:bldP spid="67" grpId="0" animBg="1"/>
      <p:bldP spid="67" grpId="1" animBg="1"/>
      <p:bldP spid="68" grpId="0" animBg="1"/>
      <p:bldP spid="70" grpId="0" animBg="1"/>
      <p:bldP spid="72" grpId="0"/>
      <p:bldP spid="73" grpId="0" animBg="1"/>
      <p:bldP spid="7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23</a:t>
            </a:fld>
            <a:endParaRPr lang="en-US" dirty="0"/>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lang="en-US" dirty="0"/>
              <a:t>THAO TÁC CƠ BẢN</a:t>
            </a:r>
          </a:p>
        </p:txBody>
      </p:sp>
      <p:sp>
        <p:nvSpPr>
          <p:cNvPr id="3" name="TextBox 2">
            <a:extLst>
              <a:ext uri="{FF2B5EF4-FFF2-40B4-BE49-F238E27FC236}">
                <a16:creationId xmlns:a16="http://schemas.microsoft.com/office/drawing/2014/main" id="{FB2A445E-0F6E-815C-D17A-9F0A8135FE1E}"/>
              </a:ext>
            </a:extLst>
          </p:cNvPr>
          <p:cNvSpPr txBox="1"/>
          <p:nvPr/>
        </p:nvSpPr>
        <p:spPr>
          <a:xfrm>
            <a:off x="682906" y="729204"/>
            <a:ext cx="4780634" cy="707886"/>
          </a:xfrm>
          <a:prstGeom prst="rect">
            <a:avLst/>
          </a:prstGeom>
          <a:noFill/>
        </p:spPr>
        <p:txBody>
          <a:bodyPr wrap="square" rtlCol="0">
            <a:spAutoFit/>
          </a:bodyPr>
          <a:lstStyle/>
          <a:p>
            <a:r>
              <a:rPr lang="en-VN" sz="2000" b="1" dirty="0">
                <a:solidFill>
                  <a:schemeClr val="accent1">
                    <a:lumMod val="50000"/>
                  </a:schemeClr>
                </a:solidFill>
                <a:latin typeface="Lato" panose="020F0502020204030203" pitchFamily="34" charset="0"/>
                <a:ea typeface="Lato" panose="020F0502020204030203" pitchFamily="34" charset="0"/>
                <a:cs typeface="Lato" panose="020F0502020204030203" pitchFamily="34" charset="0"/>
              </a:rPr>
              <a:t>2. Insertion (Thêm node vào cây đỏ đen)</a:t>
            </a:r>
          </a:p>
          <a:p>
            <a:endParaRPr lang="en-VN" sz="2000" b="1" dirty="0">
              <a:solidFill>
                <a:schemeClr val="accent1">
                  <a:lumMod val="50000"/>
                </a:schemeClr>
              </a:solidFill>
            </a:endParaRPr>
          </a:p>
        </p:txBody>
      </p:sp>
      <p:sp>
        <p:nvSpPr>
          <p:cNvPr id="7" name="TextBox 6">
            <a:extLst>
              <a:ext uri="{FF2B5EF4-FFF2-40B4-BE49-F238E27FC236}">
                <a16:creationId xmlns:a16="http://schemas.microsoft.com/office/drawing/2014/main" id="{6C4639FF-C762-3F88-3CE8-48A40412B7B3}"/>
              </a:ext>
            </a:extLst>
          </p:cNvPr>
          <p:cNvSpPr txBox="1"/>
          <p:nvPr/>
        </p:nvSpPr>
        <p:spPr>
          <a:xfrm>
            <a:off x="682906" y="1266610"/>
            <a:ext cx="5820764" cy="400110"/>
          </a:xfrm>
          <a:prstGeom prst="rect">
            <a:avLst/>
          </a:prstGeom>
          <a:noFill/>
        </p:spPr>
        <p:txBody>
          <a:bodyPr wrap="square" rtlCol="0">
            <a:spAutoFit/>
          </a:bodyPr>
          <a:lstStyle/>
          <a:p>
            <a:pPr marL="285750" indent="-285750">
              <a:buClr>
                <a:srgbClr val="C00000"/>
              </a:buClr>
              <a:buFont typeface="Wingdings" pitchFamily="2" charset="2"/>
              <a:buChar char="Ø"/>
            </a:pPr>
            <a:r>
              <a:rPr lang="en-VN" sz="2000" dirty="0">
                <a:solidFill>
                  <a:srgbClr val="C00000"/>
                </a:solidFill>
                <a:latin typeface="Lato" panose="020F0502020204030203" pitchFamily="34" charset="0"/>
                <a:ea typeface="Lato" panose="020F0502020204030203" pitchFamily="34" charset="0"/>
                <a:cs typeface="Lato" panose="020F0502020204030203" pitchFamily="34" charset="0"/>
              </a:rPr>
              <a:t>TH4: </a:t>
            </a:r>
            <a:r>
              <a:rPr lang="en-VN" sz="2000" dirty="0">
                <a:latin typeface="Lato" panose="020F0502020204030203" pitchFamily="34" charset="0"/>
                <a:ea typeface="Lato" panose="020F0502020204030203" pitchFamily="34" charset="0"/>
                <a:cs typeface="Lato" panose="020F0502020204030203" pitchFamily="34" charset="0"/>
              </a:rPr>
              <a:t>P là node đỏ và U là node đen</a:t>
            </a:r>
          </a:p>
        </p:txBody>
      </p:sp>
      <p:sp>
        <p:nvSpPr>
          <p:cNvPr id="12" name="TextBox 11">
            <a:extLst>
              <a:ext uri="{FF2B5EF4-FFF2-40B4-BE49-F238E27FC236}">
                <a16:creationId xmlns:a16="http://schemas.microsoft.com/office/drawing/2014/main" id="{5E47146E-CF86-4C75-DFEA-31B9DD189BB6}"/>
              </a:ext>
            </a:extLst>
          </p:cNvPr>
          <p:cNvSpPr txBox="1"/>
          <p:nvPr/>
        </p:nvSpPr>
        <p:spPr>
          <a:xfrm>
            <a:off x="682906" y="1974496"/>
            <a:ext cx="7800213" cy="2235356"/>
          </a:xfrm>
          <a:prstGeom prst="rect">
            <a:avLst/>
          </a:prstGeom>
          <a:noFill/>
        </p:spPr>
        <p:txBody>
          <a:bodyPr wrap="square" rtlCol="0">
            <a:spAutoFit/>
          </a:bodyPr>
          <a:lstStyle/>
          <a:p>
            <a:pPr marL="342900" indent="-342900">
              <a:lnSpc>
                <a:spcPct val="150000"/>
              </a:lnSpc>
              <a:buFont typeface="+mj-lt"/>
              <a:buAutoNum type="arabicPeriod"/>
            </a:pPr>
            <a:r>
              <a:rPr lang="en-VN" sz="24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P là </a:t>
            </a:r>
            <a:r>
              <a:rPr lang="en-VN" sz="2400" dirty="0">
                <a:solidFill>
                  <a:srgbClr val="00B050"/>
                </a:solidFill>
                <a:latin typeface="Lato" panose="020F0502020204030203" pitchFamily="34" charset="0"/>
                <a:ea typeface="Lato" panose="020F0502020204030203" pitchFamily="34" charset="0"/>
                <a:cs typeface="Lato" panose="020F0502020204030203" pitchFamily="34" charset="0"/>
              </a:rPr>
              <a:t>con trái </a:t>
            </a:r>
            <a:r>
              <a:rPr lang="en-VN" sz="24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của G, N là </a:t>
            </a:r>
            <a:r>
              <a:rPr lang="en-VN" sz="2400" dirty="0">
                <a:solidFill>
                  <a:srgbClr val="00B050"/>
                </a:solidFill>
                <a:latin typeface="Lato" panose="020F0502020204030203" pitchFamily="34" charset="0"/>
                <a:ea typeface="Lato" panose="020F0502020204030203" pitchFamily="34" charset="0"/>
                <a:cs typeface="Lato" panose="020F0502020204030203" pitchFamily="34" charset="0"/>
              </a:rPr>
              <a:t>con trái </a:t>
            </a:r>
            <a:r>
              <a:rPr lang="en-VN" sz="24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của P (</a:t>
            </a:r>
            <a:r>
              <a:rPr lang="en-VN" sz="2400" dirty="0">
                <a:solidFill>
                  <a:srgbClr val="00B050"/>
                </a:solidFill>
                <a:latin typeface="Lato" panose="020F0502020204030203" pitchFamily="34" charset="0"/>
                <a:ea typeface="Lato" panose="020F0502020204030203" pitchFamily="34" charset="0"/>
                <a:cs typeface="Lato" panose="020F0502020204030203" pitchFamily="34" charset="0"/>
              </a:rPr>
              <a:t>Left</a:t>
            </a:r>
            <a:r>
              <a:rPr lang="en-VN" sz="24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 – </a:t>
            </a:r>
            <a:r>
              <a:rPr lang="en-VN" sz="2400" dirty="0">
                <a:solidFill>
                  <a:srgbClr val="00B050"/>
                </a:solidFill>
                <a:latin typeface="Lato" panose="020F0502020204030203" pitchFamily="34" charset="0"/>
                <a:ea typeface="Lato" panose="020F0502020204030203" pitchFamily="34" charset="0"/>
                <a:cs typeface="Lato" panose="020F0502020204030203" pitchFamily="34" charset="0"/>
              </a:rPr>
              <a:t>Left</a:t>
            </a:r>
            <a:r>
              <a:rPr lang="en-VN" sz="24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a:t>
            </a:r>
          </a:p>
          <a:p>
            <a:pPr marL="342900" indent="-342900">
              <a:lnSpc>
                <a:spcPct val="150000"/>
              </a:lnSpc>
              <a:buFont typeface="+mj-lt"/>
              <a:buAutoNum type="arabicPeriod"/>
            </a:pPr>
            <a:r>
              <a:rPr lang="en-VN" sz="24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P là </a:t>
            </a:r>
            <a:r>
              <a:rPr lang="en-VN" sz="2400" dirty="0">
                <a:solidFill>
                  <a:srgbClr val="00B050"/>
                </a:solidFill>
                <a:latin typeface="Lato" panose="020F0502020204030203" pitchFamily="34" charset="0"/>
                <a:ea typeface="Lato" panose="020F0502020204030203" pitchFamily="34" charset="0"/>
                <a:cs typeface="Lato" panose="020F0502020204030203" pitchFamily="34" charset="0"/>
              </a:rPr>
              <a:t>con trái </a:t>
            </a:r>
            <a:r>
              <a:rPr lang="en-VN" sz="24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của G, N là </a:t>
            </a:r>
            <a:r>
              <a:rPr lang="en-VN" sz="2400" dirty="0">
                <a:solidFill>
                  <a:srgbClr val="BC05B7"/>
                </a:solidFill>
                <a:latin typeface="Lato" panose="020F0502020204030203" pitchFamily="34" charset="0"/>
                <a:ea typeface="Lato" panose="020F0502020204030203" pitchFamily="34" charset="0"/>
                <a:cs typeface="Lato" panose="020F0502020204030203" pitchFamily="34" charset="0"/>
              </a:rPr>
              <a:t>con phải </a:t>
            </a:r>
            <a:r>
              <a:rPr lang="en-VN" sz="24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của P (</a:t>
            </a:r>
            <a:r>
              <a:rPr lang="en-VN" sz="2400" dirty="0">
                <a:solidFill>
                  <a:srgbClr val="00B050"/>
                </a:solidFill>
                <a:latin typeface="Lato" panose="020F0502020204030203" pitchFamily="34" charset="0"/>
                <a:ea typeface="Lato" panose="020F0502020204030203" pitchFamily="34" charset="0"/>
                <a:cs typeface="Lato" panose="020F0502020204030203" pitchFamily="34" charset="0"/>
              </a:rPr>
              <a:t>Left</a:t>
            </a:r>
            <a:r>
              <a:rPr lang="en-VN" sz="24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 – </a:t>
            </a:r>
            <a:r>
              <a:rPr lang="en-VN" sz="2400" dirty="0">
                <a:solidFill>
                  <a:srgbClr val="BC05B7"/>
                </a:solidFill>
                <a:latin typeface="Lato" panose="020F0502020204030203" pitchFamily="34" charset="0"/>
                <a:ea typeface="Lato" panose="020F0502020204030203" pitchFamily="34" charset="0"/>
                <a:cs typeface="Lato" panose="020F0502020204030203" pitchFamily="34" charset="0"/>
              </a:rPr>
              <a:t>Right</a:t>
            </a:r>
            <a:r>
              <a:rPr lang="en-VN" sz="24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a:t>
            </a:r>
          </a:p>
          <a:p>
            <a:pPr marL="342900" indent="-342900">
              <a:lnSpc>
                <a:spcPct val="150000"/>
              </a:lnSpc>
              <a:buFont typeface="+mj-lt"/>
              <a:buAutoNum type="arabicPeriod"/>
            </a:pPr>
            <a:r>
              <a:rPr lang="en-VN" sz="24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P là </a:t>
            </a:r>
            <a:r>
              <a:rPr lang="en-VN" sz="2400" dirty="0">
                <a:solidFill>
                  <a:srgbClr val="BC05B7"/>
                </a:solidFill>
                <a:latin typeface="Lato" panose="020F0502020204030203" pitchFamily="34" charset="0"/>
                <a:ea typeface="Lato" panose="020F0502020204030203" pitchFamily="34" charset="0"/>
                <a:cs typeface="Lato" panose="020F0502020204030203" pitchFamily="34" charset="0"/>
              </a:rPr>
              <a:t>con phải </a:t>
            </a:r>
            <a:r>
              <a:rPr lang="en-VN" sz="24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của G, N là </a:t>
            </a:r>
            <a:r>
              <a:rPr lang="en-VN" sz="2400" dirty="0">
                <a:solidFill>
                  <a:srgbClr val="BC05B7"/>
                </a:solidFill>
                <a:latin typeface="Lato" panose="020F0502020204030203" pitchFamily="34" charset="0"/>
                <a:ea typeface="Lato" panose="020F0502020204030203" pitchFamily="34" charset="0"/>
                <a:cs typeface="Lato" panose="020F0502020204030203" pitchFamily="34" charset="0"/>
              </a:rPr>
              <a:t>con phải </a:t>
            </a:r>
            <a:r>
              <a:rPr lang="en-VN" sz="24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của P (</a:t>
            </a:r>
            <a:r>
              <a:rPr lang="en-VN" sz="2400" dirty="0">
                <a:solidFill>
                  <a:srgbClr val="BC05B7"/>
                </a:solidFill>
                <a:latin typeface="Lato" panose="020F0502020204030203" pitchFamily="34" charset="0"/>
                <a:ea typeface="Lato" panose="020F0502020204030203" pitchFamily="34" charset="0"/>
                <a:cs typeface="Lato" panose="020F0502020204030203" pitchFamily="34" charset="0"/>
              </a:rPr>
              <a:t>Right</a:t>
            </a:r>
            <a:r>
              <a:rPr lang="en-VN" sz="24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 – </a:t>
            </a:r>
            <a:r>
              <a:rPr lang="en-VN" sz="2400" dirty="0">
                <a:solidFill>
                  <a:srgbClr val="BC05B7"/>
                </a:solidFill>
                <a:latin typeface="Lato" panose="020F0502020204030203" pitchFamily="34" charset="0"/>
                <a:ea typeface="Lato" panose="020F0502020204030203" pitchFamily="34" charset="0"/>
                <a:cs typeface="Lato" panose="020F0502020204030203" pitchFamily="34" charset="0"/>
              </a:rPr>
              <a:t>Right</a:t>
            </a:r>
            <a:r>
              <a:rPr lang="en-VN" sz="24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a:t>
            </a:r>
          </a:p>
          <a:p>
            <a:pPr marL="342900" indent="-342900">
              <a:lnSpc>
                <a:spcPct val="150000"/>
              </a:lnSpc>
              <a:buFont typeface="+mj-lt"/>
              <a:buAutoNum type="arabicPeriod"/>
            </a:pPr>
            <a:r>
              <a:rPr lang="en-VN" sz="24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P là </a:t>
            </a:r>
            <a:r>
              <a:rPr lang="en-VN" sz="2400" dirty="0">
                <a:solidFill>
                  <a:srgbClr val="BC05B7"/>
                </a:solidFill>
                <a:latin typeface="Lato" panose="020F0502020204030203" pitchFamily="34" charset="0"/>
                <a:ea typeface="Lato" panose="020F0502020204030203" pitchFamily="34" charset="0"/>
                <a:cs typeface="Lato" panose="020F0502020204030203" pitchFamily="34" charset="0"/>
              </a:rPr>
              <a:t>con phải </a:t>
            </a:r>
            <a:r>
              <a:rPr lang="en-VN" sz="24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của G, N là </a:t>
            </a:r>
            <a:r>
              <a:rPr lang="en-VN" sz="2400" dirty="0">
                <a:solidFill>
                  <a:srgbClr val="00B050"/>
                </a:solidFill>
                <a:latin typeface="Lato" panose="020F0502020204030203" pitchFamily="34" charset="0"/>
                <a:ea typeface="Lato" panose="020F0502020204030203" pitchFamily="34" charset="0"/>
                <a:cs typeface="Lato" panose="020F0502020204030203" pitchFamily="34" charset="0"/>
              </a:rPr>
              <a:t>con trái </a:t>
            </a:r>
            <a:r>
              <a:rPr lang="en-VN" sz="24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của P (</a:t>
            </a:r>
            <a:r>
              <a:rPr lang="en-VN" sz="2400" dirty="0">
                <a:solidFill>
                  <a:srgbClr val="BC05B7"/>
                </a:solidFill>
                <a:latin typeface="Lato" panose="020F0502020204030203" pitchFamily="34" charset="0"/>
                <a:ea typeface="Lato" panose="020F0502020204030203" pitchFamily="34" charset="0"/>
                <a:cs typeface="Lato" panose="020F0502020204030203" pitchFamily="34" charset="0"/>
              </a:rPr>
              <a:t>Right</a:t>
            </a:r>
            <a:r>
              <a:rPr lang="en-VN" sz="24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 – </a:t>
            </a:r>
            <a:r>
              <a:rPr lang="en-VN" sz="2400" dirty="0">
                <a:solidFill>
                  <a:srgbClr val="00B050"/>
                </a:solidFill>
                <a:latin typeface="Lato" panose="020F0502020204030203" pitchFamily="34" charset="0"/>
                <a:ea typeface="Lato" panose="020F0502020204030203" pitchFamily="34" charset="0"/>
                <a:cs typeface="Lato" panose="020F0502020204030203" pitchFamily="34" charset="0"/>
              </a:rPr>
              <a:t>Left</a:t>
            </a:r>
            <a:r>
              <a:rPr lang="en-VN" sz="24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a:t>
            </a:r>
          </a:p>
        </p:txBody>
      </p:sp>
    </p:spTree>
    <p:extLst>
      <p:ext uri="{BB962C8B-B14F-4D97-AF65-F5344CB8AC3E}">
        <p14:creationId xmlns:p14="http://schemas.microsoft.com/office/powerpoint/2010/main" val="3246565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24</a:t>
            </a:fld>
            <a:endParaRPr lang="en-US" dirty="0"/>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lang="en-US" dirty="0"/>
              <a:t>THAO TÁC CƠ BẢN</a:t>
            </a:r>
          </a:p>
        </p:txBody>
      </p:sp>
      <p:sp>
        <p:nvSpPr>
          <p:cNvPr id="3" name="TextBox 2">
            <a:extLst>
              <a:ext uri="{FF2B5EF4-FFF2-40B4-BE49-F238E27FC236}">
                <a16:creationId xmlns:a16="http://schemas.microsoft.com/office/drawing/2014/main" id="{FB2A445E-0F6E-815C-D17A-9F0A8135FE1E}"/>
              </a:ext>
            </a:extLst>
          </p:cNvPr>
          <p:cNvSpPr txBox="1"/>
          <p:nvPr/>
        </p:nvSpPr>
        <p:spPr>
          <a:xfrm>
            <a:off x="682906" y="729204"/>
            <a:ext cx="4780634" cy="707886"/>
          </a:xfrm>
          <a:prstGeom prst="rect">
            <a:avLst/>
          </a:prstGeom>
          <a:noFill/>
        </p:spPr>
        <p:txBody>
          <a:bodyPr wrap="square" rtlCol="0">
            <a:spAutoFit/>
          </a:bodyPr>
          <a:lstStyle/>
          <a:p>
            <a:r>
              <a:rPr lang="en-VN" sz="2000" b="1" dirty="0">
                <a:solidFill>
                  <a:schemeClr val="accent1">
                    <a:lumMod val="50000"/>
                  </a:schemeClr>
                </a:solidFill>
                <a:latin typeface="Lato" panose="020F0502020204030203" pitchFamily="34" charset="0"/>
                <a:ea typeface="Lato" panose="020F0502020204030203" pitchFamily="34" charset="0"/>
                <a:cs typeface="Lato" panose="020F0502020204030203" pitchFamily="34" charset="0"/>
              </a:rPr>
              <a:t>2. Insertion (Thêm node vào cây đỏ đen)</a:t>
            </a:r>
          </a:p>
          <a:p>
            <a:endParaRPr lang="en-VN" sz="2000" b="1" dirty="0">
              <a:solidFill>
                <a:schemeClr val="accent1">
                  <a:lumMod val="50000"/>
                </a:schemeClr>
              </a:solidFill>
            </a:endParaRPr>
          </a:p>
        </p:txBody>
      </p:sp>
      <p:sp>
        <p:nvSpPr>
          <p:cNvPr id="7" name="TextBox 6">
            <a:extLst>
              <a:ext uri="{FF2B5EF4-FFF2-40B4-BE49-F238E27FC236}">
                <a16:creationId xmlns:a16="http://schemas.microsoft.com/office/drawing/2014/main" id="{6C4639FF-C762-3F88-3CE8-48A40412B7B3}"/>
              </a:ext>
            </a:extLst>
          </p:cNvPr>
          <p:cNvSpPr txBox="1"/>
          <p:nvPr/>
        </p:nvSpPr>
        <p:spPr>
          <a:xfrm>
            <a:off x="682906" y="1266610"/>
            <a:ext cx="5820764" cy="400110"/>
          </a:xfrm>
          <a:prstGeom prst="rect">
            <a:avLst/>
          </a:prstGeom>
          <a:noFill/>
        </p:spPr>
        <p:txBody>
          <a:bodyPr wrap="square" rtlCol="0">
            <a:spAutoFit/>
          </a:bodyPr>
          <a:lstStyle/>
          <a:p>
            <a:pPr marL="285750" indent="-285750">
              <a:buClr>
                <a:srgbClr val="C00000"/>
              </a:buClr>
              <a:buFont typeface="Wingdings" pitchFamily="2" charset="2"/>
              <a:buChar char="Ø"/>
            </a:pPr>
            <a:r>
              <a:rPr lang="en-VN" sz="2000" dirty="0">
                <a:solidFill>
                  <a:srgbClr val="C00000"/>
                </a:solidFill>
                <a:latin typeface="Lato" panose="020F0502020204030203" pitchFamily="34" charset="0"/>
                <a:ea typeface="Lato" panose="020F0502020204030203" pitchFamily="34" charset="0"/>
                <a:cs typeface="Lato" panose="020F0502020204030203" pitchFamily="34" charset="0"/>
              </a:rPr>
              <a:t>TH4: </a:t>
            </a:r>
            <a:r>
              <a:rPr lang="en-VN" sz="2000" dirty="0">
                <a:latin typeface="Lato" panose="020F0502020204030203" pitchFamily="34" charset="0"/>
                <a:ea typeface="Lato" panose="020F0502020204030203" pitchFamily="34" charset="0"/>
                <a:cs typeface="Lato" panose="020F0502020204030203" pitchFamily="34" charset="0"/>
              </a:rPr>
              <a:t>P là node đỏ và U là node đen</a:t>
            </a:r>
          </a:p>
        </p:txBody>
      </p:sp>
      <p:sp>
        <p:nvSpPr>
          <p:cNvPr id="12" name="TextBox 11">
            <a:extLst>
              <a:ext uri="{FF2B5EF4-FFF2-40B4-BE49-F238E27FC236}">
                <a16:creationId xmlns:a16="http://schemas.microsoft.com/office/drawing/2014/main" id="{5E47146E-CF86-4C75-DFEA-31B9DD189BB6}"/>
              </a:ext>
            </a:extLst>
          </p:cNvPr>
          <p:cNvSpPr txBox="1"/>
          <p:nvPr/>
        </p:nvSpPr>
        <p:spPr>
          <a:xfrm>
            <a:off x="820066" y="1595246"/>
            <a:ext cx="7800213" cy="493212"/>
          </a:xfrm>
          <a:prstGeom prst="rect">
            <a:avLst/>
          </a:prstGeom>
          <a:noFill/>
        </p:spPr>
        <p:txBody>
          <a:bodyPr wrap="square" rtlCol="0">
            <a:spAutoFit/>
          </a:bodyPr>
          <a:lstStyle/>
          <a:p>
            <a:pPr marL="342900" indent="-342900">
              <a:lnSpc>
                <a:spcPct val="150000"/>
              </a:lnSpc>
              <a:buFont typeface="+mj-lt"/>
              <a:buAutoNum type="arabicPeriod"/>
            </a:pPr>
            <a:r>
              <a:rPr lang="en-VN" sz="2000" dirty="0">
                <a:solidFill>
                  <a:srgbClr val="FF0000"/>
                </a:solidFill>
                <a:latin typeface="Lato" panose="020F0502020204030203" pitchFamily="34" charset="0"/>
                <a:ea typeface="Lato" panose="020F0502020204030203" pitchFamily="34" charset="0"/>
                <a:cs typeface="Lato" panose="020F0502020204030203" pitchFamily="34" charset="0"/>
              </a:rPr>
              <a:t>Left – Left</a:t>
            </a:r>
            <a:r>
              <a:rPr lang="en-VN" sz="20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 P là </a:t>
            </a:r>
            <a:r>
              <a:rPr lang="en-VN" sz="2000" dirty="0">
                <a:solidFill>
                  <a:srgbClr val="00B050"/>
                </a:solidFill>
                <a:latin typeface="Lato" panose="020F0502020204030203" pitchFamily="34" charset="0"/>
                <a:ea typeface="Lato" panose="020F0502020204030203" pitchFamily="34" charset="0"/>
                <a:cs typeface="Lato" panose="020F0502020204030203" pitchFamily="34" charset="0"/>
              </a:rPr>
              <a:t>con trái </a:t>
            </a:r>
            <a:r>
              <a:rPr lang="en-VN" sz="20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của G, N là </a:t>
            </a:r>
            <a:r>
              <a:rPr lang="en-VN" sz="2000" dirty="0">
                <a:solidFill>
                  <a:srgbClr val="00B050"/>
                </a:solidFill>
                <a:latin typeface="Lato" panose="020F0502020204030203" pitchFamily="34" charset="0"/>
                <a:ea typeface="Lato" panose="020F0502020204030203" pitchFamily="34" charset="0"/>
                <a:cs typeface="Lato" panose="020F0502020204030203" pitchFamily="34" charset="0"/>
              </a:rPr>
              <a:t>con trái </a:t>
            </a:r>
            <a:r>
              <a:rPr lang="en-VN" sz="20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của P</a:t>
            </a:r>
          </a:p>
        </p:txBody>
      </p:sp>
      <p:sp>
        <p:nvSpPr>
          <p:cNvPr id="6" name="Oval 5">
            <a:extLst>
              <a:ext uri="{FF2B5EF4-FFF2-40B4-BE49-F238E27FC236}">
                <a16:creationId xmlns:a16="http://schemas.microsoft.com/office/drawing/2014/main" id="{8F1D17D6-CEBF-A6B3-5958-0787578E27CF}"/>
              </a:ext>
            </a:extLst>
          </p:cNvPr>
          <p:cNvSpPr/>
          <p:nvPr/>
        </p:nvSpPr>
        <p:spPr>
          <a:xfrm>
            <a:off x="1170271" y="4108246"/>
            <a:ext cx="449977"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N</a:t>
            </a:r>
          </a:p>
        </p:txBody>
      </p:sp>
      <p:sp>
        <p:nvSpPr>
          <p:cNvPr id="8" name="Oval 7">
            <a:extLst>
              <a:ext uri="{FF2B5EF4-FFF2-40B4-BE49-F238E27FC236}">
                <a16:creationId xmlns:a16="http://schemas.microsoft.com/office/drawing/2014/main" id="{335A9E16-23C4-4E5B-8915-73352C697AE4}"/>
              </a:ext>
            </a:extLst>
          </p:cNvPr>
          <p:cNvSpPr/>
          <p:nvPr/>
        </p:nvSpPr>
        <p:spPr>
          <a:xfrm>
            <a:off x="1782739" y="3440890"/>
            <a:ext cx="449977"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P</a:t>
            </a:r>
          </a:p>
        </p:txBody>
      </p:sp>
      <p:sp>
        <p:nvSpPr>
          <p:cNvPr id="9" name="Triangle 8">
            <a:extLst>
              <a:ext uri="{FF2B5EF4-FFF2-40B4-BE49-F238E27FC236}">
                <a16:creationId xmlns:a16="http://schemas.microsoft.com/office/drawing/2014/main" id="{ECD7C5DA-2544-B630-3110-282ED925D582}"/>
              </a:ext>
            </a:extLst>
          </p:cNvPr>
          <p:cNvSpPr/>
          <p:nvPr/>
        </p:nvSpPr>
        <p:spPr>
          <a:xfrm>
            <a:off x="2371592" y="4074742"/>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R4</a:t>
            </a:r>
          </a:p>
        </p:txBody>
      </p:sp>
      <p:sp>
        <p:nvSpPr>
          <p:cNvPr id="10" name="Triangle 9">
            <a:extLst>
              <a:ext uri="{FF2B5EF4-FFF2-40B4-BE49-F238E27FC236}">
                <a16:creationId xmlns:a16="http://schemas.microsoft.com/office/drawing/2014/main" id="{062BFB17-7DF0-E35E-D561-EFC1015A2D27}"/>
              </a:ext>
            </a:extLst>
          </p:cNvPr>
          <p:cNvSpPr/>
          <p:nvPr/>
        </p:nvSpPr>
        <p:spPr>
          <a:xfrm>
            <a:off x="1616037" y="4074742"/>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R3</a:t>
            </a:r>
          </a:p>
        </p:txBody>
      </p:sp>
      <p:cxnSp>
        <p:nvCxnSpPr>
          <p:cNvPr id="11" name="Straight Arrow Connector 10">
            <a:extLst>
              <a:ext uri="{FF2B5EF4-FFF2-40B4-BE49-F238E27FC236}">
                <a16:creationId xmlns:a16="http://schemas.microsoft.com/office/drawing/2014/main" id="{24B82D8F-0AE8-B6CE-5EE1-163B9036FC13}"/>
              </a:ext>
            </a:extLst>
          </p:cNvPr>
          <p:cNvCxnSpPr>
            <a:cxnSpLocks/>
            <a:stCxn id="16" idx="4"/>
            <a:endCxn id="17" idx="0"/>
          </p:cNvCxnSpPr>
          <p:nvPr/>
        </p:nvCxnSpPr>
        <p:spPr>
          <a:xfrm>
            <a:off x="2391908" y="3189632"/>
            <a:ext cx="290786"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AD445B5-BB22-9716-B970-8564EF4DC66E}"/>
              </a:ext>
            </a:extLst>
          </p:cNvPr>
          <p:cNvCxnSpPr>
            <a:cxnSpLocks/>
            <a:stCxn id="16" idx="4"/>
            <a:endCxn id="8" idx="0"/>
          </p:cNvCxnSpPr>
          <p:nvPr/>
        </p:nvCxnSpPr>
        <p:spPr>
          <a:xfrm flipH="1">
            <a:off x="2007728" y="3189632"/>
            <a:ext cx="384180"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3EA38A8-566C-DA56-938C-0943E39B1C44}"/>
              </a:ext>
            </a:extLst>
          </p:cNvPr>
          <p:cNvCxnSpPr>
            <a:cxnSpLocks/>
            <a:stCxn id="8" idx="4"/>
            <a:endCxn id="6" idx="0"/>
          </p:cNvCxnSpPr>
          <p:nvPr/>
        </p:nvCxnSpPr>
        <p:spPr>
          <a:xfrm flipH="1">
            <a:off x="1395260" y="3841000"/>
            <a:ext cx="612468" cy="2672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F79EAEE-0C31-99BE-FE62-D2DFAB9FCA9A}"/>
              </a:ext>
            </a:extLst>
          </p:cNvPr>
          <p:cNvCxnSpPr>
            <a:cxnSpLocks/>
            <a:stCxn id="8" idx="4"/>
            <a:endCxn id="10" idx="0"/>
          </p:cNvCxnSpPr>
          <p:nvPr/>
        </p:nvCxnSpPr>
        <p:spPr>
          <a:xfrm flipH="1">
            <a:off x="1955626" y="3841000"/>
            <a:ext cx="52102"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184C720B-1868-6B57-9DDC-11B741C99B53}"/>
              </a:ext>
            </a:extLst>
          </p:cNvPr>
          <p:cNvSpPr/>
          <p:nvPr/>
        </p:nvSpPr>
        <p:spPr>
          <a:xfrm>
            <a:off x="2166919" y="2789522"/>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G</a:t>
            </a:r>
          </a:p>
        </p:txBody>
      </p:sp>
      <p:sp>
        <p:nvSpPr>
          <p:cNvPr id="17" name="Oval 16">
            <a:extLst>
              <a:ext uri="{FF2B5EF4-FFF2-40B4-BE49-F238E27FC236}">
                <a16:creationId xmlns:a16="http://schemas.microsoft.com/office/drawing/2014/main" id="{05E15139-4CD3-4A16-7E42-2041D25DBDDC}"/>
              </a:ext>
            </a:extLst>
          </p:cNvPr>
          <p:cNvSpPr/>
          <p:nvPr/>
        </p:nvSpPr>
        <p:spPr>
          <a:xfrm>
            <a:off x="2457705" y="3440890"/>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U</a:t>
            </a:r>
          </a:p>
        </p:txBody>
      </p:sp>
      <p:sp>
        <p:nvSpPr>
          <p:cNvPr id="18" name="Triangle 17">
            <a:extLst>
              <a:ext uri="{FF2B5EF4-FFF2-40B4-BE49-F238E27FC236}">
                <a16:creationId xmlns:a16="http://schemas.microsoft.com/office/drawing/2014/main" id="{D6C94027-EA28-85C9-796A-D012C69BE5ED}"/>
              </a:ext>
            </a:extLst>
          </p:cNvPr>
          <p:cNvSpPr/>
          <p:nvPr/>
        </p:nvSpPr>
        <p:spPr>
          <a:xfrm>
            <a:off x="3127147" y="4074742"/>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R5</a:t>
            </a:r>
          </a:p>
        </p:txBody>
      </p:sp>
      <p:cxnSp>
        <p:nvCxnSpPr>
          <p:cNvPr id="19" name="Straight Arrow Connector 18">
            <a:extLst>
              <a:ext uri="{FF2B5EF4-FFF2-40B4-BE49-F238E27FC236}">
                <a16:creationId xmlns:a16="http://schemas.microsoft.com/office/drawing/2014/main" id="{1E052443-1CA0-176E-091E-6733C503300A}"/>
              </a:ext>
            </a:extLst>
          </p:cNvPr>
          <p:cNvCxnSpPr>
            <a:cxnSpLocks/>
            <a:stCxn id="17" idx="4"/>
            <a:endCxn id="9" idx="0"/>
          </p:cNvCxnSpPr>
          <p:nvPr/>
        </p:nvCxnSpPr>
        <p:spPr>
          <a:xfrm>
            <a:off x="2682694" y="3841000"/>
            <a:ext cx="28487"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729482F-53FD-AE36-8669-8E29F80E41D8}"/>
              </a:ext>
            </a:extLst>
          </p:cNvPr>
          <p:cNvCxnSpPr>
            <a:cxnSpLocks/>
            <a:stCxn id="17" idx="4"/>
            <a:endCxn id="18" idx="0"/>
          </p:cNvCxnSpPr>
          <p:nvPr/>
        </p:nvCxnSpPr>
        <p:spPr>
          <a:xfrm>
            <a:off x="2682694" y="3841000"/>
            <a:ext cx="784042"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riangle 29">
            <a:extLst>
              <a:ext uri="{FF2B5EF4-FFF2-40B4-BE49-F238E27FC236}">
                <a16:creationId xmlns:a16="http://schemas.microsoft.com/office/drawing/2014/main" id="{E49D54E7-321E-4D07-4227-8A4123E21746}"/>
              </a:ext>
            </a:extLst>
          </p:cNvPr>
          <p:cNvSpPr/>
          <p:nvPr/>
        </p:nvSpPr>
        <p:spPr>
          <a:xfrm>
            <a:off x="652179" y="4874962"/>
            <a:ext cx="679178"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R1</a:t>
            </a:r>
          </a:p>
        </p:txBody>
      </p:sp>
      <p:sp>
        <p:nvSpPr>
          <p:cNvPr id="31" name="Triangle 30">
            <a:extLst>
              <a:ext uri="{FF2B5EF4-FFF2-40B4-BE49-F238E27FC236}">
                <a16:creationId xmlns:a16="http://schemas.microsoft.com/office/drawing/2014/main" id="{C0E23BEE-EE7D-FC6B-A4D9-BAB38B4EF629}"/>
              </a:ext>
            </a:extLst>
          </p:cNvPr>
          <p:cNvSpPr/>
          <p:nvPr/>
        </p:nvSpPr>
        <p:spPr>
          <a:xfrm>
            <a:off x="1353367" y="4874962"/>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R2</a:t>
            </a:r>
          </a:p>
        </p:txBody>
      </p:sp>
      <p:cxnSp>
        <p:nvCxnSpPr>
          <p:cNvPr id="32" name="Straight Arrow Connector 31">
            <a:extLst>
              <a:ext uri="{FF2B5EF4-FFF2-40B4-BE49-F238E27FC236}">
                <a16:creationId xmlns:a16="http://schemas.microsoft.com/office/drawing/2014/main" id="{771EF568-C00E-1A9C-5DAF-D055B0C0CE11}"/>
              </a:ext>
            </a:extLst>
          </p:cNvPr>
          <p:cNvCxnSpPr>
            <a:cxnSpLocks/>
            <a:endCxn id="30" idx="0"/>
          </p:cNvCxnSpPr>
          <p:nvPr/>
        </p:nvCxnSpPr>
        <p:spPr>
          <a:xfrm flipH="1">
            <a:off x="991768" y="4452171"/>
            <a:ext cx="341385" cy="4227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AEC20E6B-74F4-33BA-895C-14840CEED043}"/>
              </a:ext>
            </a:extLst>
          </p:cNvPr>
          <p:cNvCxnSpPr>
            <a:cxnSpLocks/>
            <a:endCxn id="31" idx="0"/>
          </p:cNvCxnSpPr>
          <p:nvPr/>
        </p:nvCxnSpPr>
        <p:spPr>
          <a:xfrm>
            <a:off x="1376568" y="4508356"/>
            <a:ext cx="316388" cy="3666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31FC058D-3493-7293-5DB5-C2ECEA28E690}"/>
              </a:ext>
            </a:extLst>
          </p:cNvPr>
          <p:cNvCxnSpPr>
            <a:cxnSpLocks/>
            <a:endCxn id="16" idx="0"/>
          </p:cNvCxnSpPr>
          <p:nvPr/>
        </p:nvCxnSpPr>
        <p:spPr>
          <a:xfrm flipH="1">
            <a:off x="2391908" y="2402978"/>
            <a:ext cx="290785" cy="386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Oval 56">
            <a:extLst>
              <a:ext uri="{FF2B5EF4-FFF2-40B4-BE49-F238E27FC236}">
                <a16:creationId xmlns:a16="http://schemas.microsoft.com/office/drawing/2014/main" id="{080DCE7C-05DA-342E-1DFB-C13B2CE2153E}"/>
              </a:ext>
            </a:extLst>
          </p:cNvPr>
          <p:cNvSpPr/>
          <p:nvPr/>
        </p:nvSpPr>
        <p:spPr>
          <a:xfrm>
            <a:off x="6016853" y="3440890"/>
            <a:ext cx="449977"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N</a:t>
            </a:r>
          </a:p>
        </p:txBody>
      </p:sp>
      <p:sp>
        <p:nvSpPr>
          <p:cNvPr id="58" name="Triangle 57">
            <a:extLst>
              <a:ext uri="{FF2B5EF4-FFF2-40B4-BE49-F238E27FC236}">
                <a16:creationId xmlns:a16="http://schemas.microsoft.com/office/drawing/2014/main" id="{94C70D43-0043-A325-5F4A-EB6D19FFD68D}"/>
              </a:ext>
            </a:extLst>
          </p:cNvPr>
          <p:cNvSpPr/>
          <p:nvPr/>
        </p:nvSpPr>
        <p:spPr>
          <a:xfrm>
            <a:off x="6605706" y="4074742"/>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R3</a:t>
            </a:r>
          </a:p>
        </p:txBody>
      </p:sp>
      <p:sp>
        <p:nvSpPr>
          <p:cNvPr id="59" name="Triangle 58">
            <a:extLst>
              <a:ext uri="{FF2B5EF4-FFF2-40B4-BE49-F238E27FC236}">
                <a16:creationId xmlns:a16="http://schemas.microsoft.com/office/drawing/2014/main" id="{00B4DA31-BB9E-5C87-AB01-E3ECB32D0F66}"/>
              </a:ext>
            </a:extLst>
          </p:cNvPr>
          <p:cNvSpPr/>
          <p:nvPr/>
        </p:nvSpPr>
        <p:spPr>
          <a:xfrm>
            <a:off x="5850151" y="4074742"/>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R2</a:t>
            </a:r>
          </a:p>
        </p:txBody>
      </p:sp>
      <p:cxnSp>
        <p:nvCxnSpPr>
          <p:cNvPr id="60" name="Straight Arrow Connector 59">
            <a:extLst>
              <a:ext uri="{FF2B5EF4-FFF2-40B4-BE49-F238E27FC236}">
                <a16:creationId xmlns:a16="http://schemas.microsoft.com/office/drawing/2014/main" id="{0A9AFE05-F2B9-A1F5-FCB2-F28725EA1F3A}"/>
              </a:ext>
            </a:extLst>
          </p:cNvPr>
          <p:cNvCxnSpPr>
            <a:cxnSpLocks/>
            <a:stCxn id="64" idx="4"/>
            <a:endCxn id="65" idx="0"/>
          </p:cNvCxnSpPr>
          <p:nvPr/>
        </p:nvCxnSpPr>
        <p:spPr>
          <a:xfrm>
            <a:off x="6626022" y="3189632"/>
            <a:ext cx="290786"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31D300E9-F567-788A-7B64-A16E3387ABA5}"/>
              </a:ext>
            </a:extLst>
          </p:cNvPr>
          <p:cNvCxnSpPr>
            <a:cxnSpLocks/>
            <a:stCxn id="64" idx="4"/>
            <a:endCxn id="57" idx="0"/>
          </p:cNvCxnSpPr>
          <p:nvPr/>
        </p:nvCxnSpPr>
        <p:spPr>
          <a:xfrm flipH="1">
            <a:off x="6241842" y="3189632"/>
            <a:ext cx="384180"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66B99416-B361-A590-9E5E-F7BEA48E1815}"/>
              </a:ext>
            </a:extLst>
          </p:cNvPr>
          <p:cNvCxnSpPr>
            <a:cxnSpLocks/>
            <a:stCxn id="57" idx="4"/>
            <a:endCxn id="75" idx="0"/>
          </p:cNvCxnSpPr>
          <p:nvPr/>
        </p:nvCxnSpPr>
        <p:spPr>
          <a:xfrm flipH="1">
            <a:off x="5455219" y="3841000"/>
            <a:ext cx="786623"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7DBDE847-4240-CE2D-B500-3E98E53271C4}"/>
              </a:ext>
            </a:extLst>
          </p:cNvPr>
          <p:cNvCxnSpPr>
            <a:cxnSpLocks/>
            <a:stCxn id="57" idx="4"/>
            <a:endCxn id="59" idx="0"/>
          </p:cNvCxnSpPr>
          <p:nvPr/>
        </p:nvCxnSpPr>
        <p:spPr>
          <a:xfrm flipH="1">
            <a:off x="6189740" y="3841000"/>
            <a:ext cx="52102"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0761DA9-4D9B-BBA5-194D-293A3E9945E5}"/>
              </a:ext>
            </a:extLst>
          </p:cNvPr>
          <p:cNvSpPr/>
          <p:nvPr/>
        </p:nvSpPr>
        <p:spPr>
          <a:xfrm>
            <a:off x="6401033" y="2789522"/>
            <a:ext cx="449977"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P</a:t>
            </a:r>
          </a:p>
        </p:txBody>
      </p:sp>
      <p:sp>
        <p:nvSpPr>
          <p:cNvPr id="65" name="Oval 64">
            <a:extLst>
              <a:ext uri="{FF2B5EF4-FFF2-40B4-BE49-F238E27FC236}">
                <a16:creationId xmlns:a16="http://schemas.microsoft.com/office/drawing/2014/main" id="{05662E05-9B47-20A4-1E30-BAA2D42A3B30}"/>
              </a:ext>
            </a:extLst>
          </p:cNvPr>
          <p:cNvSpPr/>
          <p:nvPr/>
        </p:nvSpPr>
        <p:spPr>
          <a:xfrm>
            <a:off x="6691819" y="3440890"/>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G</a:t>
            </a:r>
          </a:p>
        </p:txBody>
      </p:sp>
      <p:cxnSp>
        <p:nvCxnSpPr>
          <p:cNvPr id="67" name="Straight Arrow Connector 66">
            <a:extLst>
              <a:ext uri="{FF2B5EF4-FFF2-40B4-BE49-F238E27FC236}">
                <a16:creationId xmlns:a16="http://schemas.microsoft.com/office/drawing/2014/main" id="{28A89C88-73F8-FE0C-C37E-5B7B7BEBFBEE}"/>
              </a:ext>
            </a:extLst>
          </p:cNvPr>
          <p:cNvCxnSpPr>
            <a:cxnSpLocks/>
            <a:stCxn id="65" idx="4"/>
            <a:endCxn id="58" idx="0"/>
          </p:cNvCxnSpPr>
          <p:nvPr/>
        </p:nvCxnSpPr>
        <p:spPr>
          <a:xfrm>
            <a:off x="6916808" y="3841000"/>
            <a:ext cx="28487"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A1A558C0-0B7E-2260-017B-4ACDC1CD3CBF}"/>
              </a:ext>
            </a:extLst>
          </p:cNvPr>
          <p:cNvCxnSpPr>
            <a:cxnSpLocks/>
            <a:stCxn id="65" idx="4"/>
          </p:cNvCxnSpPr>
          <p:nvPr/>
        </p:nvCxnSpPr>
        <p:spPr>
          <a:xfrm>
            <a:off x="6916808" y="3841000"/>
            <a:ext cx="784042"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Triangle 68">
            <a:extLst>
              <a:ext uri="{FF2B5EF4-FFF2-40B4-BE49-F238E27FC236}">
                <a16:creationId xmlns:a16="http://schemas.microsoft.com/office/drawing/2014/main" id="{CD6C6F69-6845-F5B2-42AF-3C36EFC4D61A}"/>
              </a:ext>
            </a:extLst>
          </p:cNvPr>
          <p:cNvSpPr/>
          <p:nvPr/>
        </p:nvSpPr>
        <p:spPr>
          <a:xfrm>
            <a:off x="6999662" y="4915159"/>
            <a:ext cx="679178"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R4</a:t>
            </a:r>
          </a:p>
        </p:txBody>
      </p:sp>
      <p:sp>
        <p:nvSpPr>
          <p:cNvPr id="70" name="Triangle 69">
            <a:extLst>
              <a:ext uri="{FF2B5EF4-FFF2-40B4-BE49-F238E27FC236}">
                <a16:creationId xmlns:a16="http://schemas.microsoft.com/office/drawing/2014/main" id="{5605FA99-BAE2-0D91-BA7B-7A3ED9F40FAD}"/>
              </a:ext>
            </a:extLst>
          </p:cNvPr>
          <p:cNvSpPr/>
          <p:nvPr/>
        </p:nvSpPr>
        <p:spPr>
          <a:xfrm>
            <a:off x="7700850" y="4915159"/>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R5</a:t>
            </a:r>
          </a:p>
        </p:txBody>
      </p:sp>
      <p:cxnSp>
        <p:nvCxnSpPr>
          <p:cNvPr id="71" name="Straight Arrow Connector 70">
            <a:extLst>
              <a:ext uri="{FF2B5EF4-FFF2-40B4-BE49-F238E27FC236}">
                <a16:creationId xmlns:a16="http://schemas.microsoft.com/office/drawing/2014/main" id="{84D0A315-52C2-43BD-F4E0-5B38177074AE}"/>
              </a:ext>
            </a:extLst>
          </p:cNvPr>
          <p:cNvCxnSpPr>
            <a:cxnSpLocks/>
            <a:endCxn id="69" idx="0"/>
          </p:cNvCxnSpPr>
          <p:nvPr/>
        </p:nvCxnSpPr>
        <p:spPr>
          <a:xfrm flipH="1">
            <a:off x="7339251" y="4492368"/>
            <a:ext cx="341385" cy="4227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7ADC3A04-4CEF-DAA1-7706-3B55F31AC0E3}"/>
              </a:ext>
            </a:extLst>
          </p:cNvPr>
          <p:cNvCxnSpPr>
            <a:cxnSpLocks/>
            <a:endCxn id="70" idx="0"/>
          </p:cNvCxnSpPr>
          <p:nvPr/>
        </p:nvCxnSpPr>
        <p:spPr>
          <a:xfrm>
            <a:off x="7724051" y="4548553"/>
            <a:ext cx="316388" cy="3666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F8E9DBCA-34B2-08A5-A271-80C8FE3E24AB}"/>
              </a:ext>
            </a:extLst>
          </p:cNvPr>
          <p:cNvCxnSpPr>
            <a:cxnSpLocks/>
            <a:endCxn id="64" idx="0"/>
          </p:cNvCxnSpPr>
          <p:nvPr/>
        </p:nvCxnSpPr>
        <p:spPr>
          <a:xfrm flipH="1">
            <a:off x="6626022" y="2402978"/>
            <a:ext cx="290785" cy="386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292B42E9-6FC6-662B-E795-653F35964154}"/>
              </a:ext>
            </a:extLst>
          </p:cNvPr>
          <p:cNvSpPr/>
          <p:nvPr/>
        </p:nvSpPr>
        <p:spPr>
          <a:xfrm>
            <a:off x="7447729" y="4108246"/>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U</a:t>
            </a:r>
          </a:p>
        </p:txBody>
      </p:sp>
      <p:sp>
        <p:nvSpPr>
          <p:cNvPr id="75" name="Triangle 74">
            <a:extLst>
              <a:ext uri="{FF2B5EF4-FFF2-40B4-BE49-F238E27FC236}">
                <a16:creationId xmlns:a16="http://schemas.microsoft.com/office/drawing/2014/main" id="{850A8D6F-DE92-86D8-EFBA-A3847CC3B92A}"/>
              </a:ext>
            </a:extLst>
          </p:cNvPr>
          <p:cNvSpPr/>
          <p:nvPr/>
        </p:nvSpPr>
        <p:spPr>
          <a:xfrm>
            <a:off x="5115630" y="4074742"/>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R1</a:t>
            </a:r>
          </a:p>
        </p:txBody>
      </p:sp>
      <p:sp>
        <p:nvSpPr>
          <p:cNvPr id="77" name="Right Arrow 76">
            <a:extLst>
              <a:ext uri="{FF2B5EF4-FFF2-40B4-BE49-F238E27FC236}">
                <a16:creationId xmlns:a16="http://schemas.microsoft.com/office/drawing/2014/main" id="{4BAF8FEE-AD70-76D1-B85E-B1A7FD5F43FA}"/>
              </a:ext>
            </a:extLst>
          </p:cNvPr>
          <p:cNvSpPr/>
          <p:nvPr/>
        </p:nvSpPr>
        <p:spPr>
          <a:xfrm>
            <a:off x="3996211" y="3640945"/>
            <a:ext cx="987105" cy="240030"/>
          </a:xfrm>
          <a:prstGeom prst="rightArrow">
            <a:avLst/>
          </a:prstGeom>
          <a:solidFill>
            <a:srgbClr val="00B050"/>
          </a:solidFill>
          <a:ln>
            <a:solidFill>
              <a:srgbClr val="00B05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VN"/>
          </a:p>
        </p:txBody>
      </p:sp>
      <p:sp>
        <p:nvSpPr>
          <p:cNvPr id="78" name="TextBox 77">
            <a:extLst>
              <a:ext uri="{FF2B5EF4-FFF2-40B4-BE49-F238E27FC236}">
                <a16:creationId xmlns:a16="http://schemas.microsoft.com/office/drawing/2014/main" id="{CBC836B4-4F06-92DE-760F-3A0C2D478574}"/>
              </a:ext>
            </a:extLst>
          </p:cNvPr>
          <p:cNvSpPr txBox="1"/>
          <p:nvPr/>
        </p:nvSpPr>
        <p:spPr>
          <a:xfrm>
            <a:off x="820065" y="5543550"/>
            <a:ext cx="3176145" cy="646331"/>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rtlCol="0">
            <a:spAutoFit/>
          </a:bodyPr>
          <a:lstStyle/>
          <a:p>
            <a:pPr marL="285750" indent="-285750">
              <a:buFont typeface="Wingdings" pitchFamily="2" charset="2"/>
              <a:buChar char="Ø"/>
            </a:pPr>
            <a:r>
              <a:rPr lang="en-VN" dirty="0">
                <a:latin typeface="Lato" panose="020F0502020204030203" pitchFamily="34" charset="0"/>
                <a:ea typeface="Lato" panose="020F0502020204030203" pitchFamily="34" charset="0"/>
                <a:cs typeface="Lato" panose="020F0502020204030203" pitchFamily="34" charset="0"/>
              </a:rPr>
              <a:t>Vi phạm yêu cầu: cha của node đỏ phải là node đen</a:t>
            </a:r>
          </a:p>
        </p:txBody>
      </p:sp>
      <p:sp>
        <p:nvSpPr>
          <p:cNvPr id="79" name="Right Arrow 78">
            <a:extLst>
              <a:ext uri="{FF2B5EF4-FFF2-40B4-BE49-F238E27FC236}">
                <a16:creationId xmlns:a16="http://schemas.microsoft.com/office/drawing/2014/main" id="{4580512F-3C30-15A9-65E6-19E26F260976}"/>
              </a:ext>
            </a:extLst>
          </p:cNvPr>
          <p:cNvSpPr/>
          <p:nvPr/>
        </p:nvSpPr>
        <p:spPr>
          <a:xfrm>
            <a:off x="4078447" y="5746526"/>
            <a:ext cx="987105" cy="240030"/>
          </a:xfrm>
          <a:prstGeom prst="rightArrow">
            <a:avLst/>
          </a:prstGeom>
          <a:solidFill>
            <a:srgbClr val="00B050"/>
          </a:solidFill>
          <a:ln>
            <a:solidFill>
              <a:srgbClr val="00B05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VN"/>
          </a:p>
        </p:txBody>
      </p:sp>
      <p:sp>
        <p:nvSpPr>
          <p:cNvPr id="80" name="TextBox 79">
            <a:extLst>
              <a:ext uri="{FF2B5EF4-FFF2-40B4-BE49-F238E27FC236}">
                <a16:creationId xmlns:a16="http://schemas.microsoft.com/office/drawing/2014/main" id="{380E7E3F-85C9-9616-A78C-F609B3A20681}"/>
              </a:ext>
            </a:extLst>
          </p:cNvPr>
          <p:cNvSpPr txBox="1"/>
          <p:nvPr/>
        </p:nvSpPr>
        <p:spPr>
          <a:xfrm>
            <a:off x="5292584" y="5538164"/>
            <a:ext cx="2626243" cy="646331"/>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rtlCol="0">
            <a:spAutoFit/>
          </a:bodyPr>
          <a:lstStyle/>
          <a:p>
            <a:pPr marL="285750" indent="-285750">
              <a:buFont typeface="Wingdings" pitchFamily="2" charset="2"/>
              <a:buChar char="Ø"/>
            </a:pPr>
            <a:r>
              <a:rPr lang="en-VN" dirty="0">
                <a:latin typeface="Lato" panose="020F0502020204030203" pitchFamily="34" charset="0"/>
                <a:ea typeface="Lato" panose="020F0502020204030203" pitchFamily="34" charset="0"/>
                <a:cs typeface="Lato" panose="020F0502020204030203" pitchFamily="34" charset="0"/>
              </a:rPr>
              <a:t>Quay phải node G</a:t>
            </a:r>
          </a:p>
          <a:p>
            <a:pPr marL="285750" indent="-285750">
              <a:buFont typeface="Wingdings" pitchFamily="2" charset="2"/>
              <a:buChar char="Ø"/>
            </a:pPr>
            <a:r>
              <a:rPr lang="en-VN" dirty="0">
                <a:latin typeface="Lato" panose="020F0502020204030203" pitchFamily="34" charset="0"/>
                <a:ea typeface="Lato" panose="020F0502020204030203" pitchFamily="34" charset="0"/>
                <a:cs typeface="Lato" panose="020F0502020204030203" pitchFamily="34" charset="0"/>
              </a:rPr>
              <a:t>Đổi màu node G và P</a:t>
            </a:r>
          </a:p>
        </p:txBody>
      </p:sp>
    </p:spTree>
    <p:extLst>
      <p:ext uri="{BB962C8B-B14F-4D97-AF65-F5344CB8AC3E}">
        <p14:creationId xmlns:p14="http://schemas.microsoft.com/office/powerpoint/2010/main" val="2313140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3"/>
                                        </p:tgtEl>
                                        <p:attrNameLst>
                                          <p:attrName>style.visibility</p:attrName>
                                        </p:attrNameLst>
                                      </p:cBhvr>
                                      <p:to>
                                        <p:strVal val="visible"/>
                                      </p:to>
                                    </p:set>
                                  </p:childTnLst>
                                </p:cTn>
                              </p:par>
                              <p:par>
                                <p:cTn id="29" presetID="1" presetClass="entr" presetSubtype="0" fill="hold" grpId="0" nodeType="withEffect">
                                  <p:stCondLst>
                                    <p:cond delay="0"/>
                                  </p:stCondLst>
                                  <p:iterate type="lt">
                                    <p:tmAbs val="0"/>
                                  </p:iterate>
                                  <p:childTnLst>
                                    <p:set>
                                      <p:cBhvr>
                                        <p:cTn id="30" dur="1" fill="hold">
                                          <p:stCondLst>
                                            <p:cond delay="0"/>
                                          </p:stCondLst>
                                        </p:cTn>
                                        <p:tgtEl>
                                          <p:spTgt spid="64"/>
                                        </p:tgtEl>
                                        <p:attrNameLst>
                                          <p:attrName>style.visibility</p:attrName>
                                        </p:attrNameLst>
                                      </p:cBhvr>
                                      <p:to>
                                        <p:strVal val="visible"/>
                                      </p:to>
                                    </p:set>
                                  </p:childTnLst>
                                </p:cTn>
                              </p:par>
                              <p:par>
                                <p:cTn id="31" presetID="1" presetClass="entr" presetSubtype="0" fill="hold" grpId="0" nodeType="withEffect">
                                  <p:stCondLst>
                                    <p:cond delay="0"/>
                                  </p:stCondLst>
                                  <p:iterate type="lt">
                                    <p:tmAbs val="0"/>
                                  </p:iterate>
                                  <p:childTnLst>
                                    <p:set>
                                      <p:cBhvr>
                                        <p:cTn id="32" dur="1" fill="hold">
                                          <p:stCondLst>
                                            <p:cond delay="0"/>
                                          </p:stCondLst>
                                        </p:cTn>
                                        <p:tgtEl>
                                          <p:spTgt spid="6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7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6" presetClass="emph" presetSubtype="0" fill="hold" grpId="1" nodeType="clickEffect">
                                  <p:stCondLst>
                                    <p:cond delay="0"/>
                                  </p:stCondLst>
                                  <p:iterate type="lt">
                                    <p:tmPct val="4000"/>
                                  </p:iterate>
                                  <p:childTnLst>
                                    <p:set>
                                      <p:cBhvr override="childStyle">
                                        <p:cTn id="56" dur="500" fill="hold"/>
                                        <p:tgtEl>
                                          <p:spTgt spid="65"/>
                                        </p:tgtEl>
                                        <p:attrNameLst>
                                          <p:attrName>style.color</p:attrName>
                                        </p:attrNameLst>
                                      </p:cBhvr>
                                      <p:to>
                                        <p:clrVal>
                                          <a:srgbClr val="F31407"/>
                                        </p:clrVal>
                                      </p:to>
                                    </p:set>
                                    <p:set>
                                      <p:cBhvr>
                                        <p:cTn id="57" dur="500" fill="hold"/>
                                        <p:tgtEl>
                                          <p:spTgt spid="65"/>
                                        </p:tgtEl>
                                        <p:attrNameLst>
                                          <p:attrName>fillcolor</p:attrName>
                                        </p:attrNameLst>
                                      </p:cBhvr>
                                      <p:to>
                                        <p:clrVal>
                                          <a:srgbClr val="F31407"/>
                                        </p:clrVal>
                                      </p:to>
                                    </p:set>
                                    <p:set>
                                      <p:cBhvr>
                                        <p:cTn id="58" dur="500" fill="hold"/>
                                        <p:tgtEl>
                                          <p:spTgt spid="65"/>
                                        </p:tgtEl>
                                        <p:attrNameLst>
                                          <p:attrName>fill.type</p:attrName>
                                        </p:attrNameLst>
                                      </p:cBhvr>
                                      <p:to>
                                        <p:strVal val="solid"/>
                                      </p:to>
                                    </p:set>
                                  </p:childTnLst>
                                </p:cTn>
                              </p:par>
                              <p:par>
                                <p:cTn id="59" presetID="3" presetClass="emph" presetSubtype="2" fill="hold" grpId="2" nodeType="withEffect">
                                  <p:stCondLst>
                                    <p:cond delay="0"/>
                                  </p:stCondLst>
                                  <p:iterate type="lt">
                                    <p:tmPct val="0"/>
                                  </p:iterate>
                                  <p:childTnLst>
                                    <p:animClr clrSpc="rgb" dir="cw">
                                      <p:cBhvr override="childStyle">
                                        <p:cTn id="60" dur="2000" fill="hold"/>
                                        <p:tgtEl>
                                          <p:spTgt spid="65"/>
                                        </p:tgtEl>
                                        <p:attrNameLst>
                                          <p:attrName>style.color</p:attrName>
                                        </p:attrNameLst>
                                      </p:cBhvr>
                                      <p:to>
                                        <a:schemeClr val="bg1"/>
                                      </p:to>
                                    </p:animClr>
                                  </p:childTnLst>
                                </p:cTn>
                              </p:par>
                              <p:par>
                                <p:cTn id="61" presetID="16" presetClass="emph" presetSubtype="0" fill="hold" grpId="1" nodeType="withEffect">
                                  <p:stCondLst>
                                    <p:cond delay="0"/>
                                  </p:stCondLst>
                                  <p:iterate type="lt">
                                    <p:tmPct val="4000"/>
                                  </p:iterate>
                                  <p:childTnLst>
                                    <p:set>
                                      <p:cBhvr override="childStyle">
                                        <p:cTn id="62" dur="500" fill="hold"/>
                                        <p:tgtEl>
                                          <p:spTgt spid="64"/>
                                        </p:tgtEl>
                                        <p:attrNameLst>
                                          <p:attrName>style.color</p:attrName>
                                        </p:attrNameLst>
                                      </p:cBhvr>
                                      <p:to>
                                        <p:clrVal>
                                          <a:schemeClr val="tx1"/>
                                        </p:clrVal>
                                      </p:to>
                                    </p:set>
                                    <p:set>
                                      <p:cBhvr>
                                        <p:cTn id="63" dur="500" fill="hold"/>
                                        <p:tgtEl>
                                          <p:spTgt spid="64"/>
                                        </p:tgtEl>
                                        <p:attrNameLst>
                                          <p:attrName>fillcolor</p:attrName>
                                        </p:attrNameLst>
                                      </p:cBhvr>
                                      <p:to>
                                        <p:clrVal>
                                          <a:schemeClr val="tx1"/>
                                        </p:clrVal>
                                      </p:to>
                                    </p:set>
                                    <p:set>
                                      <p:cBhvr>
                                        <p:cTn id="64" dur="500" fill="hold"/>
                                        <p:tgtEl>
                                          <p:spTgt spid="64"/>
                                        </p:tgtEl>
                                        <p:attrNameLst>
                                          <p:attrName>fill.type</p:attrName>
                                        </p:attrNameLst>
                                      </p:cBhvr>
                                      <p:to>
                                        <p:strVal val="solid"/>
                                      </p:to>
                                    </p:set>
                                  </p:childTnLst>
                                </p:cTn>
                              </p:par>
                              <p:par>
                                <p:cTn id="65" presetID="3" presetClass="emph" presetSubtype="2" fill="hold" grpId="2" nodeType="withEffect">
                                  <p:stCondLst>
                                    <p:cond delay="0"/>
                                  </p:stCondLst>
                                  <p:iterate type="lt">
                                    <p:tmPct val="0"/>
                                  </p:iterate>
                                  <p:childTnLst>
                                    <p:animClr clrSpc="rgb" dir="cw">
                                      <p:cBhvr override="childStyle">
                                        <p:cTn id="66" dur="2000" fill="hold"/>
                                        <p:tgtEl>
                                          <p:spTgt spid="64"/>
                                        </p:tgtEl>
                                        <p:attrNameLst>
                                          <p:attrName>style.color</p:attrName>
                                        </p:attrNameLst>
                                      </p:cBhvr>
                                      <p:to>
                                        <a:schemeClr val="bg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8" grpId="0" animBg="1"/>
      <p:bldP spid="59" grpId="0" animBg="1"/>
      <p:bldP spid="64" grpId="0" animBg="1"/>
      <p:bldP spid="64" grpId="1" animBg="1"/>
      <p:bldP spid="64" grpId="2" animBg="1"/>
      <p:bldP spid="65" grpId="0" animBg="1"/>
      <p:bldP spid="65" grpId="1" animBg="1"/>
      <p:bldP spid="65" grpId="2" animBg="1"/>
      <p:bldP spid="69" grpId="0" animBg="1"/>
      <p:bldP spid="70" grpId="0" animBg="1"/>
      <p:bldP spid="74" grpId="0" animBg="1"/>
      <p:bldP spid="75" grpId="0" animBg="1"/>
      <p:bldP spid="77" grpId="0" animBg="1"/>
      <p:bldP spid="78" grpId="0" animBg="1"/>
      <p:bldP spid="79" grpId="0" animBg="1"/>
      <p:bldP spid="8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25</a:t>
            </a:fld>
            <a:endParaRPr lang="en-US" dirty="0"/>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lang="en-US" dirty="0"/>
              <a:t>THAO TÁC CƠ BẢN</a:t>
            </a:r>
          </a:p>
        </p:txBody>
      </p:sp>
      <p:sp>
        <p:nvSpPr>
          <p:cNvPr id="3" name="TextBox 2">
            <a:extLst>
              <a:ext uri="{FF2B5EF4-FFF2-40B4-BE49-F238E27FC236}">
                <a16:creationId xmlns:a16="http://schemas.microsoft.com/office/drawing/2014/main" id="{FB2A445E-0F6E-815C-D17A-9F0A8135FE1E}"/>
              </a:ext>
            </a:extLst>
          </p:cNvPr>
          <p:cNvSpPr txBox="1"/>
          <p:nvPr/>
        </p:nvSpPr>
        <p:spPr>
          <a:xfrm>
            <a:off x="682906" y="729204"/>
            <a:ext cx="4780634" cy="707886"/>
          </a:xfrm>
          <a:prstGeom prst="rect">
            <a:avLst/>
          </a:prstGeom>
          <a:noFill/>
        </p:spPr>
        <p:txBody>
          <a:bodyPr wrap="square" rtlCol="0">
            <a:spAutoFit/>
          </a:bodyPr>
          <a:lstStyle/>
          <a:p>
            <a:r>
              <a:rPr lang="en-VN" sz="2000" b="1" dirty="0">
                <a:solidFill>
                  <a:schemeClr val="accent1">
                    <a:lumMod val="50000"/>
                  </a:schemeClr>
                </a:solidFill>
                <a:latin typeface="Lato" panose="020F0502020204030203" pitchFamily="34" charset="0"/>
                <a:ea typeface="Lato" panose="020F0502020204030203" pitchFamily="34" charset="0"/>
                <a:cs typeface="Lato" panose="020F0502020204030203" pitchFamily="34" charset="0"/>
              </a:rPr>
              <a:t>2. Insertion (Thêm node vào cây đỏ đen)</a:t>
            </a:r>
          </a:p>
          <a:p>
            <a:endParaRPr lang="en-VN" sz="2000" b="1" dirty="0">
              <a:solidFill>
                <a:schemeClr val="accent1">
                  <a:lumMod val="50000"/>
                </a:schemeClr>
              </a:solidFill>
            </a:endParaRPr>
          </a:p>
        </p:txBody>
      </p:sp>
      <p:sp>
        <p:nvSpPr>
          <p:cNvPr id="7" name="TextBox 6">
            <a:extLst>
              <a:ext uri="{FF2B5EF4-FFF2-40B4-BE49-F238E27FC236}">
                <a16:creationId xmlns:a16="http://schemas.microsoft.com/office/drawing/2014/main" id="{6C4639FF-C762-3F88-3CE8-48A40412B7B3}"/>
              </a:ext>
            </a:extLst>
          </p:cNvPr>
          <p:cNvSpPr txBox="1"/>
          <p:nvPr/>
        </p:nvSpPr>
        <p:spPr>
          <a:xfrm>
            <a:off x="682906" y="1266610"/>
            <a:ext cx="5820764" cy="400110"/>
          </a:xfrm>
          <a:prstGeom prst="rect">
            <a:avLst/>
          </a:prstGeom>
          <a:noFill/>
        </p:spPr>
        <p:txBody>
          <a:bodyPr wrap="square" rtlCol="0">
            <a:spAutoFit/>
          </a:bodyPr>
          <a:lstStyle/>
          <a:p>
            <a:pPr marL="285750" indent="-285750">
              <a:buClr>
                <a:srgbClr val="C00000"/>
              </a:buClr>
              <a:buFont typeface="Wingdings" pitchFamily="2" charset="2"/>
              <a:buChar char="Ø"/>
            </a:pPr>
            <a:r>
              <a:rPr lang="en-VN" sz="2000" dirty="0">
                <a:solidFill>
                  <a:srgbClr val="C00000"/>
                </a:solidFill>
                <a:latin typeface="Lato" panose="020F0502020204030203" pitchFamily="34" charset="0"/>
                <a:ea typeface="Lato" panose="020F0502020204030203" pitchFamily="34" charset="0"/>
                <a:cs typeface="Lato" panose="020F0502020204030203" pitchFamily="34" charset="0"/>
              </a:rPr>
              <a:t>TH4: </a:t>
            </a:r>
            <a:r>
              <a:rPr lang="en-VN" sz="2000" dirty="0">
                <a:latin typeface="Lato" panose="020F0502020204030203" pitchFamily="34" charset="0"/>
                <a:ea typeface="Lato" panose="020F0502020204030203" pitchFamily="34" charset="0"/>
                <a:cs typeface="Lato" panose="020F0502020204030203" pitchFamily="34" charset="0"/>
              </a:rPr>
              <a:t>P là node đỏ và U là node đen</a:t>
            </a:r>
          </a:p>
        </p:txBody>
      </p:sp>
      <p:sp>
        <p:nvSpPr>
          <p:cNvPr id="12" name="TextBox 11">
            <a:extLst>
              <a:ext uri="{FF2B5EF4-FFF2-40B4-BE49-F238E27FC236}">
                <a16:creationId xmlns:a16="http://schemas.microsoft.com/office/drawing/2014/main" id="{5E47146E-CF86-4C75-DFEA-31B9DD189BB6}"/>
              </a:ext>
            </a:extLst>
          </p:cNvPr>
          <p:cNvSpPr txBox="1"/>
          <p:nvPr/>
        </p:nvSpPr>
        <p:spPr>
          <a:xfrm>
            <a:off x="820066" y="1595246"/>
            <a:ext cx="7800213" cy="493212"/>
          </a:xfrm>
          <a:prstGeom prst="rect">
            <a:avLst/>
          </a:prstGeom>
          <a:noFill/>
        </p:spPr>
        <p:txBody>
          <a:bodyPr wrap="square" rtlCol="0">
            <a:spAutoFit/>
          </a:bodyPr>
          <a:lstStyle/>
          <a:p>
            <a:pPr>
              <a:lnSpc>
                <a:spcPct val="150000"/>
              </a:lnSpc>
            </a:pPr>
            <a:r>
              <a:rPr lang="en-VN" sz="2000" dirty="0">
                <a:solidFill>
                  <a:srgbClr val="FF0000"/>
                </a:solidFill>
                <a:latin typeface="Lato" panose="020F0502020204030203" pitchFamily="34" charset="0"/>
                <a:ea typeface="Lato" panose="020F0502020204030203" pitchFamily="34" charset="0"/>
                <a:cs typeface="Lato" panose="020F0502020204030203" pitchFamily="34" charset="0"/>
              </a:rPr>
              <a:t>2. Left – Right</a:t>
            </a:r>
            <a:r>
              <a:rPr lang="en-VN" sz="20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 P là </a:t>
            </a:r>
            <a:r>
              <a:rPr lang="en-VN" sz="2000" dirty="0">
                <a:solidFill>
                  <a:srgbClr val="00B050"/>
                </a:solidFill>
                <a:latin typeface="Lato" panose="020F0502020204030203" pitchFamily="34" charset="0"/>
                <a:ea typeface="Lato" panose="020F0502020204030203" pitchFamily="34" charset="0"/>
                <a:cs typeface="Lato" panose="020F0502020204030203" pitchFamily="34" charset="0"/>
              </a:rPr>
              <a:t>con trái </a:t>
            </a:r>
            <a:r>
              <a:rPr lang="en-VN" sz="20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của G, N là </a:t>
            </a:r>
            <a:r>
              <a:rPr lang="en-VN" sz="2000" dirty="0">
                <a:solidFill>
                  <a:srgbClr val="BC05B7"/>
                </a:solidFill>
                <a:latin typeface="Lato" panose="020F0502020204030203" pitchFamily="34" charset="0"/>
                <a:ea typeface="Lato" panose="020F0502020204030203" pitchFamily="34" charset="0"/>
                <a:cs typeface="Lato" panose="020F0502020204030203" pitchFamily="34" charset="0"/>
              </a:rPr>
              <a:t>con phải </a:t>
            </a:r>
            <a:r>
              <a:rPr lang="en-VN" sz="20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của P</a:t>
            </a:r>
          </a:p>
        </p:txBody>
      </p:sp>
      <p:sp>
        <p:nvSpPr>
          <p:cNvPr id="6" name="Oval 5">
            <a:extLst>
              <a:ext uri="{FF2B5EF4-FFF2-40B4-BE49-F238E27FC236}">
                <a16:creationId xmlns:a16="http://schemas.microsoft.com/office/drawing/2014/main" id="{8F1D17D6-CEBF-A6B3-5958-0787578E27CF}"/>
              </a:ext>
            </a:extLst>
          </p:cNvPr>
          <p:cNvSpPr/>
          <p:nvPr/>
        </p:nvSpPr>
        <p:spPr>
          <a:xfrm>
            <a:off x="1859547" y="4108246"/>
            <a:ext cx="449977"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N</a:t>
            </a:r>
          </a:p>
        </p:txBody>
      </p:sp>
      <p:sp>
        <p:nvSpPr>
          <p:cNvPr id="8" name="Oval 7">
            <a:extLst>
              <a:ext uri="{FF2B5EF4-FFF2-40B4-BE49-F238E27FC236}">
                <a16:creationId xmlns:a16="http://schemas.microsoft.com/office/drawing/2014/main" id="{335A9E16-23C4-4E5B-8915-73352C697AE4}"/>
              </a:ext>
            </a:extLst>
          </p:cNvPr>
          <p:cNvSpPr/>
          <p:nvPr/>
        </p:nvSpPr>
        <p:spPr>
          <a:xfrm>
            <a:off x="1782739" y="3440890"/>
            <a:ext cx="449977"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P</a:t>
            </a:r>
          </a:p>
        </p:txBody>
      </p:sp>
      <p:sp>
        <p:nvSpPr>
          <p:cNvPr id="9" name="Triangle 8">
            <a:extLst>
              <a:ext uri="{FF2B5EF4-FFF2-40B4-BE49-F238E27FC236}">
                <a16:creationId xmlns:a16="http://schemas.microsoft.com/office/drawing/2014/main" id="{ECD7C5DA-2544-B630-3110-282ED925D582}"/>
              </a:ext>
            </a:extLst>
          </p:cNvPr>
          <p:cNvSpPr/>
          <p:nvPr/>
        </p:nvSpPr>
        <p:spPr>
          <a:xfrm>
            <a:off x="2371592" y="4074742"/>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R4</a:t>
            </a:r>
          </a:p>
        </p:txBody>
      </p:sp>
      <p:sp>
        <p:nvSpPr>
          <p:cNvPr id="10" name="Triangle 9">
            <a:extLst>
              <a:ext uri="{FF2B5EF4-FFF2-40B4-BE49-F238E27FC236}">
                <a16:creationId xmlns:a16="http://schemas.microsoft.com/office/drawing/2014/main" id="{062BFB17-7DF0-E35E-D561-EFC1015A2D27}"/>
              </a:ext>
            </a:extLst>
          </p:cNvPr>
          <p:cNvSpPr/>
          <p:nvPr/>
        </p:nvSpPr>
        <p:spPr>
          <a:xfrm>
            <a:off x="998476" y="4052061"/>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R1</a:t>
            </a:r>
          </a:p>
        </p:txBody>
      </p:sp>
      <p:cxnSp>
        <p:nvCxnSpPr>
          <p:cNvPr id="11" name="Straight Arrow Connector 10">
            <a:extLst>
              <a:ext uri="{FF2B5EF4-FFF2-40B4-BE49-F238E27FC236}">
                <a16:creationId xmlns:a16="http://schemas.microsoft.com/office/drawing/2014/main" id="{24B82D8F-0AE8-B6CE-5EE1-163B9036FC13}"/>
              </a:ext>
            </a:extLst>
          </p:cNvPr>
          <p:cNvCxnSpPr>
            <a:cxnSpLocks/>
            <a:stCxn id="16" idx="4"/>
            <a:endCxn id="17" idx="0"/>
          </p:cNvCxnSpPr>
          <p:nvPr/>
        </p:nvCxnSpPr>
        <p:spPr>
          <a:xfrm>
            <a:off x="2391908" y="3189632"/>
            <a:ext cx="290786"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AD445B5-BB22-9716-B970-8564EF4DC66E}"/>
              </a:ext>
            </a:extLst>
          </p:cNvPr>
          <p:cNvCxnSpPr>
            <a:cxnSpLocks/>
            <a:stCxn id="16" idx="4"/>
            <a:endCxn id="8" idx="0"/>
          </p:cNvCxnSpPr>
          <p:nvPr/>
        </p:nvCxnSpPr>
        <p:spPr>
          <a:xfrm flipH="1">
            <a:off x="2007728" y="3189632"/>
            <a:ext cx="384180"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3EA38A8-566C-DA56-938C-0943E39B1C44}"/>
              </a:ext>
            </a:extLst>
          </p:cNvPr>
          <p:cNvCxnSpPr>
            <a:cxnSpLocks/>
            <a:stCxn id="8" idx="4"/>
            <a:endCxn id="6" idx="0"/>
          </p:cNvCxnSpPr>
          <p:nvPr/>
        </p:nvCxnSpPr>
        <p:spPr>
          <a:xfrm>
            <a:off x="2007728" y="3841000"/>
            <a:ext cx="76808" cy="2672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F79EAEE-0C31-99BE-FE62-D2DFAB9FCA9A}"/>
              </a:ext>
            </a:extLst>
          </p:cNvPr>
          <p:cNvCxnSpPr>
            <a:cxnSpLocks/>
            <a:stCxn id="8" idx="4"/>
            <a:endCxn id="10" idx="0"/>
          </p:cNvCxnSpPr>
          <p:nvPr/>
        </p:nvCxnSpPr>
        <p:spPr>
          <a:xfrm flipH="1">
            <a:off x="1338065" y="3841000"/>
            <a:ext cx="669663" cy="2110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184C720B-1868-6B57-9DDC-11B741C99B53}"/>
              </a:ext>
            </a:extLst>
          </p:cNvPr>
          <p:cNvSpPr/>
          <p:nvPr/>
        </p:nvSpPr>
        <p:spPr>
          <a:xfrm>
            <a:off x="2166919" y="2789522"/>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G</a:t>
            </a:r>
          </a:p>
        </p:txBody>
      </p:sp>
      <p:sp>
        <p:nvSpPr>
          <p:cNvPr id="17" name="Oval 16">
            <a:extLst>
              <a:ext uri="{FF2B5EF4-FFF2-40B4-BE49-F238E27FC236}">
                <a16:creationId xmlns:a16="http://schemas.microsoft.com/office/drawing/2014/main" id="{05E15139-4CD3-4A16-7E42-2041D25DBDDC}"/>
              </a:ext>
            </a:extLst>
          </p:cNvPr>
          <p:cNvSpPr/>
          <p:nvPr/>
        </p:nvSpPr>
        <p:spPr>
          <a:xfrm>
            <a:off x="2457705" y="3440890"/>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U</a:t>
            </a:r>
          </a:p>
        </p:txBody>
      </p:sp>
      <p:sp>
        <p:nvSpPr>
          <p:cNvPr id="18" name="Triangle 17">
            <a:extLst>
              <a:ext uri="{FF2B5EF4-FFF2-40B4-BE49-F238E27FC236}">
                <a16:creationId xmlns:a16="http://schemas.microsoft.com/office/drawing/2014/main" id="{D6C94027-EA28-85C9-796A-D012C69BE5ED}"/>
              </a:ext>
            </a:extLst>
          </p:cNvPr>
          <p:cNvSpPr/>
          <p:nvPr/>
        </p:nvSpPr>
        <p:spPr>
          <a:xfrm>
            <a:off x="3127147" y="4074742"/>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R5</a:t>
            </a:r>
          </a:p>
        </p:txBody>
      </p:sp>
      <p:cxnSp>
        <p:nvCxnSpPr>
          <p:cNvPr id="19" name="Straight Arrow Connector 18">
            <a:extLst>
              <a:ext uri="{FF2B5EF4-FFF2-40B4-BE49-F238E27FC236}">
                <a16:creationId xmlns:a16="http://schemas.microsoft.com/office/drawing/2014/main" id="{1E052443-1CA0-176E-091E-6733C503300A}"/>
              </a:ext>
            </a:extLst>
          </p:cNvPr>
          <p:cNvCxnSpPr>
            <a:cxnSpLocks/>
            <a:stCxn id="17" idx="4"/>
            <a:endCxn id="9" idx="0"/>
          </p:cNvCxnSpPr>
          <p:nvPr/>
        </p:nvCxnSpPr>
        <p:spPr>
          <a:xfrm>
            <a:off x="2682694" y="3841000"/>
            <a:ext cx="28487"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729482F-53FD-AE36-8669-8E29F80E41D8}"/>
              </a:ext>
            </a:extLst>
          </p:cNvPr>
          <p:cNvCxnSpPr>
            <a:cxnSpLocks/>
            <a:stCxn id="17" idx="4"/>
            <a:endCxn id="18" idx="0"/>
          </p:cNvCxnSpPr>
          <p:nvPr/>
        </p:nvCxnSpPr>
        <p:spPr>
          <a:xfrm>
            <a:off x="2682694" y="3841000"/>
            <a:ext cx="784042"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riangle 29">
            <a:extLst>
              <a:ext uri="{FF2B5EF4-FFF2-40B4-BE49-F238E27FC236}">
                <a16:creationId xmlns:a16="http://schemas.microsoft.com/office/drawing/2014/main" id="{E49D54E7-321E-4D07-4227-8A4123E21746}"/>
              </a:ext>
            </a:extLst>
          </p:cNvPr>
          <p:cNvSpPr/>
          <p:nvPr/>
        </p:nvSpPr>
        <p:spPr>
          <a:xfrm>
            <a:off x="1383348" y="4885968"/>
            <a:ext cx="679178"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R2</a:t>
            </a:r>
          </a:p>
        </p:txBody>
      </p:sp>
      <p:sp>
        <p:nvSpPr>
          <p:cNvPr id="31" name="Triangle 30">
            <a:extLst>
              <a:ext uri="{FF2B5EF4-FFF2-40B4-BE49-F238E27FC236}">
                <a16:creationId xmlns:a16="http://schemas.microsoft.com/office/drawing/2014/main" id="{C0E23BEE-EE7D-FC6B-A4D9-BAB38B4EF629}"/>
              </a:ext>
            </a:extLst>
          </p:cNvPr>
          <p:cNvSpPr/>
          <p:nvPr/>
        </p:nvSpPr>
        <p:spPr>
          <a:xfrm>
            <a:off x="2084536" y="4885968"/>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R3</a:t>
            </a:r>
          </a:p>
        </p:txBody>
      </p:sp>
      <p:cxnSp>
        <p:nvCxnSpPr>
          <p:cNvPr id="32" name="Straight Arrow Connector 31">
            <a:extLst>
              <a:ext uri="{FF2B5EF4-FFF2-40B4-BE49-F238E27FC236}">
                <a16:creationId xmlns:a16="http://schemas.microsoft.com/office/drawing/2014/main" id="{771EF568-C00E-1A9C-5DAF-D055B0C0CE11}"/>
              </a:ext>
            </a:extLst>
          </p:cNvPr>
          <p:cNvCxnSpPr>
            <a:cxnSpLocks/>
            <a:endCxn id="30" idx="0"/>
          </p:cNvCxnSpPr>
          <p:nvPr/>
        </p:nvCxnSpPr>
        <p:spPr>
          <a:xfrm flipH="1">
            <a:off x="1722937" y="4463177"/>
            <a:ext cx="341385" cy="4227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AEC20E6B-74F4-33BA-895C-14840CEED043}"/>
              </a:ext>
            </a:extLst>
          </p:cNvPr>
          <p:cNvCxnSpPr>
            <a:cxnSpLocks/>
            <a:endCxn id="31" idx="0"/>
          </p:cNvCxnSpPr>
          <p:nvPr/>
        </p:nvCxnSpPr>
        <p:spPr>
          <a:xfrm>
            <a:off x="2107737" y="4519362"/>
            <a:ext cx="316388" cy="3666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31FC058D-3493-7293-5DB5-C2ECEA28E690}"/>
              </a:ext>
            </a:extLst>
          </p:cNvPr>
          <p:cNvCxnSpPr>
            <a:cxnSpLocks/>
            <a:endCxn id="16" idx="0"/>
          </p:cNvCxnSpPr>
          <p:nvPr/>
        </p:nvCxnSpPr>
        <p:spPr>
          <a:xfrm flipH="1">
            <a:off x="2391908" y="2402978"/>
            <a:ext cx="290785" cy="386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7" name="Right Arrow 76">
            <a:extLst>
              <a:ext uri="{FF2B5EF4-FFF2-40B4-BE49-F238E27FC236}">
                <a16:creationId xmlns:a16="http://schemas.microsoft.com/office/drawing/2014/main" id="{4BAF8FEE-AD70-76D1-B85E-B1A7FD5F43FA}"/>
              </a:ext>
            </a:extLst>
          </p:cNvPr>
          <p:cNvSpPr/>
          <p:nvPr/>
        </p:nvSpPr>
        <p:spPr>
          <a:xfrm>
            <a:off x="4274158" y="3641435"/>
            <a:ext cx="987105" cy="240030"/>
          </a:xfrm>
          <a:prstGeom prst="rightArrow">
            <a:avLst/>
          </a:prstGeom>
          <a:solidFill>
            <a:srgbClr val="00B050"/>
          </a:solidFill>
          <a:ln>
            <a:solidFill>
              <a:srgbClr val="00B05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VN"/>
          </a:p>
        </p:txBody>
      </p:sp>
      <p:sp>
        <p:nvSpPr>
          <p:cNvPr id="78" name="TextBox 77">
            <a:extLst>
              <a:ext uri="{FF2B5EF4-FFF2-40B4-BE49-F238E27FC236}">
                <a16:creationId xmlns:a16="http://schemas.microsoft.com/office/drawing/2014/main" id="{CBC836B4-4F06-92DE-760F-3A0C2D478574}"/>
              </a:ext>
            </a:extLst>
          </p:cNvPr>
          <p:cNvSpPr txBox="1"/>
          <p:nvPr/>
        </p:nvSpPr>
        <p:spPr>
          <a:xfrm>
            <a:off x="820065" y="5543550"/>
            <a:ext cx="3176145" cy="646331"/>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rtlCol="0">
            <a:spAutoFit/>
          </a:bodyPr>
          <a:lstStyle/>
          <a:p>
            <a:pPr marL="285750" indent="-285750">
              <a:buFont typeface="Wingdings" pitchFamily="2" charset="2"/>
              <a:buChar char="Ø"/>
            </a:pPr>
            <a:r>
              <a:rPr lang="en-VN" dirty="0">
                <a:latin typeface="Lato" panose="020F0502020204030203" pitchFamily="34" charset="0"/>
                <a:ea typeface="Lato" panose="020F0502020204030203" pitchFamily="34" charset="0"/>
                <a:cs typeface="Lato" panose="020F0502020204030203" pitchFamily="34" charset="0"/>
              </a:rPr>
              <a:t>Vi phạm yêu cầu: cha của node đỏ phải là node đen</a:t>
            </a:r>
          </a:p>
        </p:txBody>
      </p:sp>
      <p:sp>
        <p:nvSpPr>
          <p:cNvPr id="79" name="Right Arrow 78">
            <a:extLst>
              <a:ext uri="{FF2B5EF4-FFF2-40B4-BE49-F238E27FC236}">
                <a16:creationId xmlns:a16="http://schemas.microsoft.com/office/drawing/2014/main" id="{4580512F-3C30-15A9-65E6-19E26F260976}"/>
              </a:ext>
            </a:extLst>
          </p:cNvPr>
          <p:cNvSpPr/>
          <p:nvPr/>
        </p:nvSpPr>
        <p:spPr>
          <a:xfrm>
            <a:off x="4078447" y="5746526"/>
            <a:ext cx="987105" cy="240030"/>
          </a:xfrm>
          <a:prstGeom prst="rightArrow">
            <a:avLst/>
          </a:prstGeom>
          <a:solidFill>
            <a:srgbClr val="00B050"/>
          </a:solidFill>
          <a:ln>
            <a:solidFill>
              <a:srgbClr val="00B05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VN"/>
          </a:p>
        </p:txBody>
      </p:sp>
      <p:sp>
        <p:nvSpPr>
          <p:cNvPr id="80" name="TextBox 79">
            <a:extLst>
              <a:ext uri="{FF2B5EF4-FFF2-40B4-BE49-F238E27FC236}">
                <a16:creationId xmlns:a16="http://schemas.microsoft.com/office/drawing/2014/main" id="{380E7E3F-85C9-9616-A78C-F609B3A20681}"/>
              </a:ext>
            </a:extLst>
          </p:cNvPr>
          <p:cNvSpPr txBox="1"/>
          <p:nvPr/>
        </p:nvSpPr>
        <p:spPr>
          <a:xfrm>
            <a:off x="5292584" y="5687016"/>
            <a:ext cx="2244235" cy="369332"/>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rtlCol="0">
            <a:spAutoFit/>
          </a:bodyPr>
          <a:lstStyle/>
          <a:p>
            <a:pPr marL="285750" indent="-285750">
              <a:buFont typeface="Wingdings" pitchFamily="2" charset="2"/>
              <a:buChar char="Ø"/>
            </a:pPr>
            <a:r>
              <a:rPr lang="en-VN" dirty="0">
                <a:latin typeface="Lato" panose="020F0502020204030203" pitchFamily="34" charset="0"/>
                <a:ea typeface="Lato" panose="020F0502020204030203" pitchFamily="34" charset="0"/>
                <a:cs typeface="Lato" panose="020F0502020204030203" pitchFamily="34" charset="0"/>
              </a:rPr>
              <a:t>Quay trái node P</a:t>
            </a:r>
          </a:p>
        </p:txBody>
      </p:sp>
      <p:sp>
        <p:nvSpPr>
          <p:cNvPr id="23" name="Oval 22">
            <a:extLst>
              <a:ext uri="{FF2B5EF4-FFF2-40B4-BE49-F238E27FC236}">
                <a16:creationId xmlns:a16="http://schemas.microsoft.com/office/drawing/2014/main" id="{41828563-27C6-AE6E-69EF-F5B77ECA992A}"/>
              </a:ext>
            </a:extLst>
          </p:cNvPr>
          <p:cNvSpPr/>
          <p:nvPr/>
        </p:nvSpPr>
        <p:spPr>
          <a:xfrm>
            <a:off x="5742528" y="4092026"/>
            <a:ext cx="449977"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P</a:t>
            </a:r>
          </a:p>
        </p:txBody>
      </p:sp>
      <p:sp>
        <p:nvSpPr>
          <p:cNvPr id="24" name="Oval 23">
            <a:extLst>
              <a:ext uri="{FF2B5EF4-FFF2-40B4-BE49-F238E27FC236}">
                <a16:creationId xmlns:a16="http://schemas.microsoft.com/office/drawing/2014/main" id="{D475E326-8C01-8E64-81E5-B403150DEACE}"/>
              </a:ext>
            </a:extLst>
          </p:cNvPr>
          <p:cNvSpPr/>
          <p:nvPr/>
        </p:nvSpPr>
        <p:spPr>
          <a:xfrm>
            <a:off x="6411876" y="3440890"/>
            <a:ext cx="449977"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N</a:t>
            </a:r>
          </a:p>
        </p:txBody>
      </p:sp>
      <p:sp>
        <p:nvSpPr>
          <p:cNvPr id="25" name="Triangle 24">
            <a:extLst>
              <a:ext uri="{FF2B5EF4-FFF2-40B4-BE49-F238E27FC236}">
                <a16:creationId xmlns:a16="http://schemas.microsoft.com/office/drawing/2014/main" id="{3C6311F3-F929-C99D-64C0-6BE4CF72B888}"/>
              </a:ext>
            </a:extLst>
          </p:cNvPr>
          <p:cNvSpPr/>
          <p:nvPr/>
        </p:nvSpPr>
        <p:spPr>
          <a:xfrm>
            <a:off x="7000729" y="4074742"/>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R4</a:t>
            </a:r>
          </a:p>
        </p:txBody>
      </p:sp>
      <p:sp>
        <p:nvSpPr>
          <p:cNvPr id="26" name="Triangle 25">
            <a:extLst>
              <a:ext uri="{FF2B5EF4-FFF2-40B4-BE49-F238E27FC236}">
                <a16:creationId xmlns:a16="http://schemas.microsoft.com/office/drawing/2014/main" id="{A14830C3-A5EB-E256-1E03-C9D91A8F1A42}"/>
              </a:ext>
            </a:extLst>
          </p:cNvPr>
          <p:cNvSpPr/>
          <p:nvPr/>
        </p:nvSpPr>
        <p:spPr>
          <a:xfrm>
            <a:off x="6245174" y="4075030"/>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R3</a:t>
            </a:r>
          </a:p>
        </p:txBody>
      </p:sp>
      <p:cxnSp>
        <p:nvCxnSpPr>
          <p:cNvPr id="27" name="Straight Arrow Connector 26">
            <a:extLst>
              <a:ext uri="{FF2B5EF4-FFF2-40B4-BE49-F238E27FC236}">
                <a16:creationId xmlns:a16="http://schemas.microsoft.com/office/drawing/2014/main" id="{ED7D465E-6D24-2BBF-0428-BB73E58685F1}"/>
              </a:ext>
            </a:extLst>
          </p:cNvPr>
          <p:cNvCxnSpPr>
            <a:cxnSpLocks/>
            <a:stCxn id="35" idx="4"/>
            <a:endCxn id="36" idx="0"/>
          </p:cNvCxnSpPr>
          <p:nvPr/>
        </p:nvCxnSpPr>
        <p:spPr>
          <a:xfrm>
            <a:off x="7021045" y="3189632"/>
            <a:ext cx="290786"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2D7D580-2C2E-1865-85A2-FBDAB6472DC8}"/>
              </a:ext>
            </a:extLst>
          </p:cNvPr>
          <p:cNvCxnSpPr>
            <a:cxnSpLocks/>
            <a:stCxn id="35" idx="4"/>
            <a:endCxn id="24" idx="0"/>
          </p:cNvCxnSpPr>
          <p:nvPr/>
        </p:nvCxnSpPr>
        <p:spPr>
          <a:xfrm flipH="1">
            <a:off x="6636865" y="3189632"/>
            <a:ext cx="384180"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89646B84-FFC9-7AD0-99A9-8FECA84D6789}"/>
              </a:ext>
            </a:extLst>
          </p:cNvPr>
          <p:cNvCxnSpPr>
            <a:cxnSpLocks/>
            <a:stCxn id="24" idx="4"/>
            <a:endCxn id="23" idx="0"/>
          </p:cNvCxnSpPr>
          <p:nvPr/>
        </p:nvCxnSpPr>
        <p:spPr>
          <a:xfrm flipH="1">
            <a:off x="5967517" y="3841000"/>
            <a:ext cx="669348" cy="2510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E0AF1E51-E514-0404-D16D-A92724A3C74B}"/>
              </a:ext>
            </a:extLst>
          </p:cNvPr>
          <p:cNvCxnSpPr>
            <a:cxnSpLocks/>
            <a:stCxn id="24" idx="4"/>
            <a:endCxn id="26" idx="0"/>
          </p:cNvCxnSpPr>
          <p:nvPr/>
        </p:nvCxnSpPr>
        <p:spPr>
          <a:xfrm flipH="1">
            <a:off x="6584763" y="3841000"/>
            <a:ext cx="52102" cy="2340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88240023-7057-90A2-4FA4-5DFF8D398BFC}"/>
              </a:ext>
            </a:extLst>
          </p:cNvPr>
          <p:cNvSpPr/>
          <p:nvPr/>
        </p:nvSpPr>
        <p:spPr>
          <a:xfrm>
            <a:off x="6796056" y="2789522"/>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G</a:t>
            </a:r>
          </a:p>
        </p:txBody>
      </p:sp>
      <p:sp>
        <p:nvSpPr>
          <p:cNvPr id="36" name="Oval 35">
            <a:extLst>
              <a:ext uri="{FF2B5EF4-FFF2-40B4-BE49-F238E27FC236}">
                <a16:creationId xmlns:a16="http://schemas.microsoft.com/office/drawing/2014/main" id="{7F1C6DC9-ACC6-62C1-CA64-3049FE0D4B21}"/>
              </a:ext>
            </a:extLst>
          </p:cNvPr>
          <p:cNvSpPr/>
          <p:nvPr/>
        </p:nvSpPr>
        <p:spPr>
          <a:xfrm>
            <a:off x="7086842" y="3440890"/>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U</a:t>
            </a:r>
          </a:p>
        </p:txBody>
      </p:sp>
      <p:sp>
        <p:nvSpPr>
          <p:cNvPr id="37" name="Triangle 36">
            <a:extLst>
              <a:ext uri="{FF2B5EF4-FFF2-40B4-BE49-F238E27FC236}">
                <a16:creationId xmlns:a16="http://schemas.microsoft.com/office/drawing/2014/main" id="{FB4394DE-9C14-2CE1-851E-405CBBC173AB}"/>
              </a:ext>
            </a:extLst>
          </p:cNvPr>
          <p:cNvSpPr/>
          <p:nvPr/>
        </p:nvSpPr>
        <p:spPr>
          <a:xfrm>
            <a:off x="7756284" y="4074742"/>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R5</a:t>
            </a:r>
          </a:p>
        </p:txBody>
      </p:sp>
      <p:cxnSp>
        <p:nvCxnSpPr>
          <p:cNvPr id="38" name="Straight Arrow Connector 37">
            <a:extLst>
              <a:ext uri="{FF2B5EF4-FFF2-40B4-BE49-F238E27FC236}">
                <a16:creationId xmlns:a16="http://schemas.microsoft.com/office/drawing/2014/main" id="{0ED52576-2E25-F115-7624-050EF7DFE8A2}"/>
              </a:ext>
            </a:extLst>
          </p:cNvPr>
          <p:cNvCxnSpPr>
            <a:cxnSpLocks/>
            <a:stCxn id="36" idx="4"/>
            <a:endCxn id="25" idx="0"/>
          </p:cNvCxnSpPr>
          <p:nvPr/>
        </p:nvCxnSpPr>
        <p:spPr>
          <a:xfrm>
            <a:off x="7311831" y="3841000"/>
            <a:ext cx="28487"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53F4F85A-0C73-07B4-B83B-F3BDBBCEC139}"/>
              </a:ext>
            </a:extLst>
          </p:cNvPr>
          <p:cNvCxnSpPr>
            <a:cxnSpLocks/>
            <a:stCxn id="36" idx="4"/>
            <a:endCxn id="37" idx="0"/>
          </p:cNvCxnSpPr>
          <p:nvPr/>
        </p:nvCxnSpPr>
        <p:spPr>
          <a:xfrm>
            <a:off x="7311831" y="3841000"/>
            <a:ext cx="784042"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Triangle 39">
            <a:extLst>
              <a:ext uri="{FF2B5EF4-FFF2-40B4-BE49-F238E27FC236}">
                <a16:creationId xmlns:a16="http://schemas.microsoft.com/office/drawing/2014/main" id="{8D1F3AD8-652D-4BD2-D618-BF2E514038EF}"/>
              </a:ext>
            </a:extLst>
          </p:cNvPr>
          <p:cNvSpPr/>
          <p:nvPr/>
        </p:nvSpPr>
        <p:spPr>
          <a:xfrm>
            <a:off x="5281316" y="4874962"/>
            <a:ext cx="679178"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R1</a:t>
            </a:r>
          </a:p>
        </p:txBody>
      </p:sp>
      <p:sp>
        <p:nvSpPr>
          <p:cNvPr id="41" name="Triangle 40">
            <a:extLst>
              <a:ext uri="{FF2B5EF4-FFF2-40B4-BE49-F238E27FC236}">
                <a16:creationId xmlns:a16="http://schemas.microsoft.com/office/drawing/2014/main" id="{3070B701-ABA5-4BBC-EBCE-E92A3AED4091}"/>
              </a:ext>
            </a:extLst>
          </p:cNvPr>
          <p:cNvSpPr/>
          <p:nvPr/>
        </p:nvSpPr>
        <p:spPr>
          <a:xfrm>
            <a:off x="5982504" y="4874962"/>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R2</a:t>
            </a:r>
          </a:p>
        </p:txBody>
      </p:sp>
      <p:cxnSp>
        <p:nvCxnSpPr>
          <p:cNvPr id="42" name="Straight Arrow Connector 41">
            <a:extLst>
              <a:ext uri="{FF2B5EF4-FFF2-40B4-BE49-F238E27FC236}">
                <a16:creationId xmlns:a16="http://schemas.microsoft.com/office/drawing/2014/main" id="{F3E5A74E-5321-9740-4AA6-2639652C073B}"/>
              </a:ext>
            </a:extLst>
          </p:cNvPr>
          <p:cNvCxnSpPr>
            <a:cxnSpLocks/>
            <a:endCxn id="40" idx="0"/>
          </p:cNvCxnSpPr>
          <p:nvPr/>
        </p:nvCxnSpPr>
        <p:spPr>
          <a:xfrm flipH="1">
            <a:off x="5620905" y="4452171"/>
            <a:ext cx="341385" cy="4227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134AD508-DAC0-02C5-EC7A-9D8098F67843}"/>
              </a:ext>
            </a:extLst>
          </p:cNvPr>
          <p:cNvCxnSpPr>
            <a:cxnSpLocks/>
            <a:endCxn id="41" idx="0"/>
          </p:cNvCxnSpPr>
          <p:nvPr/>
        </p:nvCxnSpPr>
        <p:spPr>
          <a:xfrm>
            <a:off x="6005705" y="4508356"/>
            <a:ext cx="316388" cy="3666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B6006947-0554-94F2-D17C-445361B6B168}"/>
              </a:ext>
            </a:extLst>
          </p:cNvPr>
          <p:cNvCxnSpPr>
            <a:cxnSpLocks/>
            <a:endCxn id="35" idx="0"/>
          </p:cNvCxnSpPr>
          <p:nvPr/>
        </p:nvCxnSpPr>
        <p:spPr>
          <a:xfrm flipH="1">
            <a:off x="7021045" y="2402978"/>
            <a:ext cx="290785" cy="386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FBE24A88-3E3B-8ED3-90A0-ED149DB06BB5}"/>
              </a:ext>
            </a:extLst>
          </p:cNvPr>
          <p:cNvSpPr txBox="1"/>
          <p:nvPr/>
        </p:nvSpPr>
        <p:spPr>
          <a:xfrm>
            <a:off x="3139381" y="2481355"/>
            <a:ext cx="3068393" cy="369332"/>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rtlCol="0">
            <a:spAutoFit/>
          </a:bodyPr>
          <a:lstStyle/>
          <a:p>
            <a:pPr marL="285750" indent="-285750">
              <a:buFont typeface="Wingdings" pitchFamily="2" charset="2"/>
              <a:buChar char="Ø"/>
            </a:pPr>
            <a:r>
              <a:rPr lang="en-VN" dirty="0">
                <a:latin typeface="Lato" panose="020F0502020204030203" pitchFamily="34" charset="0"/>
                <a:ea typeface="Lato" panose="020F0502020204030203" pitchFamily="34" charset="0"/>
                <a:cs typeface="Lato" panose="020F0502020204030203" pitchFamily="34" charset="0"/>
              </a:rPr>
              <a:t>Thực hiện như </a:t>
            </a:r>
            <a:r>
              <a:rPr lang="en-VN" dirty="0">
                <a:solidFill>
                  <a:srgbClr val="FF0000"/>
                </a:solidFill>
                <a:latin typeface="Lato" panose="020F0502020204030203" pitchFamily="34" charset="0"/>
                <a:ea typeface="Lato" panose="020F0502020204030203" pitchFamily="34" charset="0"/>
                <a:cs typeface="Lato" panose="020F0502020204030203" pitchFamily="34" charset="0"/>
              </a:rPr>
              <a:t>Left - Left</a:t>
            </a:r>
          </a:p>
        </p:txBody>
      </p:sp>
    </p:spTree>
    <p:extLst>
      <p:ext uri="{BB962C8B-B14F-4D97-AF65-F5344CB8AC3E}">
        <p14:creationId xmlns:p14="http://schemas.microsoft.com/office/powerpoint/2010/main" val="535352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P spid="78" grpId="0" animBg="1"/>
      <p:bldP spid="79" grpId="0" animBg="1"/>
      <p:bldP spid="80" grpId="0" animBg="1"/>
      <p:bldP spid="23" grpId="0" animBg="1"/>
      <p:bldP spid="24" grpId="0" animBg="1"/>
      <p:bldP spid="25" grpId="0" animBg="1"/>
      <p:bldP spid="26" grpId="0" animBg="1"/>
      <p:bldP spid="35" grpId="0" animBg="1"/>
      <p:bldP spid="36" grpId="0" animBg="1"/>
      <p:bldP spid="37" grpId="0" animBg="1"/>
      <p:bldP spid="40" grpId="0" animBg="1"/>
      <p:bldP spid="41" grpId="0" animBg="1"/>
      <p:bldP spid="4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26</a:t>
            </a:fld>
            <a:endParaRPr lang="en-US" dirty="0"/>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lang="en-US" dirty="0"/>
              <a:t>THAO TÁC CƠ BẢN</a:t>
            </a:r>
          </a:p>
        </p:txBody>
      </p:sp>
      <p:sp>
        <p:nvSpPr>
          <p:cNvPr id="3" name="TextBox 2">
            <a:extLst>
              <a:ext uri="{FF2B5EF4-FFF2-40B4-BE49-F238E27FC236}">
                <a16:creationId xmlns:a16="http://schemas.microsoft.com/office/drawing/2014/main" id="{FB2A445E-0F6E-815C-D17A-9F0A8135FE1E}"/>
              </a:ext>
            </a:extLst>
          </p:cNvPr>
          <p:cNvSpPr txBox="1"/>
          <p:nvPr/>
        </p:nvSpPr>
        <p:spPr>
          <a:xfrm>
            <a:off x="682906" y="729204"/>
            <a:ext cx="4780634" cy="707886"/>
          </a:xfrm>
          <a:prstGeom prst="rect">
            <a:avLst/>
          </a:prstGeom>
          <a:noFill/>
        </p:spPr>
        <p:txBody>
          <a:bodyPr wrap="square" rtlCol="0">
            <a:spAutoFit/>
          </a:bodyPr>
          <a:lstStyle/>
          <a:p>
            <a:r>
              <a:rPr lang="en-VN" sz="2000" b="1" dirty="0">
                <a:solidFill>
                  <a:schemeClr val="accent1">
                    <a:lumMod val="50000"/>
                  </a:schemeClr>
                </a:solidFill>
                <a:latin typeface="Lato" panose="020F0502020204030203" pitchFamily="34" charset="0"/>
                <a:ea typeface="Lato" panose="020F0502020204030203" pitchFamily="34" charset="0"/>
                <a:cs typeface="Lato" panose="020F0502020204030203" pitchFamily="34" charset="0"/>
              </a:rPr>
              <a:t>2. Insertion (Thêm node vào cây đỏ đen)</a:t>
            </a:r>
          </a:p>
          <a:p>
            <a:endParaRPr lang="en-VN" sz="2000" b="1" dirty="0">
              <a:solidFill>
                <a:schemeClr val="accent1">
                  <a:lumMod val="50000"/>
                </a:schemeClr>
              </a:solidFill>
            </a:endParaRPr>
          </a:p>
        </p:txBody>
      </p:sp>
      <p:sp>
        <p:nvSpPr>
          <p:cNvPr id="7" name="TextBox 6">
            <a:extLst>
              <a:ext uri="{FF2B5EF4-FFF2-40B4-BE49-F238E27FC236}">
                <a16:creationId xmlns:a16="http://schemas.microsoft.com/office/drawing/2014/main" id="{6C4639FF-C762-3F88-3CE8-48A40412B7B3}"/>
              </a:ext>
            </a:extLst>
          </p:cNvPr>
          <p:cNvSpPr txBox="1"/>
          <p:nvPr/>
        </p:nvSpPr>
        <p:spPr>
          <a:xfrm>
            <a:off x="682906" y="1266610"/>
            <a:ext cx="5820764" cy="400110"/>
          </a:xfrm>
          <a:prstGeom prst="rect">
            <a:avLst/>
          </a:prstGeom>
          <a:noFill/>
        </p:spPr>
        <p:txBody>
          <a:bodyPr wrap="square" rtlCol="0">
            <a:spAutoFit/>
          </a:bodyPr>
          <a:lstStyle/>
          <a:p>
            <a:pPr marL="285750" indent="-285750">
              <a:buClr>
                <a:srgbClr val="C00000"/>
              </a:buClr>
              <a:buFont typeface="Wingdings" pitchFamily="2" charset="2"/>
              <a:buChar char="Ø"/>
            </a:pPr>
            <a:r>
              <a:rPr lang="en-VN" sz="2000" dirty="0">
                <a:solidFill>
                  <a:srgbClr val="C00000"/>
                </a:solidFill>
                <a:latin typeface="Lato" panose="020F0502020204030203" pitchFamily="34" charset="0"/>
                <a:ea typeface="Lato" panose="020F0502020204030203" pitchFamily="34" charset="0"/>
                <a:cs typeface="Lato" panose="020F0502020204030203" pitchFamily="34" charset="0"/>
              </a:rPr>
              <a:t>TH4: </a:t>
            </a:r>
            <a:r>
              <a:rPr lang="en-VN" sz="2000" dirty="0">
                <a:latin typeface="Lato" panose="020F0502020204030203" pitchFamily="34" charset="0"/>
                <a:ea typeface="Lato" panose="020F0502020204030203" pitchFamily="34" charset="0"/>
                <a:cs typeface="Lato" panose="020F0502020204030203" pitchFamily="34" charset="0"/>
              </a:rPr>
              <a:t>P là node đỏ và U là node đen</a:t>
            </a:r>
          </a:p>
        </p:txBody>
      </p:sp>
      <p:sp>
        <p:nvSpPr>
          <p:cNvPr id="6" name="Oval 5">
            <a:extLst>
              <a:ext uri="{FF2B5EF4-FFF2-40B4-BE49-F238E27FC236}">
                <a16:creationId xmlns:a16="http://schemas.microsoft.com/office/drawing/2014/main" id="{8F1D17D6-CEBF-A6B3-5958-0787578E27CF}"/>
              </a:ext>
            </a:extLst>
          </p:cNvPr>
          <p:cNvSpPr/>
          <p:nvPr/>
        </p:nvSpPr>
        <p:spPr>
          <a:xfrm>
            <a:off x="1170271" y="4108246"/>
            <a:ext cx="449977"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P</a:t>
            </a:r>
          </a:p>
        </p:txBody>
      </p:sp>
      <p:sp>
        <p:nvSpPr>
          <p:cNvPr id="8" name="Oval 7">
            <a:extLst>
              <a:ext uri="{FF2B5EF4-FFF2-40B4-BE49-F238E27FC236}">
                <a16:creationId xmlns:a16="http://schemas.microsoft.com/office/drawing/2014/main" id="{335A9E16-23C4-4E5B-8915-73352C697AE4}"/>
              </a:ext>
            </a:extLst>
          </p:cNvPr>
          <p:cNvSpPr/>
          <p:nvPr/>
        </p:nvSpPr>
        <p:spPr>
          <a:xfrm>
            <a:off x="1782739" y="3440890"/>
            <a:ext cx="449977"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N</a:t>
            </a:r>
          </a:p>
        </p:txBody>
      </p:sp>
      <p:sp>
        <p:nvSpPr>
          <p:cNvPr id="9" name="Triangle 8">
            <a:extLst>
              <a:ext uri="{FF2B5EF4-FFF2-40B4-BE49-F238E27FC236}">
                <a16:creationId xmlns:a16="http://schemas.microsoft.com/office/drawing/2014/main" id="{ECD7C5DA-2544-B630-3110-282ED925D582}"/>
              </a:ext>
            </a:extLst>
          </p:cNvPr>
          <p:cNvSpPr/>
          <p:nvPr/>
        </p:nvSpPr>
        <p:spPr>
          <a:xfrm>
            <a:off x="2371592" y="4074742"/>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R4</a:t>
            </a:r>
          </a:p>
        </p:txBody>
      </p:sp>
      <p:sp>
        <p:nvSpPr>
          <p:cNvPr id="10" name="Triangle 9">
            <a:extLst>
              <a:ext uri="{FF2B5EF4-FFF2-40B4-BE49-F238E27FC236}">
                <a16:creationId xmlns:a16="http://schemas.microsoft.com/office/drawing/2014/main" id="{062BFB17-7DF0-E35E-D561-EFC1015A2D27}"/>
              </a:ext>
            </a:extLst>
          </p:cNvPr>
          <p:cNvSpPr/>
          <p:nvPr/>
        </p:nvSpPr>
        <p:spPr>
          <a:xfrm>
            <a:off x="1616037" y="4074742"/>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R3</a:t>
            </a:r>
          </a:p>
        </p:txBody>
      </p:sp>
      <p:cxnSp>
        <p:nvCxnSpPr>
          <p:cNvPr id="11" name="Straight Arrow Connector 10">
            <a:extLst>
              <a:ext uri="{FF2B5EF4-FFF2-40B4-BE49-F238E27FC236}">
                <a16:creationId xmlns:a16="http://schemas.microsoft.com/office/drawing/2014/main" id="{24B82D8F-0AE8-B6CE-5EE1-163B9036FC13}"/>
              </a:ext>
            </a:extLst>
          </p:cNvPr>
          <p:cNvCxnSpPr>
            <a:cxnSpLocks/>
            <a:stCxn id="16" idx="4"/>
            <a:endCxn id="17" idx="0"/>
          </p:cNvCxnSpPr>
          <p:nvPr/>
        </p:nvCxnSpPr>
        <p:spPr>
          <a:xfrm>
            <a:off x="2391908" y="3189632"/>
            <a:ext cx="290786"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AD445B5-BB22-9716-B970-8564EF4DC66E}"/>
              </a:ext>
            </a:extLst>
          </p:cNvPr>
          <p:cNvCxnSpPr>
            <a:cxnSpLocks/>
            <a:stCxn id="16" idx="4"/>
            <a:endCxn id="8" idx="0"/>
          </p:cNvCxnSpPr>
          <p:nvPr/>
        </p:nvCxnSpPr>
        <p:spPr>
          <a:xfrm flipH="1">
            <a:off x="2007728" y="3189632"/>
            <a:ext cx="384180"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3EA38A8-566C-DA56-938C-0943E39B1C44}"/>
              </a:ext>
            </a:extLst>
          </p:cNvPr>
          <p:cNvCxnSpPr>
            <a:cxnSpLocks/>
            <a:stCxn id="8" idx="4"/>
            <a:endCxn id="6" idx="0"/>
          </p:cNvCxnSpPr>
          <p:nvPr/>
        </p:nvCxnSpPr>
        <p:spPr>
          <a:xfrm flipH="1">
            <a:off x="1395260" y="3841000"/>
            <a:ext cx="612468" cy="2672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F79EAEE-0C31-99BE-FE62-D2DFAB9FCA9A}"/>
              </a:ext>
            </a:extLst>
          </p:cNvPr>
          <p:cNvCxnSpPr>
            <a:cxnSpLocks/>
            <a:stCxn id="8" idx="4"/>
            <a:endCxn id="10" idx="0"/>
          </p:cNvCxnSpPr>
          <p:nvPr/>
        </p:nvCxnSpPr>
        <p:spPr>
          <a:xfrm flipH="1">
            <a:off x="1955626" y="3841000"/>
            <a:ext cx="52102"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184C720B-1868-6B57-9DDC-11B741C99B53}"/>
              </a:ext>
            </a:extLst>
          </p:cNvPr>
          <p:cNvSpPr/>
          <p:nvPr/>
        </p:nvSpPr>
        <p:spPr>
          <a:xfrm>
            <a:off x="2166919" y="2789522"/>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G</a:t>
            </a:r>
          </a:p>
        </p:txBody>
      </p:sp>
      <p:sp>
        <p:nvSpPr>
          <p:cNvPr id="17" name="Oval 16">
            <a:extLst>
              <a:ext uri="{FF2B5EF4-FFF2-40B4-BE49-F238E27FC236}">
                <a16:creationId xmlns:a16="http://schemas.microsoft.com/office/drawing/2014/main" id="{05E15139-4CD3-4A16-7E42-2041D25DBDDC}"/>
              </a:ext>
            </a:extLst>
          </p:cNvPr>
          <p:cNvSpPr/>
          <p:nvPr/>
        </p:nvSpPr>
        <p:spPr>
          <a:xfrm>
            <a:off x="2457705" y="3440890"/>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U</a:t>
            </a:r>
          </a:p>
        </p:txBody>
      </p:sp>
      <p:sp>
        <p:nvSpPr>
          <p:cNvPr id="18" name="Triangle 17">
            <a:extLst>
              <a:ext uri="{FF2B5EF4-FFF2-40B4-BE49-F238E27FC236}">
                <a16:creationId xmlns:a16="http://schemas.microsoft.com/office/drawing/2014/main" id="{D6C94027-EA28-85C9-796A-D012C69BE5ED}"/>
              </a:ext>
            </a:extLst>
          </p:cNvPr>
          <p:cNvSpPr/>
          <p:nvPr/>
        </p:nvSpPr>
        <p:spPr>
          <a:xfrm>
            <a:off x="3127147" y="4074742"/>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R5</a:t>
            </a:r>
          </a:p>
        </p:txBody>
      </p:sp>
      <p:cxnSp>
        <p:nvCxnSpPr>
          <p:cNvPr id="19" name="Straight Arrow Connector 18">
            <a:extLst>
              <a:ext uri="{FF2B5EF4-FFF2-40B4-BE49-F238E27FC236}">
                <a16:creationId xmlns:a16="http://schemas.microsoft.com/office/drawing/2014/main" id="{1E052443-1CA0-176E-091E-6733C503300A}"/>
              </a:ext>
            </a:extLst>
          </p:cNvPr>
          <p:cNvCxnSpPr>
            <a:cxnSpLocks/>
            <a:stCxn id="17" idx="4"/>
            <a:endCxn id="9" idx="0"/>
          </p:cNvCxnSpPr>
          <p:nvPr/>
        </p:nvCxnSpPr>
        <p:spPr>
          <a:xfrm>
            <a:off x="2682694" y="3841000"/>
            <a:ext cx="28487"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729482F-53FD-AE36-8669-8E29F80E41D8}"/>
              </a:ext>
            </a:extLst>
          </p:cNvPr>
          <p:cNvCxnSpPr>
            <a:cxnSpLocks/>
            <a:stCxn id="17" idx="4"/>
            <a:endCxn id="18" idx="0"/>
          </p:cNvCxnSpPr>
          <p:nvPr/>
        </p:nvCxnSpPr>
        <p:spPr>
          <a:xfrm>
            <a:off x="2682694" y="3841000"/>
            <a:ext cx="784042"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riangle 29">
            <a:extLst>
              <a:ext uri="{FF2B5EF4-FFF2-40B4-BE49-F238E27FC236}">
                <a16:creationId xmlns:a16="http://schemas.microsoft.com/office/drawing/2014/main" id="{E49D54E7-321E-4D07-4227-8A4123E21746}"/>
              </a:ext>
            </a:extLst>
          </p:cNvPr>
          <p:cNvSpPr/>
          <p:nvPr/>
        </p:nvSpPr>
        <p:spPr>
          <a:xfrm>
            <a:off x="652179" y="4874962"/>
            <a:ext cx="679178"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R1</a:t>
            </a:r>
          </a:p>
        </p:txBody>
      </p:sp>
      <p:sp>
        <p:nvSpPr>
          <p:cNvPr id="31" name="Triangle 30">
            <a:extLst>
              <a:ext uri="{FF2B5EF4-FFF2-40B4-BE49-F238E27FC236}">
                <a16:creationId xmlns:a16="http://schemas.microsoft.com/office/drawing/2014/main" id="{C0E23BEE-EE7D-FC6B-A4D9-BAB38B4EF629}"/>
              </a:ext>
            </a:extLst>
          </p:cNvPr>
          <p:cNvSpPr/>
          <p:nvPr/>
        </p:nvSpPr>
        <p:spPr>
          <a:xfrm>
            <a:off x="1353367" y="4874962"/>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R2</a:t>
            </a:r>
          </a:p>
        </p:txBody>
      </p:sp>
      <p:cxnSp>
        <p:nvCxnSpPr>
          <p:cNvPr id="32" name="Straight Arrow Connector 31">
            <a:extLst>
              <a:ext uri="{FF2B5EF4-FFF2-40B4-BE49-F238E27FC236}">
                <a16:creationId xmlns:a16="http://schemas.microsoft.com/office/drawing/2014/main" id="{771EF568-C00E-1A9C-5DAF-D055B0C0CE11}"/>
              </a:ext>
            </a:extLst>
          </p:cNvPr>
          <p:cNvCxnSpPr>
            <a:cxnSpLocks/>
            <a:endCxn id="30" idx="0"/>
          </p:cNvCxnSpPr>
          <p:nvPr/>
        </p:nvCxnSpPr>
        <p:spPr>
          <a:xfrm flipH="1">
            <a:off x="991768" y="4452171"/>
            <a:ext cx="341385" cy="4227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AEC20E6B-74F4-33BA-895C-14840CEED043}"/>
              </a:ext>
            </a:extLst>
          </p:cNvPr>
          <p:cNvCxnSpPr>
            <a:cxnSpLocks/>
            <a:endCxn id="31" idx="0"/>
          </p:cNvCxnSpPr>
          <p:nvPr/>
        </p:nvCxnSpPr>
        <p:spPr>
          <a:xfrm>
            <a:off x="1376568" y="4508356"/>
            <a:ext cx="316388" cy="3666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31FC058D-3493-7293-5DB5-C2ECEA28E690}"/>
              </a:ext>
            </a:extLst>
          </p:cNvPr>
          <p:cNvCxnSpPr>
            <a:cxnSpLocks/>
            <a:endCxn id="16" idx="0"/>
          </p:cNvCxnSpPr>
          <p:nvPr/>
        </p:nvCxnSpPr>
        <p:spPr>
          <a:xfrm flipH="1">
            <a:off x="2391908" y="2402978"/>
            <a:ext cx="290785" cy="386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Oval 56">
            <a:extLst>
              <a:ext uri="{FF2B5EF4-FFF2-40B4-BE49-F238E27FC236}">
                <a16:creationId xmlns:a16="http://schemas.microsoft.com/office/drawing/2014/main" id="{080DCE7C-05DA-342E-1DFB-C13B2CE2153E}"/>
              </a:ext>
            </a:extLst>
          </p:cNvPr>
          <p:cNvSpPr/>
          <p:nvPr/>
        </p:nvSpPr>
        <p:spPr>
          <a:xfrm>
            <a:off x="6016853" y="3440890"/>
            <a:ext cx="449977"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P</a:t>
            </a:r>
          </a:p>
        </p:txBody>
      </p:sp>
      <p:sp>
        <p:nvSpPr>
          <p:cNvPr id="58" name="Triangle 57">
            <a:extLst>
              <a:ext uri="{FF2B5EF4-FFF2-40B4-BE49-F238E27FC236}">
                <a16:creationId xmlns:a16="http://schemas.microsoft.com/office/drawing/2014/main" id="{94C70D43-0043-A325-5F4A-EB6D19FFD68D}"/>
              </a:ext>
            </a:extLst>
          </p:cNvPr>
          <p:cNvSpPr/>
          <p:nvPr/>
        </p:nvSpPr>
        <p:spPr>
          <a:xfrm>
            <a:off x="6605706" y="4074742"/>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R3</a:t>
            </a:r>
          </a:p>
        </p:txBody>
      </p:sp>
      <p:sp>
        <p:nvSpPr>
          <p:cNvPr id="59" name="Triangle 58">
            <a:extLst>
              <a:ext uri="{FF2B5EF4-FFF2-40B4-BE49-F238E27FC236}">
                <a16:creationId xmlns:a16="http://schemas.microsoft.com/office/drawing/2014/main" id="{00B4DA31-BB9E-5C87-AB01-E3ECB32D0F66}"/>
              </a:ext>
            </a:extLst>
          </p:cNvPr>
          <p:cNvSpPr/>
          <p:nvPr/>
        </p:nvSpPr>
        <p:spPr>
          <a:xfrm>
            <a:off x="5850151" y="4074742"/>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R2</a:t>
            </a:r>
          </a:p>
        </p:txBody>
      </p:sp>
      <p:cxnSp>
        <p:nvCxnSpPr>
          <p:cNvPr id="60" name="Straight Arrow Connector 59">
            <a:extLst>
              <a:ext uri="{FF2B5EF4-FFF2-40B4-BE49-F238E27FC236}">
                <a16:creationId xmlns:a16="http://schemas.microsoft.com/office/drawing/2014/main" id="{0A9AFE05-F2B9-A1F5-FCB2-F28725EA1F3A}"/>
              </a:ext>
            </a:extLst>
          </p:cNvPr>
          <p:cNvCxnSpPr>
            <a:cxnSpLocks/>
            <a:stCxn id="64" idx="4"/>
            <a:endCxn id="65" idx="0"/>
          </p:cNvCxnSpPr>
          <p:nvPr/>
        </p:nvCxnSpPr>
        <p:spPr>
          <a:xfrm>
            <a:off x="6626022" y="3189632"/>
            <a:ext cx="290786"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31D300E9-F567-788A-7B64-A16E3387ABA5}"/>
              </a:ext>
            </a:extLst>
          </p:cNvPr>
          <p:cNvCxnSpPr>
            <a:cxnSpLocks/>
            <a:stCxn id="64" idx="4"/>
            <a:endCxn id="57" idx="0"/>
          </p:cNvCxnSpPr>
          <p:nvPr/>
        </p:nvCxnSpPr>
        <p:spPr>
          <a:xfrm flipH="1">
            <a:off x="6241842" y="3189632"/>
            <a:ext cx="384180"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66B99416-B361-A590-9E5E-F7BEA48E1815}"/>
              </a:ext>
            </a:extLst>
          </p:cNvPr>
          <p:cNvCxnSpPr>
            <a:cxnSpLocks/>
            <a:stCxn id="57" idx="4"/>
            <a:endCxn id="75" idx="0"/>
          </p:cNvCxnSpPr>
          <p:nvPr/>
        </p:nvCxnSpPr>
        <p:spPr>
          <a:xfrm flipH="1">
            <a:off x="5455219" y="3841000"/>
            <a:ext cx="786623"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7DBDE847-4240-CE2D-B500-3E98E53271C4}"/>
              </a:ext>
            </a:extLst>
          </p:cNvPr>
          <p:cNvCxnSpPr>
            <a:cxnSpLocks/>
            <a:stCxn id="57" idx="4"/>
            <a:endCxn id="59" idx="0"/>
          </p:cNvCxnSpPr>
          <p:nvPr/>
        </p:nvCxnSpPr>
        <p:spPr>
          <a:xfrm flipH="1">
            <a:off x="6189740" y="3841000"/>
            <a:ext cx="52102"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0761DA9-4D9B-BBA5-194D-293A3E9945E5}"/>
              </a:ext>
            </a:extLst>
          </p:cNvPr>
          <p:cNvSpPr/>
          <p:nvPr/>
        </p:nvSpPr>
        <p:spPr>
          <a:xfrm>
            <a:off x="6401033" y="2789522"/>
            <a:ext cx="449977"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N</a:t>
            </a:r>
          </a:p>
        </p:txBody>
      </p:sp>
      <p:sp>
        <p:nvSpPr>
          <p:cNvPr id="65" name="Oval 64">
            <a:extLst>
              <a:ext uri="{FF2B5EF4-FFF2-40B4-BE49-F238E27FC236}">
                <a16:creationId xmlns:a16="http://schemas.microsoft.com/office/drawing/2014/main" id="{05662E05-9B47-20A4-1E30-BAA2D42A3B30}"/>
              </a:ext>
            </a:extLst>
          </p:cNvPr>
          <p:cNvSpPr/>
          <p:nvPr/>
        </p:nvSpPr>
        <p:spPr>
          <a:xfrm>
            <a:off x="6691819" y="3440890"/>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G</a:t>
            </a:r>
          </a:p>
        </p:txBody>
      </p:sp>
      <p:cxnSp>
        <p:nvCxnSpPr>
          <p:cNvPr id="67" name="Straight Arrow Connector 66">
            <a:extLst>
              <a:ext uri="{FF2B5EF4-FFF2-40B4-BE49-F238E27FC236}">
                <a16:creationId xmlns:a16="http://schemas.microsoft.com/office/drawing/2014/main" id="{28A89C88-73F8-FE0C-C37E-5B7B7BEBFBEE}"/>
              </a:ext>
            </a:extLst>
          </p:cNvPr>
          <p:cNvCxnSpPr>
            <a:cxnSpLocks/>
            <a:stCxn id="65" idx="4"/>
            <a:endCxn id="58" idx="0"/>
          </p:cNvCxnSpPr>
          <p:nvPr/>
        </p:nvCxnSpPr>
        <p:spPr>
          <a:xfrm>
            <a:off x="6916808" y="3841000"/>
            <a:ext cx="28487"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A1A558C0-0B7E-2260-017B-4ACDC1CD3CBF}"/>
              </a:ext>
            </a:extLst>
          </p:cNvPr>
          <p:cNvCxnSpPr>
            <a:cxnSpLocks/>
            <a:stCxn id="65" idx="4"/>
          </p:cNvCxnSpPr>
          <p:nvPr/>
        </p:nvCxnSpPr>
        <p:spPr>
          <a:xfrm>
            <a:off x="6916808" y="3841000"/>
            <a:ext cx="784042"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Triangle 68">
            <a:extLst>
              <a:ext uri="{FF2B5EF4-FFF2-40B4-BE49-F238E27FC236}">
                <a16:creationId xmlns:a16="http://schemas.microsoft.com/office/drawing/2014/main" id="{CD6C6F69-6845-F5B2-42AF-3C36EFC4D61A}"/>
              </a:ext>
            </a:extLst>
          </p:cNvPr>
          <p:cNvSpPr/>
          <p:nvPr/>
        </p:nvSpPr>
        <p:spPr>
          <a:xfrm>
            <a:off x="6999662" y="4915159"/>
            <a:ext cx="679178"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R4</a:t>
            </a:r>
          </a:p>
        </p:txBody>
      </p:sp>
      <p:sp>
        <p:nvSpPr>
          <p:cNvPr id="70" name="Triangle 69">
            <a:extLst>
              <a:ext uri="{FF2B5EF4-FFF2-40B4-BE49-F238E27FC236}">
                <a16:creationId xmlns:a16="http://schemas.microsoft.com/office/drawing/2014/main" id="{5605FA99-BAE2-0D91-BA7B-7A3ED9F40FAD}"/>
              </a:ext>
            </a:extLst>
          </p:cNvPr>
          <p:cNvSpPr/>
          <p:nvPr/>
        </p:nvSpPr>
        <p:spPr>
          <a:xfrm>
            <a:off x="7700850" y="4915159"/>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R5</a:t>
            </a:r>
          </a:p>
        </p:txBody>
      </p:sp>
      <p:cxnSp>
        <p:nvCxnSpPr>
          <p:cNvPr id="71" name="Straight Arrow Connector 70">
            <a:extLst>
              <a:ext uri="{FF2B5EF4-FFF2-40B4-BE49-F238E27FC236}">
                <a16:creationId xmlns:a16="http://schemas.microsoft.com/office/drawing/2014/main" id="{84D0A315-52C2-43BD-F4E0-5B38177074AE}"/>
              </a:ext>
            </a:extLst>
          </p:cNvPr>
          <p:cNvCxnSpPr>
            <a:cxnSpLocks/>
            <a:endCxn id="69" idx="0"/>
          </p:cNvCxnSpPr>
          <p:nvPr/>
        </p:nvCxnSpPr>
        <p:spPr>
          <a:xfrm flipH="1">
            <a:off x="7339251" y="4492368"/>
            <a:ext cx="341385" cy="4227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7ADC3A04-4CEF-DAA1-7706-3B55F31AC0E3}"/>
              </a:ext>
            </a:extLst>
          </p:cNvPr>
          <p:cNvCxnSpPr>
            <a:cxnSpLocks/>
            <a:endCxn id="70" idx="0"/>
          </p:cNvCxnSpPr>
          <p:nvPr/>
        </p:nvCxnSpPr>
        <p:spPr>
          <a:xfrm>
            <a:off x="7724051" y="4548553"/>
            <a:ext cx="316388" cy="3666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F8E9DBCA-34B2-08A5-A271-80C8FE3E24AB}"/>
              </a:ext>
            </a:extLst>
          </p:cNvPr>
          <p:cNvCxnSpPr>
            <a:cxnSpLocks/>
            <a:endCxn id="64" idx="0"/>
          </p:cNvCxnSpPr>
          <p:nvPr/>
        </p:nvCxnSpPr>
        <p:spPr>
          <a:xfrm flipH="1">
            <a:off x="6626022" y="2402978"/>
            <a:ext cx="290785" cy="386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292B42E9-6FC6-662B-E795-653F35964154}"/>
              </a:ext>
            </a:extLst>
          </p:cNvPr>
          <p:cNvSpPr/>
          <p:nvPr/>
        </p:nvSpPr>
        <p:spPr>
          <a:xfrm>
            <a:off x="7447729" y="4108246"/>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U</a:t>
            </a:r>
          </a:p>
        </p:txBody>
      </p:sp>
      <p:sp>
        <p:nvSpPr>
          <p:cNvPr id="75" name="Triangle 74">
            <a:extLst>
              <a:ext uri="{FF2B5EF4-FFF2-40B4-BE49-F238E27FC236}">
                <a16:creationId xmlns:a16="http://schemas.microsoft.com/office/drawing/2014/main" id="{850A8D6F-DE92-86D8-EFBA-A3847CC3B92A}"/>
              </a:ext>
            </a:extLst>
          </p:cNvPr>
          <p:cNvSpPr/>
          <p:nvPr/>
        </p:nvSpPr>
        <p:spPr>
          <a:xfrm>
            <a:off x="5115630" y="4074742"/>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R1</a:t>
            </a:r>
          </a:p>
        </p:txBody>
      </p:sp>
      <p:sp>
        <p:nvSpPr>
          <p:cNvPr id="77" name="Right Arrow 76">
            <a:extLst>
              <a:ext uri="{FF2B5EF4-FFF2-40B4-BE49-F238E27FC236}">
                <a16:creationId xmlns:a16="http://schemas.microsoft.com/office/drawing/2014/main" id="{4BAF8FEE-AD70-76D1-B85E-B1A7FD5F43FA}"/>
              </a:ext>
            </a:extLst>
          </p:cNvPr>
          <p:cNvSpPr/>
          <p:nvPr/>
        </p:nvSpPr>
        <p:spPr>
          <a:xfrm>
            <a:off x="3996211" y="3640945"/>
            <a:ext cx="987105" cy="240030"/>
          </a:xfrm>
          <a:prstGeom prst="rightArrow">
            <a:avLst/>
          </a:prstGeom>
          <a:solidFill>
            <a:srgbClr val="00B050"/>
          </a:solidFill>
          <a:ln>
            <a:solidFill>
              <a:srgbClr val="00B05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VN"/>
          </a:p>
        </p:txBody>
      </p:sp>
      <p:sp>
        <p:nvSpPr>
          <p:cNvPr id="80" name="TextBox 79">
            <a:extLst>
              <a:ext uri="{FF2B5EF4-FFF2-40B4-BE49-F238E27FC236}">
                <a16:creationId xmlns:a16="http://schemas.microsoft.com/office/drawing/2014/main" id="{380E7E3F-85C9-9616-A78C-F609B3A20681}"/>
              </a:ext>
            </a:extLst>
          </p:cNvPr>
          <p:cNvSpPr txBox="1"/>
          <p:nvPr/>
        </p:nvSpPr>
        <p:spPr>
          <a:xfrm>
            <a:off x="3258878" y="5315269"/>
            <a:ext cx="2757975" cy="646331"/>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rtlCol="0">
            <a:spAutoFit/>
          </a:bodyPr>
          <a:lstStyle/>
          <a:p>
            <a:pPr marL="285750" indent="-285750">
              <a:buFont typeface="Wingdings" pitchFamily="2" charset="2"/>
              <a:buChar char="Ø"/>
            </a:pPr>
            <a:r>
              <a:rPr lang="en-VN" dirty="0">
                <a:latin typeface="Lato" panose="020F0502020204030203" pitchFamily="34" charset="0"/>
                <a:ea typeface="Lato" panose="020F0502020204030203" pitchFamily="34" charset="0"/>
                <a:cs typeface="Lato" panose="020F0502020204030203" pitchFamily="34" charset="0"/>
              </a:rPr>
              <a:t>Quay phải node G</a:t>
            </a:r>
          </a:p>
          <a:p>
            <a:pPr marL="285750" indent="-285750">
              <a:buFont typeface="Wingdings" pitchFamily="2" charset="2"/>
              <a:buChar char="Ø"/>
            </a:pPr>
            <a:r>
              <a:rPr lang="en-VN" dirty="0">
                <a:latin typeface="Lato" panose="020F0502020204030203" pitchFamily="34" charset="0"/>
                <a:ea typeface="Lato" panose="020F0502020204030203" pitchFamily="34" charset="0"/>
                <a:cs typeface="Lato" panose="020F0502020204030203" pitchFamily="34" charset="0"/>
              </a:rPr>
              <a:t>Đổi màu node G và N</a:t>
            </a:r>
          </a:p>
        </p:txBody>
      </p:sp>
      <p:sp>
        <p:nvSpPr>
          <p:cNvPr id="4" name="TextBox 3">
            <a:extLst>
              <a:ext uri="{FF2B5EF4-FFF2-40B4-BE49-F238E27FC236}">
                <a16:creationId xmlns:a16="http://schemas.microsoft.com/office/drawing/2014/main" id="{DA0BBA4D-FEB1-C9CC-39F5-A41C15907E3F}"/>
              </a:ext>
            </a:extLst>
          </p:cNvPr>
          <p:cNvSpPr txBox="1"/>
          <p:nvPr/>
        </p:nvSpPr>
        <p:spPr>
          <a:xfrm>
            <a:off x="820066" y="1595246"/>
            <a:ext cx="7800213" cy="493212"/>
          </a:xfrm>
          <a:prstGeom prst="rect">
            <a:avLst/>
          </a:prstGeom>
          <a:noFill/>
        </p:spPr>
        <p:txBody>
          <a:bodyPr wrap="square" rtlCol="0">
            <a:spAutoFit/>
          </a:bodyPr>
          <a:lstStyle/>
          <a:p>
            <a:pPr>
              <a:lnSpc>
                <a:spcPct val="150000"/>
              </a:lnSpc>
            </a:pPr>
            <a:r>
              <a:rPr lang="en-VN" sz="2000" dirty="0">
                <a:solidFill>
                  <a:srgbClr val="FF0000"/>
                </a:solidFill>
                <a:latin typeface="Lato" panose="020F0502020204030203" pitchFamily="34" charset="0"/>
                <a:ea typeface="Lato" panose="020F0502020204030203" pitchFamily="34" charset="0"/>
                <a:cs typeface="Lato" panose="020F0502020204030203" pitchFamily="34" charset="0"/>
              </a:rPr>
              <a:t>2. Left – Right</a:t>
            </a:r>
            <a:r>
              <a:rPr lang="en-VN" sz="20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 P là </a:t>
            </a:r>
            <a:r>
              <a:rPr lang="en-VN" sz="2000" dirty="0">
                <a:solidFill>
                  <a:srgbClr val="00B050"/>
                </a:solidFill>
                <a:latin typeface="Lato" panose="020F0502020204030203" pitchFamily="34" charset="0"/>
                <a:ea typeface="Lato" panose="020F0502020204030203" pitchFamily="34" charset="0"/>
                <a:cs typeface="Lato" panose="020F0502020204030203" pitchFamily="34" charset="0"/>
              </a:rPr>
              <a:t>con trái </a:t>
            </a:r>
            <a:r>
              <a:rPr lang="en-VN" sz="20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của G, N là </a:t>
            </a:r>
            <a:r>
              <a:rPr lang="en-VN" sz="2000" dirty="0">
                <a:solidFill>
                  <a:srgbClr val="BC05B7"/>
                </a:solidFill>
                <a:latin typeface="Lato" panose="020F0502020204030203" pitchFamily="34" charset="0"/>
                <a:ea typeface="Lato" panose="020F0502020204030203" pitchFamily="34" charset="0"/>
                <a:cs typeface="Lato" panose="020F0502020204030203" pitchFamily="34" charset="0"/>
              </a:rPr>
              <a:t>con phải </a:t>
            </a:r>
            <a:r>
              <a:rPr lang="en-VN" sz="20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của P</a:t>
            </a:r>
          </a:p>
        </p:txBody>
      </p:sp>
    </p:spTree>
    <p:extLst>
      <p:ext uri="{BB962C8B-B14F-4D97-AF65-F5344CB8AC3E}">
        <p14:creationId xmlns:p14="http://schemas.microsoft.com/office/powerpoint/2010/main" val="3852223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par>
                                <p:cTn id="23" presetID="1" presetClass="entr" presetSubtype="0" fill="hold" grpId="0" nodeType="withEffect">
                                  <p:stCondLst>
                                    <p:cond delay="0"/>
                                  </p:stCondLst>
                                  <p:iterate type="lt">
                                    <p:tmAbs val="0"/>
                                  </p:iterate>
                                  <p:childTnLst>
                                    <p:set>
                                      <p:cBhvr>
                                        <p:cTn id="24" dur="1" fill="hold">
                                          <p:stCondLst>
                                            <p:cond delay="0"/>
                                          </p:stCondLst>
                                        </p:cTn>
                                        <p:tgtEl>
                                          <p:spTgt spid="64"/>
                                        </p:tgtEl>
                                        <p:attrNameLst>
                                          <p:attrName>style.visibility</p:attrName>
                                        </p:attrNameLst>
                                      </p:cBhvr>
                                      <p:to>
                                        <p:strVal val="visible"/>
                                      </p:to>
                                    </p:set>
                                  </p:childTnLst>
                                </p:cTn>
                              </p:par>
                              <p:par>
                                <p:cTn id="25" presetID="1" presetClass="entr" presetSubtype="0" fill="hold" grpId="0" nodeType="withEffect">
                                  <p:stCondLst>
                                    <p:cond delay="0"/>
                                  </p:stCondLst>
                                  <p:iterate type="lt">
                                    <p:tmAbs val="0"/>
                                  </p:iterate>
                                  <p:childTnLst>
                                    <p:set>
                                      <p:cBhvr>
                                        <p:cTn id="26" dur="1" fill="hold">
                                          <p:stCondLst>
                                            <p:cond delay="0"/>
                                          </p:stCondLst>
                                        </p:cTn>
                                        <p:tgtEl>
                                          <p:spTgt spid="6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6" presetClass="emph" presetSubtype="0" fill="hold" grpId="1" nodeType="clickEffect">
                                  <p:stCondLst>
                                    <p:cond delay="0"/>
                                  </p:stCondLst>
                                  <p:iterate type="lt">
                                    <p:tmPct val="4000"/>
                                  </p:iterate>
                                  <p:childTnLst>
                                    <p:set>
                                      <p:cBhvr override="childStyle">
                                        <p:cTn id="50" dur="500" fill="hold"/>
                                        <p:tgtEl>
                                          <p:spTgt spid="65"/>
                                        </p:tgtEl>
                                        <p:attrNameLst>
                                          <p:attrName>style.color</p:attrName>
                                        </p:attrNameLst>
                                      </p:cBhvr>
                                      <p:to>
                                        <p:clrVal>
                                          <a:srgbClr val="F31407"/>
                                        </p:clrVal>
                                      </p:to>
                                    </p:set>
                                    <p:set>
                                      <p:cBhvr>
                                        <p:cTn id="51" dur="500" fill="hold"/>
                                        <p:tgtEl>
                                          <p:spTgt spid="65"/>
                                        </p:tgtEl>
                                        <p:attrNameLst>
                                          <p:attrName>fillcolor</p:attrName>
                                        </p:attrNameLst>
                                      </p:cBhvr>
                                      <p:to>
                                        <p:clrVal>
                                          <a:srgbClr val="F31407"/>
                                        </p:clrVal>
                                      </p:to>
                                    </p:set>
                                    <p:set>
                                      <p:cBhvr>
                                        <p:cTn id="52" dur="500" fill="hold"/>
                                        <p:tgtEl>
                                          <p:spTgt spid="65"/>
                                        </p:tgtEl>
                                        <p:attrNameLst>
                                          <p:attrName>fill.type</p:attrName>
                                        </p:attrNameLst>
                                      </p:cBhvr>
                                      <p:to>
                                        <p:strVal val="solid"/>
                                      </p:to>
                                    </p:set>
                                  </p:childTnLst>
                                </p:cTn>
                              </p:par>
                              <p:par>
                                <p:cTn id="53" presetID="3" presetClass="emph" presetSubtype="2" fill="hold" grpId="2" nodeType="withEffect">
                                  <p:stCondLst>
                                    <p:cond delay="0"/>
                                  </p:stCondLst>
                                  <p:iterate type="lt">
                                    <p:tmPct val="0"/>
                                  </p:iterate>
                                  <p:childTnLst>
                                    <p:animClr clrSpc="rgb" dir="cw">
                                      <p:cBhvr override="childStyle">
                                        <p:cTn id="54" dur="2000" fill="hold"/>
                                        <p:tgtEl>
                                          <p:spTgt spid="65"/>
                                        </p:tgtEl>
                                        <p:attrNameLst>
                                          <p:attrName>style.color</p:attrName>
                                        </p:attrNameLst>
                                      </p:cBhvr>
                                      <p:to>
                                        <a:schemeClr val="bg1"/>
                                      </p:to>
                                    </p:animClr>
                                  </p:childTnLst>
                                </p:cTn>
                              </p:par>
                              <p:par>
                                <p:cTn id="55" presetID="16" presetClass="emph" presetSubtype="0" fill="hold" grpId="1" nodeType="withEffect">
                                  <p:stCondLst>
                                    <p:cond delay="0"/>
                                  </p:stCondLst>
                                  <p:iterate type="lt">
                                    <p:tmPct val="4000"/>
                                  </p:iterate>
                                  <p:childTnLst>
                                    <p:set>
                                      <p:cBhvr override="childStyle">
                                        <p:cTn id="56" dur="500" fill="hold"/>
                                        <p:tgtEl>
                                          <p:spTgt spid="64"/>
                                        </p:tgtEl>
                                        <p:attrNameLst>
                                          <p:attrName>style.color</p:attrName>
                                        </p:attrNameLst>
                                      </p:cBhvr>
                                      <p:to>
                                        <p:clrVal>
                                          <a:schemeClr val="tx1"/>
                                        </p:clrVal>
                                      </p:to>
                                    </p:set>
                                    <p:set>
                                      <p:cBhvr>
                                        <p:cTn id="57" dur="500" fill="hold"/>
                                        <p:tgtEl>
                                          <p:spTgt spid="64"/>
                                        </p:tgtEl>
                                        <p:attrNameLst>
                                          <p:attrName>fillcolor</p:attrName>
                                        </p:attrNameLst>
                                      </p:cBhvr>
                                      <p:to>
                                        <p:clrVal>
                                          <a:schemeClr val="tx1"/>
                                        </p:clrVal>
                                      </p:to>
                                    </p:set>
                                    <p:set>
                                      <p:cBhvr>
                                        <p:cTn id="58" dur="500" fill="hold"/>
                                        <p:tgtEl>
                                          <p:spTgt spid="64"/>
                                        </p:tgtEl>
                                        <p:attrNameLst>
                                          <p:attrName>fill.type</p:attrName>
                                        </p:attrNameLst>
                                      </p:cBhvr>
                                      <p:to>
                                        <p:strVal val="solid"/>
                                      </p:to>
                                    </p:set>
                                  </p:childTnLst>
                                </p:cTn>
                              </p:par>
                              <p:par>
                                <p:cTn id="59" presetID="3" presetClass="emph" presetSubtype="2" fill="hold" grpId="2" nodeType="withEffect">
                                  <p:stCondLst>
                                    <p:cond delay="0"/>
                                  </p:stCondLst>
                                  <p:iterate type="lt">
                                    <p:tmPct val="0"/>
                                  </p:iterate>
                                  <p:childTnLst>
                                    <p:animClr clrSpc="rgb" dir="cw">
                                      <p:cBhvr override="childStyle">
                                        <p:cTn id="60" dur="2000" fill="hold"/>
                                        <p:tgtEl>
                                          <p:spTgt spid="64"/>
                                        </p:tgtEl>
                                        <p:attrNameLst>
                                          <p:attrName>style.color</p:attrName>
                                        </p:attrNameLst>
                                      </p:cBhvr>
                                      <p:to>
                                        <a:schemeClr val="bg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8" grpId="0" animBg="1"/>
      <p:bldP spid="59" grpId="0" animBg="1"/>
      <p:bldP spid="64" grpId="0" animBg="1"/>
      <p:bldP spid="64" grpId="1" animBg="1"/>
      <p:bldP spid="64" grpId="2" animBg="1"/>
      <p:bldP spid="65" grpId="0" animBg="1"/>
      <p:bldP spid="65" grpId="1" animBg="1"/>
      <p:bldP spid="65" grpId="2" animBg="1"/>
      <p:bldP spid="69" grpId="0" animBg="1"/>
      <p:bldP spid="70" grpId="0" animBg="1"/>
      <p:bldP spid="74" grpId="0" animBg="1"/>
      <p:bldP spid="75" grpId="0" animBg="1"/>
      <p:bldP spid="77" grpId="0" animBg="1"/>
      <p:bldP spid="8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27</a:t>
            </a:fld>
            <a:endParaRPr lang="en-US" dirty="0"/>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lang="en-US" dirty="0"/>
              <a:t>THAO TÁC CƠ BẢN</a:t>
            </a:r>
          </a:p>
        </p:txBody>
      </p:sp>
      <p:sp>
        <p:nvSpPr>
          <p:cNvPr id="3" name="TextBox 2">
            <a:extLst>
              <a:ext uri="{FF2B5EF4-FFF2-40B4-BE49-F238E27FC236}">
                <a16:creationId xmlns:a16="http://schemas.microsoft.com/office/drawing/2014/main" id="{FB2A445E-0F6E-815C-D17A-9F0A8135FE1E}"/>
              </a:ext>
            </a:extLst>
          </p:cNvPr>
          <p:cNvSpPr txBox="1"/>
          <p:nvPr/>
        </p:nvSpPr>
        <p:spPr>
          <a:xfrm>
            <a:off x="682906" y="729204"/>
            <a:ext cx="4780634" cy="707886"/>
          </a:xfrm>
          <a:prstGeom prst="rect">
            <a:avLst/>
          </a:prstGeom>
          <a:noFill/>
        </p:spPr>
        <p:txBody>
          <a:bodyPr wrap="square" rtlCol="0">
            <a:spAutoFit/>
          </a:bodyPr>
          <a:lstStyle/>
          <a:p>
            <a:r>
              <a:rPr lang="en-VN" sz="2000" b="1" dirty="0">
                <a:solidFill>
                  <a:schemeClr val="accent1">
                    <a:lumMod val="50000"/>
                  </a:schemeClr>
                </a:solidFill>
                <a:latin typeface="Lato" panose="020F0502020204030203" pitchFamily="34" charset="0"/>
                <a:ea typeface="Lato" panose="020F0502020204030203" pitchFamily="34" charset="0"/>
                <a:cs typeface="Lato" panose="020F0502020204030203" pitchFamily="34" charset="0"/>
              </a:rPr>
              <a:t>2. Insertion (Thêm node vào cây đỏ đen)</a:t>
            </a:r>
          </a:p>
          <a:p>
            <a:endParaRPr lang="en-VN" sz="2000" b="1" dirty="0">
              <a:solidFill>
                <a:schemeClr val="accent1">
                  <a:lumMod val="50000"/>
                </a:schemeClr>
              </a:solidFill>
            </a:endParaRPr>
          </a:p>
        </p:txBody>
      </p:sp>
      <p:sp>
        <p:nvSpPr>
          <p:cNvPr id="7" name="TextBox 6">
            <a:extLst>
              <a:ext uri="{FF2B5EF4-FFF2-40B4-BE49-F238E27FC236}">
                <a16:creationId xmlns:a16="http://schemas.microsoft.com/office/drawing/2014/main" id="{6C4639FF-C762-3F88-3CE8-48A40412B7B3}"/>
              </a:ext>
            </a:extLst>
          </p:cNvPr>
          <p:cNvSpPr txBox="1"/>
          <p:nvPr/>
        </p:nvSpPr>
        <p:spPr>
          <a:xfrm>
            <a:off x="682906" y="1266610"/>
            <a:ext cx="5820764" cy="400110"/>
          </a:xfrm>
          <a:prstGeom prst="rect">
            <a:avLst/>
          </a:prstGeom>
          <a:noFill/>
        </p:spPr>
        <p:txBody>
          <a:bodyPr wrap="square" rtlCol="0">
            <a:spAutoFit/>
          </a:bodyPr>
          <a:lstStyle/>
          <a:p>
            <a:pPr marL="285750" indent="-285750">
              <a:buClr>
                <a:srgbClr val="C00000"/>
              </a:buClr>
              <a:buFont typeface="Wingdings" pitchFamily="2" charset="2"/>
              <a:buChar char="Ø"/>
            </a:pPr>
            <a:r>
              <a:rPr lang="en-VN" sz="2000" dirty="0">
                <a:solidFill>
                  <a:srgbClr val="C00000"/>
                </a:solidFill>
                <a:latin typeface="Lato" panose="020F0502020204030203" pitchFamily="34" charset="0"/>
                <a:ea typeface="Lato" panose="020F0502020204030203" pitchFamily="34" charset="0"/>
                <a:cs typeface="Lato" panose="020F0502020204030203" pitchFamily="34" charset="0"/>
              </a:rPr>
              <a:t>TH4: </a:t>
            </a:r>
            <a:r>
              <a:rPr lang="en-VN" sz="2000" dirty="0">
                <a:latin typeface="Lato" panose="020F0502020204030203" pitchFamily="34" charset="0"/>
                <a:ea typeface="Lato" panose="020F0502020204030203" pitchFamily="34" charset="0"/>
                <a:cs typeface="Lato" panose="020F0502020204030203" pitchFamily="34" charset="0"/>
              </a:rPr>
              <a:t>P là node đỏ và U là node đen</a:t>
            </a:r>
          </a:p>
        </p:txBody>
      </p:sp>
      <p:sp>
        <p:nvSpPr>
          <p:cNvPr id="12" name="TextBox 11">
            <a:extLst>
              <a:ext uri="{FF2B5EF4-FFF2-40B4-BE49-F238E27FC236}">
                <a16:creationId xmlns:a16="http://schemas.microsoft.com/office/drawing/2014/main" id="{5E47146E-CF86-4C75-DFEA-31B9DD189BB6}"/>
              </a:ext>
            </a:extLst>
          </p:cNvPr>
          <p:cNvSpPr txBox="1"/>
          <p:nvPr/>
        </p:nvSpPr>
        <p:spPr>
          <a:xfrm>
            <a:off x="820066" y="1595246"/>
            <a:ext cx="7800213" cy="493212"/>
          </a:xfrm>
          <a:prstGeom prst="rect">
            <a:avLst/>
          </a:prstGeom>
          <a:noFill/>
        </p:spPr>
        <p:txBody>
          <a:bodyPr wrap="square" rtlCol="0">
            <a:spAutoFit/>
          </a:bodyPr>
          <a:lstStyle/>
          <a:p>
            <a:pPr>
              <a:lnSpc>
                <a:spcPct val="150000"/>
              </a:lnSpc>
            </a:pPr>
            <a:r>
              <a:rPr lang="en-VN" sz="2000" dirty="0">
                <a:solidFill>
                  <a:srgbClr val="FF0000"/>
                </a:solidFill>
                <a:latin typeface="Lato" panose="020F0502020204030203" pitchFamily="34" charset="0"/>
                <a:ea typeface="Lato" panose="020F0502020204030203" pitchFamily="34" charset="0"/>
                <a:cs typeface="Lato" panose="020F0502020204030203" pitchFamily="34" charset="0"/>
              </a:rPr>
              <a:t>3. Right – Right</a:t>
            </a:r>
            <a:r>
              <a:rPr lang="en-VN" sz="20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 P là </a:t>
            </a:r>
            <a:r>
              <a:rPr lang="en-VN" sz="2000" dirty="0">
                <a:solidFill>
                  <a:srgbClr val="BC05B7"/>
                </a:solidFill>
                <a:latin typeface="Lato" panose="020F0502020204030203" pitchFamily="34" charset="0"/>
                <a:ea typeface="Lato" panose="020F0502020204030203" pitchFamily="34" charset="0"/>
                <a:cs typeface="Lato" panose="020F0502020204030203" pitchFamily="34" charset="0"/>
              </a:rPr>
              <a:t>con phải </a:t>
            </a:r>
            <a:r>
              <a:rPr lang="en-VN" sz="20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của G, N là </a:t>
            </a:r>
            <a:r>
              <a:rPr lang="en-VN" sz="2000" dirty="0">
                <a:solidFill>
                  <a:srgbClr val="BC05B7"/>
                </a:solidFill>
                <a:latin typeface="Lato" panose="020F0502020204030203" pitchFamily="34" charset="0"/>
                <a:ea typeface="Lato" panose="020F0502020204030203" pitchFamily="34" charset="0"/>
                <a:cs typeface="Lato" panose="020F0502020204030203" pitchFamily="34" charset="0"/>
              </a:rPr>
              <a:t>con phải </a:t>
            </a:r>
            <a:r>
              <a:rPr lang="en-VN" sz="20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của P</a:t>
            </a:r>
          </a:p>
        </p:txBody>
      </p:sp>
      <p:sp>
        <p:nvSpPr>
          <p:cNvPr id="78" name="TextBox 77">
            <a:extLst>
              <a:ext uri="{FF2B5EF4-FFF2-40B4-BE49-F238E27FC236}">
                <a16:creationId xmlns:a16="http://schemas.microsoft.com/office/drawing/2014/main" id="{CBC836B4-4F06-92DE-760F-3A0C2D478574}"/>
              </a:ext>
            </a:extLst>
          </p:cNvPr>
          <p:cNvSpPr txBox="1"/>
          <p:nvPr/>
        </p:nvSpPr>
        <p:spPr>
          <a:xfrm>
            <a:off x="820065" y="5543550"/>
            <a:ext cx="3176145" cy="646331"/>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rtlCol="0">
            <a:spAutoFit/>
          </a:bodyPr>
          <a:lstStyle/>
          <a:p>
            <a:pPr marL="285750" indent="-285750">
              <a:buFont typeface="Wingdings" pitchFamily="2" charset="2"/>
              <a:buChar char="Ø"/>
            </a:pPr>
            <a:r>
              <a:rPr lang="en-VN" dirty="0">
                <a:latin typeface="Lato" panose="020F0502020204030203" pitchFamily="34" charset="0"/>
                <a:ea typeface="Lato" panose="020F0502020204030203" pitchFamily="34" charset="0"/>
                <a:cs typeface="Lato" panose="020F0502020204030203" pitchFamily="34" charset="0"/>
              </a:rPr>
              <a:t>Vi phạm yêu cầu: cha của node đỏ phải là node đen</a:t>
            </a:r>
          </a:p>
        </p:txBody>
      </p:sp>
      <p:sp>
        <p:nvSpPr>
          <p:cNvPr id="79" name="Right Arrow 78">
            <a:extLst>
              <a:ext uri="{FF2B5EF4-FFF2-40B4-BE49-F238E27FC236}">
                <a16:creationId xmlns:a16="http://schemas.microsoft.com/office/drawing/2014/main" id="{4580512F-3C30-15A9-65E6-19E26F260976}"/>
              </a:ext>
            </a:extLst>
          </p:cNvPr>
          <p:cNvSpPr/>
          <p:nvPr/>
        </p:nvSpPr>
        <p:spPr>
          <a:xfrm>
            <a:off x="4078447" y="5746526"/>
            <a:ext cx="987105" cy="240030"/>
          </a:xfrm>
          <a:prstGeom prst="rightArrow">
            <a:avLst/>
          </a:prstGeom>
          <a:solidFill>
            <a:srgbClr val="00B050"/>
          </a:solidFill>
          <a:ln>
            <a:solidFill>
              <a:srgbClr val="00B05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VN"/>
          </a:p>
        </p:txBody>
      </p:sp>
      <p:sp>
        <p:nvSpPr>
          <p:cNvPr id="80" name="TextBox 79">
            <a:extLst>
              <a:ext uri="{FF2B5EF4-FFF2-40B4-BE49-F238E27FC236}">
                <a16:creationId xmlns:a16="http://schemas.microsoft.com/office/drawing/2014/main" id="{380E7E3F-85C9-9616-A78C-F609B3A20681}"/>
              </a:ext>
            </a:extLst>
          </p:cNvPr>
          <p:cNvSpPr txBox="1"/>
          <p:nvPr/>
        </p:nvSpPr>
        <p:spPr>
          <a:xfrm>
            <a:off x="5292584" y="5538164"/>
            <a:ext cx="2626243" cy="646331"/>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rtlCol="0">
            <a:spAutoFit/>
          </a:bodyPr>
          <a:lstStyle/>
          <a:p>
            <a:pPr marL="285750" indent="-285750">
              <a:buFont typeface="Wingdings" pitchFamily="2" charset="2"/>
              <a:buChar char="Ø"/>
            </a:pPr>
            <a:r>
              <a:rPr lang="en-VN" dirty="0">
                <a:latin typeface="Lato" panose="020F0502020204030203" pitchFamily="34" charset="0"/>
                <a:ea typeface="Lato" panose="020F0502020204030203" pitchFamily="34" charset="0"/>
                <a:cs typeface="Lato" panose="020F0502020204030203" pitchFamily="34" charset="0"/>
              </a:rPr>
              <a:t>Quay trái node G</a:t>
            </a:r>
          </a:p>
          <a:p>
            <a:pPr marL="285750" indent="-285750">
              <a:buFont typeface="Wingdings" pitchFamily="2" charset="2"/>
              <a:buChar char="Ø"/>
            </a:pPr>
            <a:r>
              <a:rPr lang="en-VN" dirty="0">
                <a:latin typeface="Lato" panose="020F0502020204030203" pitchFamily="34" charset="0"/>
                <a:ea typeface="Lato" panose="020F0502020204030203" pitchFamily="34" charset="0"/>
                <a:cs typeface="Lato" panose="020F0502020204030203" pitchFamily="34" charset="0"/>
              </a:rPr>
              <a:t>Đổi màu node G và P</a:t>
            </a:r>
          </a:p>
        </p:txBody>
      </p:sp>
      <p:sp>
        <p:nvSpPr>
          <p:cNvPr id="42" name="Oval 41">
            <a:extLst>
              <a:ext uri="{FF2B5EF4-FFF2-40B4-BE49-F238E27FC236}">
                <a16:creationId xmlns:a16="http://schemas.microsoft.com/office/drawing/2014/main" id="{762B3FBC-9E1F-604C-F731-E794CE1C8B87}"/>
              </a:ext>
            </a:extLst>
          </p:cNvPr>
          <p:cNvSpPr/>
          <p:nvPr/>
        </p:nvSpPr>
        <p:spPr>
          <a:xfrm>
            <a:off x="1584129" y="3342881"/>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U</a:t>
            </a:r>
          </a:p>
        </p:txBody>
      </p:sp>
      <p:sp>
        <p:nvSpPr>
          <p:cNvPr id="43" name="Triangle 42">
            <a:extLst>
              <a:ext uri="{FF2B5EF4-FFF2-40B4-BE49-F238E27FC236}">
                <a16:creationId xmlns:a16="http://schemas.microsoft.com/office/drawing/2014/main" id="{E62E2CD0-AF57-A19B-3AF8-D686A491EA2F}"/>
              </a:ext>
            </a:extLst>
          </p:cNvPr>
          <p:cNvSpPr/>
          <p:nvPr/>
        </p:nvSpPr>
        <p:spPr>
          <a:xfrm>
            <a:off x="2172982" y="3976733"/>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R3</a:t>
            </a:r>
          </a:p>
        </p:txBody>
      </p:sp>
      <p:sp>
        <p:nvSpPr>
          <p:cNvPr id="44" name="Triangle 43">
            <a:extLst>
              <a:ext uri="{FF2B5EF4-FFF2-40B4-BE49-F238E27FC236}">
                <a16:creationId xmlns:a16="http://schemas.microsoft.com/office/drawing/2014/main" id="{27DC1521-CEA9-3A5A-BB94-84E424892C2F}"/>
              </a:ext>
            </a:extLst>
          </p:cNvPr>
          <p:cNvSpPr/>
          <p:nvPr/>
        </p:nvSpPr>
        <p:spPr>
          <a:xfrm>
            <a:off x="1417427" y="3976733"/>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R2</a:t>
            </a:r>
          </a:p>
        </p:txBody>
      </p:sp>
      <p:cxnSp>
        <p:nvCxnSpPr>
          <p:cNvPr id="45" name="Straight Arrow Connector 44">
            <a:extLst>
              <a:ext uri="{FF2B5EF4-FFF2-40B4-BE49-F238E27FC236}">
                <a16:creationId xmlns:a16="http://schemas.microsoft.com/office/drawing/2014/main" id="{E0E1CDD8-D387-2B53-4E8B-31395610E5D3}"/>
              </a:ext>
            </a:extLst>
          </p:cNvPr>
          <p:cNvCxnSpPr>
            <a:cxnSpLocks/>
            <a:stCxn id="49" idx="4"/>
            <a:endCxn id="50" idx="0"/>
          </p:cNvCxnSpPr>
          <p:nvPr/>
        </p:nvCxnSpPr>
        <p:spPr>
          <a:xfrm>
            <a:off x="2193298" y="3091623"/>
            <a:ext cx="290786"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2BB06D27-4CD0-5351-B8DE-538B4738A7B9}"/>
              </a:ext>
            </a:extLst>
          </p:cNvPr>
          <p:cNvCxnSpPr>
            <a:cxnSpLocks/>
            <a:stCxn id="49" idx="4"/>
            <a:endCxn id="42" idx="0"/>
          </p:cNvCxnSpPr>
          <p:nvPr/>
        </p:nvCxnSpPr>
        <p:spPr>
          <a:xfrm flipH="1">
            <a:off x="1809118" y="3091623"/>
            <a:ext cx="384180"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C8023C28-5960-3125-088B-B1576816D899}"/>
              </a:ext>
            </a:extLst>
          </p:cNvPr>
          <p:cNvCxnSpPr>
            <a:cxnSpLocks/>
            <a:stCxn id="42" idx="4"/>
            <a:endCxn id="82" idx="0"/>
          </p:cNvCxnSpPr>
          <p:nvPr/>
        </p:nvCxnSpPr>
        <p:spPr>
          <a:xfrm flipH="1">
            <a:off x="1022495" y="3742991"/>
            <a:ext cx="786623"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56A58593-0DA4-6DDE-A71F-7DB6B960FEEB}"/>
              </a:ext>
            </a:extLst>
          </p:cNvPr>
          <p:cNvCxnSpPr>
            <a:cxnSpLocks/>
            <a:stCxn id="42" idx="4"/>
            <a:endCxn id="44" idx="0"/>
          </p:cNvCxnSpPr>
          <p:nvPr/>
        </p:nvCxnSpPr>
        <p:spPr>
          <a:xfrm flipH="1">
            <a:off x="1757016" y="3742991"/>
            <a:ext cx="52102"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65A667A1-B8B4-6EEA-E1AE-77A135C9BAED}"/>
              </a:ext>
            </a:extLst>
          </p:cNvPr>
          <p:cNvSpPr/>
          <p:nvPr/>
        </p:nvSpPr>
        <p:spPr>
          <a:xfrm>
            <a:off x="1968309" y="2691513"/>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G</a:t>
            </a:r>
          </a:p>
        </p:txBody>
      </p:sp>
      <p:sp>
        <p:nvSpPr>
          <p:cNvPr id="50" name="Oval 49">
            <a:extLst>
              <a:ext uri="{FF2B5EF4-FFF2-40B4-BE49-F238E27FC236}">
                <a16:creationId xmlns:a16="http://schemas.microsoft.com/office/drawing/2014/main" id="{CD3D9874-25B1-4AC8-591D-959B117B5E50}"/>
              </a:ext>
            </a:extLst>
          </p:cNvPr>
          <p:cNvSpPr/>
          <p:nvPr/>
        </p:nvSpPr>
        <p:spPr>
          <a:xfrm>
            <a:off x="2259095" y="3342881"/>
            <a:ext cx="449977"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P</a:t>
            </a:r>
          </a:p>
        </p:txBody>
      </p:sp>
      <p:cxnSp>
        <p:nvCxnSpPr>
          <p:cNvPr id="51" name="Straight Arrow Connector 50">
            <a:extLst>
              <a:ext uri="{FF2B5EF4-FFF2-40B4-BE49-F238E27FC236}">
                <a16:creationId xmlns:a16="http://schemas.microsoft.com/office/drawing/2014/main" id="{C3EFBF92-F2F1-90DA-A36D-8754875115D8}"/>
              </a:ext>
            </a:extLst>
          </p:cNvPr>
          <p:cNvCxnSpPr>
            <a:cxnSpLocks/>
            <a:stCxn id="50" idx="4"/>
            <a:endCxn id="43" idx="0"/>
          </p:cNvCxnSpPr>
          <p:nvPr/>
        </p:nvCxnSpPr>
        <p:spPr>
          <a:xfrm>
            <a:off x="2484084" y="3742991"/>
            <a:ext cx="28487"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BF38E0DE-5186-D5B4-5A4D-7F4B37E46690}"/>
              </a:ext>
            </a:extLst>
          </p:cNvPr>
          <p:cNvCxnSpPr>
            <a:cxnSpLocks/>
            <a:stCxn id="50" idx="4"/>
          </p:cNvCxnSpPr>
          <p:nvPr/>
        </p:nvCxnSpPr>
        <p:spPr>
          <a:xfrm>
            <a:off x="2484084" y="3742991"/>
            <a:ext cx="784042"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Triangle 52">
            <a:extLst>
              <a:ext uri="{FF2B5EF4-FFF2-40B4-BE49-F238E27FC236}">
                <a16:creationId xmlns:a16="http://schemas.microsoft.com/office/drawing/2014/main" id="{CB1D8526-2E09-A0F4-010D-86A0F7CFE6D7}"/>
              </a:ext>
            </a:extLst>
          </p:cNvPr>
          <p:cNvSpPr/>
          <p:nvPr/>
        </p:nvSpPr>
        <p:spPr>
          <a:xfrm>
            <a:off x="2566938" y="4817150"/>
            <a:ext cx="679178"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R4</a:t>
            </a:r>
          </a:p>
        </p:txBody>
      </p:sp>
      <p:sp>
        <p:nvSpPr>
          <p:cNvPr id="55" name="Triangle 54">
            <a:extLst>
              <a:ext uri="{FF2B5EF4-FFF2-40B4-BE49-F238E27FC236}">
                <a16:creationId xmlns:a16="http://schemas.microsoft.com/office/drawing/2014/main" id="{E283EE1C-FA58-1BF9-9282-3C6BCFD8D686}"/>
              </a:ext>
            </a:extLst>
          </p:cNvPr>
          <p:cNvSpPr/>
          <p:nvPr/>
        </p:nvSpPr>
        <p:spPr>
          <a:xfrm>
            <a:off x="3268126" y="4817150"/>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R5</a:t>
            </a:r>
          </a:p>
        </p:txBody>
      </p:sp>
      <p:cxnSp>
        <p:nvCxnSpPr>
          <p:cNvPr id="56" name="Straight Arrow Connector 55">
            <a:extLst>
              <a:ext uri="{FF2B5EF4-FFF2-40B4-BE49-F238E27FC236}">
                <a16:creationId xmlns:a16="http://schemas.microsoft.com/office/drawing/2014/main" id="{D6A3FD6A-9738-9941-9B22-8664E0C60922}"/>
              </a:ext>
            </a:extLst>
          </p:cNvPr>
          <p:cNvCxnSpPr>
            <a:cxnSpLocks/>
            <a:endCxn id="53" idx="0"/>
          </p:cNvCxnSpPr>
          <p:nvPr/>
        </p:nvCxnSpPr>
        <p:spPr>
          <a:xfrm flipH="1">
            <a:off x="2906527" y="4394359"/>
            <a:ext cx="341385" cy="4227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05EBFF49-E9A4-00DC-C7D8-03CCD5EF2BC7}"/>
              </a:ext>
            </a:extLst>
          </p:cNvPr>
          <p:cNvCxnSpPr>
            <a:cxnSpLocks/>
            <a:endCxn id="55" idx="0"/>
          </p:cNvCxnSpPr>
          <p:nvPr/>
        </p:nvCxnSpPr>
        <p:spPr>
          <a:xfrm>
            <a:off x="3291327" y="4450544"/>
            <a:ext cx="316388" cy="3666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27452094-BA16-1329-551B-BA9A7356F9F9}"/>
              </a:ext>
            </a:extLst>
          </p:cNvPr>
          <p:cNvCxnSpPr>
            <a:cxnSpLocks/>
            <a:endCxn id="49" idx="0"/>
          </p:cNvCxnSpPr>
          <p:nvPr/>
        </p:nvCxnSpPr>
        <p:spPr>
          <a:xfrm flipH="1">
            <a:off x="2193298" y="2304969"/>
            <a:ext cx="290785" cy="386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Oval 80">
            <a:extLst>
              <a:ext uri="{FF2B5EF4-FFF2-40B4-BE49-F238E27FC236}">
                <a16:creationId xmlns:a16="http://schemas.microsoft.com/office/drawing/2014/main" id="{F80E2BA2-9891-604C-4FE1-77514989AE07}"/>
              </a:ext>
            </a:extLst>
          </p:cNvPr>
          <p:cNvSpPr/>
          <p:nvPr/>
        </p:nvSpPr>
        <p:spPr>
          <a:xfrm>
            <a:off x="3015005" y="4010237"/>
            <a:ext cx="449977"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N</a:t>
            </a:r>
          </a:p>
        </p:txBody>
      </p:sp>
      <p:sp>
        <p:nvSpPr>
          <p:cNvPr id="82" name="Triangle 81">
            <a:extLst>
              <a:ext uri="{FF2B5EF4-FFF2-40B4-BE49-F238E27FC236}">
                <a16:creationId xmlns:a16="http://schemas.microsoft.com/office/drawing/2014/main" id="{C92C6C86-AC5A-E035-2904-7473BA35F0A2}"/>
              </a:ext>
            </a:extLst>
          </p:cNvPr>
          <p:cNvSpPr/>
          <p:nvPr/>
        </p:nvSpPr>
        <p:spPr>
          <a:xfrm>
            <a:off x="682906" y="3976733"/>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R1</a:t>
            </a:r>
          </a:p>
        </p:txBody>
      </p:sp>
      <p:sp>
        <p:nvSpPr>
          <p:cNvPr id="83" name="Right Arrow 82">
            <a:extLst>
              <a:ext uri="{FF2B5EF4-FFF2-40B4-BE49-F238E27FC236}">
                <a16:creationId xmlns:a16="http://schemas.microsoft.com/office/drawing/2014/main" id="{1FFCAD8A-E0C9-FF3D-C5BC-E0AB166263A1}"/>
              </a:ext>
            </a:extLst>
          </p:cNvPr>
          <p:cNvSpPr/>
          <p:nvPr/>
        </p:nvSpPr>
        <p:spPr>
          <a:xfrm>
            <a:off x="3996211" y="3640945"/>
            <a:ext cx="987105" cy="240030"/>
          </a:xfrm>
          <a:prstGeom prst="rightArrow">
            <a:avLst/>
          </a:prstGeom>
          <a:solidFill>
            <a:srgbClr val="00B050"/>
          </a:solidFill>
          <a:ln>
            <a:solidFill>
              <a:srgbClr val="00B05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VN"/>
          </a:p>
        </p:txBody>
      </p:sp>
      <p:sp>
        <p:nvSpPr>
          <p:cNvPr id="102" name="Oval 101">
            <a:extLst>
              <a:ext uri="{FF2B5EF4-FFF2-40B4-BE49-F238E27FC236}">
                <a16:creationId xmlns:a16="http://schemas.microsoft.com/office/drawing/2014/main" id="{E78C8691-B002-BA78-771C-353108FE0EE3}"/>
              </a:ext>
            </a:extLst>
          </p:cNvPr>
          <p:cNvSpPr/>
          <p:nvPr/>
        </p:nvSpPr>
        <p:spPr>
          <a:xfrm>
            <a:off x="5714791" y="4043741"/>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U</a:t>
            </a:r>
          </a:p>
        </p:txBody>
      </p:sp>
      <p:sp>
        <p:nvSpPr>
          <p:cNvPr id="103" name="Oval 102">
            <a:extLst>
              <a:ext uri="{FF2B5EF4-FFF2-40B4-BE49-F238E27FC236}">
                <a16:creationId xmlns:a16="http://schemas.microsoft.com/office/drawing/2014/main" id="{9F6CBDDB-5970-611E-FCB5-A3B1417F2E90}"/>
              </a:ext>
            </a:extLst>
          </p:cNvPr>
          <p:cNvSpPr/>
          <p:nvPr/>
        </p:nvSpPr>
        <p:spPr>
          <a:xfrm>
            <a:off x="6327259" y="3376385"/>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G</a:t>
            </a:r>
          </a:p>
        </p:txBody>
      </p:sp>
      <p:sp>
        <p:nvSpPr>
          <p:cNvPr id="104" name="Triangle 103">
            <a:extLst>
              <a:ext uri="{FF2B5EF4-FFF2-40B4-BE49-F238E27FC236}">
                <a16:creationId xmlns:a16="http://schemas.microsoft.com/office/drawing/2014/main" id="{93CCB0B4-56D5-EB0F-4EA4-1F0CCDD35BE6}"/>
              </a:ext>
            </a:extLst>
          </p:cNvPr>
          <p:cNvSpPr/>
          <p:nvPr/>
        </p:nvSpPr>
        <p:spPr>
          <a:xfrm>
            <a:off x="6916112" y="4010237"/>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R4</a:t>
            </a:r>
          </a:p>
        </p:txBody>
      </p:sp>
      <p:sp>
        <p:nvSpPr>
          <p:cNvPr id="105" name="Triangle 104">
            <a:extLst>
              <a:ext uri="{FF2B5EF4-FFF2-40B4-BE49-F238E27FC236}">
                <a16:creationId xmlns:a16="http://schemas.microsoft.com/office/drawing/2014/main" id="{5213FE52-B207-5336-1DCE-1C9C266D0612}"/>
              </a:ext>
            </a:extLst>
          </p:cNvPr>
          <p:cNvSpPr/>
          <p:nvPr/>
        </p:nvSpPr>
        <p:spPr>
          <a:xfrm>
            <a:off x="6160557" y="4010237"/>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R3</a:t>
            </a:r>
          </a:p>
        </p:txBody>
      </p:sp>
      <p:cxnSp>
        <p:nvCxnSpPr>
          <p:cNvPr id="106" name="Straight Arrow Connector 105">
            <a:extLst>
              <a:ext uri="{FF2B5EF4-FFF2-40B4-BE49-F238E27FC236}">
                <a16:creationId xmlns:a16="http://schemas.microsoft.com/office/drawing/2014/main" id="{7E21E642-FCCC-3A50-6746-6BBE87CBB1CA}"/>
              </a:ext>
            </a:extLst>
          </p:cNvPr>
          <p:cNvCxnSpPr>
            <a:cxnSpLocks/>
            <a:stCxn id="110" idx="4"/>
            <a:endCxn id="111" idx="0"/>
          </p:cNvCxnSpPr>
          <p:nvPr/>
        </p:nvCxnSpPr>
        <p:spPr>
          <a:xfrm>
            <a:off x="6936428" y="3125127"/>
            <a:ext cx="290786"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B2D6C7A8-4B65-D2D3-4646-74A97342E1FB}"/>
              </a:ext>
            </a:extLst>
          </p:cNvPr>
          <p:cNvCxnSpPr>
            <a:cxnSpLocks/>
            <a:stCxn id="110" idx="4"/>
            <a:endCxn id="103" idx="0"/>
          </p:cNvCxnSpPr>
          <p:nvPr/>
        </p:nvCxnSpPr>
        <p:spPr>
          <a:xfrm flipH="1">
            <a:off x="6552248" y="3125127"/>
            <a:ext cx="384180"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F94E9F1E-04C8-C57C-7CC8-710D4501FB34}"/>
              </a:ext>
            </a:extLst>
          </p:cNvPr>
          <p:cNvCxnSpPr>
            <a:cxnSpLocks/>
            <a:stCxn id="103" idx="4"/>
            <a:endCxn id="102" idx="0"/>
          </p:cNvCxnSpPr>
          <p:nvPr/>
        </p:nvCxnSpPr>
        <p:spPr>
          <a:xfrm flipH="1">
            <a:off x="5939780" y="3776495"/>
            <a:ext cx="612468" cy="2672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86471579-6EDA-F477-39F6-1AE81D860AFE}"/>
              </a:ext>
            </a:extLst>
          </p:cNvPr>
          <p:cNvCxnSpPr>
            <a:cxnSpLocks/>
            <a:stCxn id="103" idx="4"/>
            <a:endCxn id="105" idx="0"/>
          </p:cNvCxnSpPr>
          <p:nvPr/>
        </p:nvCxnSpPr>
        <p:spPr>
          <a:xfrm flipH="1">
            <a:off x="6500146" y="3776495"/>
            <a:ext cx="52102"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0" name="Oval 109">
            <a:extLst>
              <a:ext uri="{FF2B5EF4-FFF2-40B4-BE49-F238E27FC236}">
                <a16:creationId xmlns:a16="http://schemas.microsoft.com/office/drawing/2014/main" id="{8DB78F83-E925-E751-8157-1FC90BBB0986}"/>
              </a:ext>
            </a:extLst>
          </p:cNvPr>
          <p:cNvSpPr/>
          <p:nvPr/>
        </p:nvSpPr>
        <p:spPr>
          <a:xfrm>
            <a:off x="6711439" y="2725017"/>
            <a:ext cx="449977"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P</a:t>
            </a:r>
          </a:p>
        </p:txBody>
      </p:sp>
      <p:sp>
        <p:nvSpPr>
          <p:cNvPr id="111" name="Oval 110">
            <a:extLst>
              <a:ext uri="{FF2B5EF4-FFF2-40B4-BE49-F238E27FC236}">
                <a16:creationId xmlns:a16="http://schemas.microsoft.com/office/drawing/2014/main" id="{51C6E161-517B-CB09-027B-FF4288EFBD9E}"/>
              </a:ext>
            </a:extLst>
          </p:cNvPr>
          <p:cNvSpPr/>
          <p:nvPr/>
        </p:nvSpPr>
        <p:spPr>
          <a:xfrm>
            <a:off x="7002225" y="3376385"/>
            <a:ext cx="449977"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N</a:t>
            </a:r>
          </a:p>
        </p:txBody>
      </p:sp>
      <p:sp>
        <p:nvSpPr>
          <p:cNvPr id="112" name="Triangle 111">
            <a:extLst>
              <a:ext uri="{FF2B5EF4-FFF2-40B4-BE49-F238E27FC236}">
                <a16:creationId xmlns:a16="http://schemas.microsoft.com/office/drawing/2014/main" id="{39F3A0E5-C030-7261-5E02-87DCD1961CD3}"/>
              </a:ext>
            </a:extLst>
          </p:cNvPr>
          <p:cNvSpPr/>
          <p:nvPr/>
        </p:nvSpPr>
        <p:spPr>
          <a:xfrm>
            <a:off x="7671667" y="4010237"/>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R5</a:t>
            </a:r>
          </a:p>
        </p:txBody>
      </p:sp>
      <p:cxnSp>
        <p:nvCxnSpPr>
          <p:cNvPr id="113" name="Straight Arrow Connector 112">
            <a:extLst>
              <a:ext uri="{FF2B5EF4-FFF2-40B4-BE49-F238E27FC236}">
                <a16:creationId xmlns:a16="http://schemas.microsoft.com/office/drawing/2014/main" id="{41161FF0-8267-728E-F5B6-8DAFDA66E557}"/>
              </a:ext>
            </a:extLst>
          </p:cNvPr>
          <p:cNvCxnSpPr>
            <a:cxnSpLocks/>
            <a:stCxn id="111" idx="4"/>
            <a:endCxn id="104" idx="0"/>
          </p:cNvCxnSpPr>
          <p:nvPr/>
        </p:nvCxnSpPr>
        <p:spPr>
          <a:xfrm>
            <a:off x="7227214" y="3776495"/>
            <a:ext cx="28487"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52ADB8E5-5456-6E80-3EEC-E3F737E5BDB4}"/>
              </a:ext>
            </a:extLst>
          </p:cNvPr>
          <p:cNvCxnSpPr>
            <a:cxnSpLocks/>
            <a:stCxn id="111" idx="4"/>
            <a:endCxn id="112" idx="0"/>
          </p:cNvCxnSpPr>
          <p:nvPr/>
        </p:nvCxnSpPr>
        <p:spPr>
          <a:xfrm>
            <a:off x="7227214" y="3776495"/>
            <a:ext cx="784042"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5" name="Triangle 114">
            <a:extLst>
              <a:ext uri="{FF2B5EF4-FFF2-40B4-BE49-F238E27FC236}">
                <a16:creationId xmlns:a16="http://schemas.microsoft.com/office/drawing/2014/main" id="{21E92EAF-A052-4D18-086B-0A9FFFDA5E63}"/>
              </a:ext>
            </a:extLst>
          </p:cNvPr>
          <p:cNvSpPr/>
          <p:nvPr/>
        </p:nvSpPr>
        <p:spPr>
          <a:xfrm>
            <a:off x="5196699" y="4810457"/>
            <a:ext cx="679178"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R1</a:t>
            </a:r>
          </a:p>
        </p:txBody>
      </p:sp>
      <p:sp>
        <p:nvSpPr>
          <p:cNvPr id="116" name="Triangle 115">
            <a:extLst>
              <a:ext uri="{FF2B5EF4-FFF2-40B4-BE49-F238E27FC236}">
                <a16:creationId xmlns:a16="http://schemas.microsoft.com/office/drawing/2014/main" id="{73E4412C-6E5A-F440-1006-23B7F60A13A5}"/>
              </a:ext>
            </a:extLst>
          </p:cNvPr>
          <p:cNvSpPr/>
          <p:nvPr/>
        </p:nvSpPr>
        <p:spPr>
          <a:xfrm>
            <a:off x="5897887" y="4810457"/>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R2</a:t>
            </a:r>
          </a:p>
        </p:txBody>
      </p:sp>
      <p:cxnSp>
        <p:nvCxnSpPr>
          <p:cNvPr id="117" name="Straight Arrow Connector 116">
            <a:extLst>
              <a:ext uri="{FF2B5EF4-FFF2-40B4-BE49-F238E27FC236}">
                <a16:creationId xmlns:a16="http://schemas.microsoft.com/office/drawing/2014/main" id="{EF0826BB-3736-073D-7EB9-AE64E155CD12}"/>
              </a:ext>
            </a:extLst>
          </p:cNvPr>
          <p:cNvCxnSpPr>
            <a:cxnSpLocks/>
            <a:endCxn id="115" idx="0"/>
          </p:cNvCxnSpPr>
          <p:nvPr/>
        </p:nvCxnSpPr>
        <p:spPr>
          <a:xfrm flipH="1">
            <a:off x="5536288" y="4387666"/>
            <a:ext cx="341385" cy="4227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56BC768A-5C2C-DDF8-41AB-7F255DAAA2D7}"/>
              </a:ext>
            </a:extLst>
          </p:cNvPr>
          <p:cNvCxnSpPr>
            <a:cxnSpLocks/>
            <a:endCxn id="116" idx="0"/>
          </p:cNvCxnSpPr>
          <p:nvPr/>
        </p:nvCxnSpPr>
        <p:spPr>
          <a:xfrm>
            <a:off x="5921088" y="4443851"/>
            <a:ext cx="316388" cy="3666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83F51D0A-F283-671E-3DD1-F6099F6BA251}"/>
              </a:ext>
            </a:extLst>
          </p:cNvPr>
          <p:cNvCxnSpPr>
            <a:cxnSpLocks/>
            <a:endCxn id="110" idx="0"/>
          </p:cNvCxnSpPr>
          <p:nvPr/>
        </p:nvCxnSpPr>
        <p:spPr>
          <a:xfrm flipH="1">
            <a:off x="6936428" y="2338473"/>
            <a:ext cx="290785" cy="386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8161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2"/>
                                        </p:tgtEl>
                                        <p:attrNameLst>
                                          <p:attrName>style.visibility</p:attrName>
                                        </p:attrNameLst>
                                      </p:cBhvr>
                                      <p:to>
                                        <p:strVal val="visible"/>
                                      </p:to>
                                    </p:set>
                                  </p:childTnLst>
                                </p:cTn>
                              </p:par>
                              <p:par>
                                <p:cTn id="17" presetID="1" presetClass="entr" presetSubtype="0" fill="hold" grpId="0" nodeType="withEffect">
                                  <p:stCondLst>
                                    <p:cond delay="0"/>
                                  </p:stCondLst>
                                  <p:iterate type="lt">
                                    <p:tmAbs val="0"/>
                                  </p:iterate>
                                  <p:childTnLst>
                                    <p:set>
                                      <p:cBhvr>
                                        <p:cTn id="18" dur="1" fill="hold">
                                          <p:stCondLst>
                                            <p:cond delay="0"/>
                                          </p:stCondLst>
                                        </p:cTn>
                                        <p:tgtEl>
                                          <p:spTgt spid="10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9"/>
                                        </p:tgtEl>
                                        <p:attrNameLst>
                                          <p:attrName>style.visibility</p:attrName>
                                        </p:attrNameLst>
                                      </p:cBhvr>
                                      <p:to>
                                        <p:strVal val="visible"/>
                                      </p:to>
                                    </p:set>
                                  </p:childTnLst>
                                </p:cTn>
                              </p:par>
                              <p:par>
                                <p:cTn id="31" presetID="1" presetClass="entr" presetSubtype="0" fill="hold" grpId="0" nodeType="withEffect">
                                  <p:stCondLst>
                                    <p:cond delay="0"/>
                                  </p:stCondLst>
                                  <p:iterate type="lt">
                                    <p:tmAbs val="0"/>
                                  </p:iterate>
                                  <p:childTnLst>
                                    <p:set>
                                      <p:cBhvr>
                                        <p:cTn id="32" dur="1" fill="hold">
                                          <p:stCondLst>
                                            <p:cond delay="0"/>
                                          </p:stCondLst>
                                        </p:cTn>
                                        <p:tgtEl>
                                          <p:spTgt spid="1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1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1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1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1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6" presetClass="emph" presetSubtype="0" fill="hold" grpId="1" nodeType="clickEffect">
                                  <p:stCondLst>
                                    <p:cond delay="0"/>
                                  </p:stCondLst>
                                  <p:iterate type="lt">
                                    <p:tmPct val="4000"/>
                                  </p:iterate>
                                  <p:childTnLst>
                                    <p:set>
                                      <p:cBhvr override="childStyle">
                                        <p:cTn id="54" dur="500" fill="hold"/>
                                        <p:tgtEl>
                                          <p:spTgt spid="110"/>
                                        </p:tgtEl>
                                        <p:attrNameLst>
                                          <p:attrName>style.color</p:attrName>
                                        </p:attrNameLst>
                                      </p:cBhvr>
                                      <p:to>
                                        <p:clrVal>
                                          <a:schemeClr val="tx1"/>
                                        </p:clrVal>
                                      </p:to>
                                    </p:set>
                                    <p:set>
                                      <p:cBhvr>
                                        <p:cTn id="55" dur="500" fill="hold"/>
                                        <p:tgtEl>
                                          <p:spTgt spid="110"/>
                                        </p:tgtEl>
                                        <p:attrNameLst>
                                          <p:attrName>fillcolor</p:attrName>
                                        </p:attrNameLst>
                                      </p:cBhvr>
                                      <p:to>
                                        <p:clrVal>
                                          <a:schemeClr val="tx1"/>
                                        </p:clrVal>
                                      </p:to>
                                    </p:set>
                                    <p:set>
                                      <p:cBhvr>
                                        <p:cTn id="56" dur="500" fill="hold"/>
                                        <p:tgtEl>
                                          <p:spTgt spid="110"/>
                                        </p:tgtEl>
                                        <p:attrNameLst>
                                          <p:attrName>fill.type</p:attrName>
                                        </p:attrNameLst>
                                      </p:cBhvr>
                                      <p:to>
                                        <p:strVal val="solid"/>
                                      </p:to>
                                    </p:set>
                                  </p:childTnLst>
                                </p:cTn>
                              </p:par>
                              <p:par>
                                <p:cTn id="57" presetID="3" presetClass="emph" presetSubtype="2" fill="hold" grpId="2" nodeType="withEffect">
                                  <p:stCondLst>
                                    <p:cond delay="0"/>
                                  </p:stCondLst>
                                  <p:iterate type="lt">
                                    <p:tmPct val="0"/>
                                  </p:iterate>
                                  <p:childTnLst>
                                    <p:animClr clrSpc="rgb" dir="cw">
                                      <p:cBhvr override="childStyle">
                                        <p:cTn id="58" dur="2000" fill="hold"/>
                                        <p:tgtEl>
                                          <p:spTgt spid="110"/>
                                        </p:tgtEl>
                                        <p:attrNameLst>
                                          <p:attrName>style.color</p:attrName>
                                        </p:attrNameLst>
                                      </p:cBhvr>
                                      <p:to>
                                        <a:schemeClr val="bg1"/>
                                      </p:to>
                                    </p:animClr>
                                  </p:childTnLst>
                                </p:cTn>
                              </p:par>
                              <p:par>
                                <p:cTn id="59" presetID="16" presetClass="emph" presetSubtype="0" fill="hold" grpId="1" nodeType="withEffect">
                                  <p:stCondLst>
                                    <p:cond delay="0"/>
                                  </p:stCondLst>
                                  <p:iterate type="lt">
                                    <p:tmPct val="4000"/>
                                  </p:iterate>
                                  <p:childTnLst>
                                    <p:set>
                                      <p:cBhvr override="childStyle">
                                        <p:cTn id="60" dur="500" fill="hold"/>
                                        <p:tgtEl>
                                          <p:spTgt spid="103"/>
                                        </p:tgtEl>
                                        <p:attrNameLst>
                                          <p:attrName>style.color</p:attrName>
                                        </p:attrNameLst>
                                      </p:cBhvr>
                                      <p:to>
                                        <p:clrVal>
                                          <a:srgbClr val="F31407"/>
                                        </p:clrVal>
                                      </p:to>
                                    </p:set>
                                    <p:set>
                                      <p:cBhvr>
                                        <p:cTn id="61" dur="500" fill="hold"/>
                                        <p:tgtEl>
                                          <p:spTgt spid="103"/>
                                        </p:tgtEl>
                                        <p:attrNameLst>
                                          <p:attrName>fillcolor</p:attrName>
                                        </p:attrNameLst>
                                      </p:cBhvr>
                                      <p:to>
                                        <p:clrVal>
                                          <a:srgbClr val="F31407"/>
                                        </p:clrVal>
                                      </p:to>
                                    </p:set>
                                    <p:set>
                                      <p:cBhvr>
                                        <p:cTn id="62" dur="500" fill="hold"/>
                                        <p:tgtEl>
                                          <p:spTgt spid="103"/>
                                        </p:tgtEl>
                                        <p:attrNameLst>
                                          <p:attrName>fill.type</p:attrName>
                                        </p:attrNameLst>
                                      </p:cBhvr>
                                      <p:to>
                                        <p:strVal val="solid"/>
                                      </p:to>
                                    </p:set>
                                  </p:childTnLst>
                                </p:cTn>
                              </p:par>
                              <p:par>
                                <p:cTn id="63" presetID="3" presetClass="emph" presetSubtype="2" fill="hold" grpId="2" nodeType="withEffect">
                                  <p:stCondLst>
                                    <p:cond delay="0"/>
                                  </p:stCondLst>
                                  <p:iterate type="lt">
                                    <p:tmPct val="0"/>
                                  </p:iterate>
                                  <p:childTnLst>
                                    <p:animClr clrSpc="rgb" dir="cw">
                                      <p:cBhvr override="childStyle">
                                        <p:cTn id="64" dur="2000" fill="hold"/>
                                        <p:tgtEl>
                                          <p:spTgt spid="103"/>
                                        </p:tgtEl>
                                        <p:attrNameLst>
                                          <p:attrName>style.color</p:attrName>
                                        </p:attrNameLst>
                                      </p:cBhvr>
                                      <p:to>
                                        <a:schemeClr val="bg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P spid="79" grpId="0" animBg="1"/>
      <p:bldP spid="80" grpId="0" animBg="1"/>
      <p:bldP spid="83" grpId="0" animBg="1"/>
      <p:bldP spid="102" grpId="0" animBg="1"/>
      <p:bldP spid="103" grpId="0" animBg="1"/>
      <p:bldP spid="103" grpId="1" animBg="1"/>
      <p:bldP spid="103" grpId="2" animBg="1"/>
      <p:bldP spid="104" grpId="0" animBg="1"/>
      <p:bldP spid="105" grpId="0" animBg="1"/>
      <p:bldP spid="110" grpId="0" animBg="1"/>
      <p:bldP spid="110" grpId="1" animBg="1"/>
      <p:bldP spid="110" grpId="2" animBg="1"/>
      <p:bldP spid="111" grpId="0" animBg="1"/>
      <p:bldP spid="112" grpId="0" animBg="1"/>
      <p:bldP spid="115" grpId="0" animBg="1"/>
      <p:bldP spid="11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28</a:t>
            </a:fld>
            <a:endParaRPr lang="en-US" dirty="0"/>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lang="en-US" dirty="0"/>
              <a:t>THAO TÁC CƠ BẢN</a:t>
            </a:r>
          </a:p>
        </p:txBody>
      </p:sp>
      <p:sp>
        <p:nvSpPr>
          <p:cNvPr id="3" name="TextBox 2">
            <a:extLst>
              <a:ext uri="{FF2B5EF4-FFF2-40B4-BE49-F238E27FC236}">
                <a16:creationId xmlns:a16="http://schemas.microsoft.com/office/drawing/2014/main" id="{FB2A445E-0F6E-815C-D17A-9F0A8135FE1E}"/>
              </a:ext>
            </a:extLst>
          </p:cNvPr>
          <p:cNvSpPr txBox="1"/>
          <p:nvPr/>
        </p:nvSpPr>
        <p:spPr>
          <a:xfrm>
            <a:off x="682906" y="729204"/>
            <a:ext cx="4780634" cy="707886"/>
          </a:xfrm>
          <a:prstGeom prst="rect">
            <a:avLst/>
          </a:prstGeom>
          <a:noFill/>
        </p:spPr>
        <p:txBody>
          <a:bodyPr wrap="square" rtlCol="0">
            <a:spAutoFit/>
          </a:bodyPr>
          <a:lstStyle/>
          <a:p>
            <a:r>
              <a:rPr lang="en-VN" sz="2000" b="1" dirty="0">
                <a:solidFill>
                  <a:schemeClr val="accent1">
                    <a:lumMod val="50000"/>
                  </a:schemeClr>
                </a:solidFill>
                <a:latin typeface="Lato" panose="020F0502020204030203" pitchFamily="34" charset="0"/>
                <a:ea typeface="Lato" panose="020F0502020204030203" pitchFamily="34" charset="0"/>
                <a:cs typeface="Lato" panose="020F0502020204030203" pitchFamily="34" charset="0"/>
              </a:rPr>
              <a:t>2. Insertion (Thêm node vào cây đỏ đen)</a:t>
            </a:r>
          </a:p>
          <a:p>
            <a:endParaRPr lang="en-VN" sz="2000" b="1" dirty="0">
              <a:solidFill>
                <a:schemeClr val="accent1">
                  <a:lumMod val="50000"/>
                </a:schemeClr>
              </a:solidFill>
            </a:endParaRPr>
          </a:p>
        </p:txBody>
      </p:sp>
      <p:sp>
        <p:nvSpPr>
          <p:cNvPr id="7" name="TextBox 6">
            <a:extLst>
              <a:ext uri="{FF2B5EF4-FFF2-40B4-BE49-F238E27FC236}">
                <a16:creationId xmlns:a16="http://schemas.microsoft.com/office/drawing/2014/main" id="{6C4639FF-C762-3F88-3CE8-48A40412B7B3}"/>
              </a:ext>
            </a:extLst>
          </p:cNvPr>
          <p:cNvSpPr txBox="1"/>
          <p:nvPr/>
        </p:nvSpPr>
        <p:spPr>
          <a:xfrm>
            <a:off x="682906" y="1266610"/>
            <a:ext cx="5820764" cy="400110"/>
          </a:xfrm>
          <a:prstGeom prst="rect">
            <a:avLst/>
          </a:prstGeom>
          <a:noFill/>
        </p:spPr>
        <p:txBody>
          <a:bodyPr wrap="square" rtlCol="0">
            <a:spAutoFit/>
          </a:bodyPr>
          <a:lstStyle/>
          <a:p>
            <a:pPr marL="285750" indent="-285750">
              <a:buClr>
                <a:srgbClr val="C00000"/>
              </a:buClr>
              <a:buFont typeface="Wingdings" pitchFamily="2" charset="2"/>
              <a:buChar char="Ø"/>
            </a:pPr>
            <a:r>
              <a:rPr lang="en-VN" sz="2000" dirty="0">
                <a:solidFill>
                  <a:srgbClr val="C00000"/>
                </a:solidFill>
                <a:latin typeface="Lato" panose="020F0502020204030203" pitchFamily="34" charset="0"/>
                <a:ea typeface="Lato" panose="020F0502020204030203" pitchFamily="34" charset="0"/>
                <a:cs typeface="Lato" panose="020F0502020204030203" pitchFamily="34" charset="0"/>
              </a:rPr>
              <a:t>TH4: </a:t>
            </a:r>
            <a:r>
              <a:rPr lang="en-VN" sz="2000" dirty="0">
                <a:latin typeface="Lato" panose="020F0502020204030203" pitchFamily="34" charset="0"/>
                <a:ea typeface="Lato" panose="020F0502020204030203" pitchFamily="34" charset="0"/>
                <a:cs typeface="Lato" panose="020F0502020204030203" pitchFamily="34" charset="0"/>
              </a:rPr>
              <a:t>P là node đỏ và U là node đen</a:t>
            </a:r>
          </a:p>
        </p:txBody>
      </p:sp>
      <p:sp>
        <p:nvSpPr>
          <p:cNvPr id="12" name="TextBox 11">
            <a:extLst>
              <a:ext uri="{FF2B5EF4-FFF2-40B4-BE49-F238E27FC236}">
                <a16:creationId xmlns:a16="http://schemas.microsoft.com/office/drawing/2014/main" id="{5E47146E-CF86-4C75-DFEA-31B9DD189BB6}"/>
              </a:ext>
            </a:extLst>
          </p:cNvPr>
          <p:cNvSpPr txBox="1"/>
          <p:nvPr/>
        </p:nvSpPr>
        <p:spPr>
          <a:xfrm>
            <a:off x="820066" y="1595246"/>
            <a:ext cx="7800213" cy="493212"/>
          </a:xfrm>
          <a:prstGeom prst="rect">
            <a:avLst/>
          </a:prstGeom>
          <a:noFill/>
        </p:spPr>
        <p:txBody>
          <a:bodyPr wrap="square" rtlCol="0">
            <a:spAutoFit/>
          </a:bodyPr>
          <a:lstStyle/>
          <a:p>
            <a:pPr>
              <a:lnSpc>
                <a:spcPct val="150000"/>
              </a:lnSpc>
            </a:pPr>
            <a:r>
              <a:rPr lang="en-VN" sz="2000" dirty="0">
                <a:solidFill>
                  <a:srgbClr val="FF0000"/>
                </a:solidFill>
                <a:latin typeface="Lato" panose="020F0502020204030203" pitchFamily="34" charset="0"/>
                <a:ea typeface="Lato" panose="020F0502020204030203" pitchFamily="34" charset="0"/>
                <a:cs typeface="Lato" panose="020F0502020204030203" pitchFamily="34" charset="0"/>
              </a:rPr>
              <a:t>4. Right – Left</a:t>
            </a:r>
            <a:r>
              <a:rPr lang="en-VN" sz="20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 P là </a:t>
            </a:r>
            <a:r>
              <a:rPr lang="en-VN" sz="2000" dirty="0">
                <a:solidFill>
                  <a:srgbClr val="BC05B7"/>
                </a:solidFill>
                <a:latin typeface="Lato" panose="020F0502020204030203" pitchFamily="34" charset="0"/>
                <a:ea typeface="Lato" panose="020F0502020204030203" pitchFamily="34" charset="0"/>
                <a:cs typeface="Lato" panose="020F0502020204030203" pitchFamily="34" charset="0"/>
              </a:rPr>
              <a:t>con phải </a:t>
            </a:r>
            <a:r>
              <a:rPr lang="en-VN" sz="20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của G, N là </a:t>
            </a:r>
            <a:r>
              <a:rPr lang="en-VN" sz="2000" dirty="0">
                <a:solidFill>
                  <a:srgbClr val="00B050"/>
                </a:solidFill>
                <a:latin typeface="Lato" panose="020F0502020204030203" pitchFamily="34" charset="0"/>
                <a:ea typeface="Lato" panose="020F0502020204030203" pitchFamily="34" charset="0"/>
                <a:cs typeface="Lato" panose="020F0502020204030203" pitchFamily="34" charset="0"/>
              </a:rPr>
              <a:t>con trái </a:t>
            </a:r>
            <a:r>
              <a:rPr lang="en-VN" sz="20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của P</a:t>
            </a:r>
          </a:p>
        </p:txBody>
      </p:sp>
      <p:sp>
        <p:nvSpPr>
          <p:cNvPr id="78" name="TextBox 77">
            <a:extLst>
              <a:ext uri="{FF2B5EF4-FFF2-40B4-BE49-F238E27FC236}">
                <a16:creationId xmlns:a16="http://schemas.microsoft.com/office/drawing/2014/main" id="{CBC836B4-4F06-92DE-760F-3A0C2D478574}"/>
              </a:ext>
            </a:extLst>
          </p:cNvPr>
          <p:cNvSpPr txBox="1"/>
          <p:nvPr/>
        </p:nvSpPr>
        <p:spPr>
          <a:xfrm>
            <a:off x="820065" y="5543550"/>
            <a:ext cx="3176145" cy="646331"/>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rtlCol="0">
            <a:spAutoFit/>
          </a:bodyPr>
          <a:lstStyle/>
          <a:p>
            <a:pPr marL="285750" indent="-285750">
              <a:buFont typeface="Wingdings" pitchFamily="2" charset="2"/>
              <a:buChar char="Ø"/>
            </a:pPr>
            <a:r>
              <a:rPr lang="en-VN" dirty="0">
                <a:latin typeface="Lato" panose="020F0502020204030203" pitchFamily="34" charset="0"/>
                <a:ea typeface="Lato" panose="020F0502020204030203" pitchFamily="34" charset="0"/>
                <a:cs typeface="Lato" panose="020F0502020204030203" pitchFamily="34" charset="0"/>
              </a:rPr>
              <a:t>Vi phạm yêu cầu: cha của node đỏ phải là node đen</a:t>
            </a:r>
          </a:p>
        </p:txBody>
      </p:sp>
      <p:sp>
        <p:nvSpPr>
          <p:cNvPr id="79" name="Right Arrow 78">
            <a:extLst>
              <a:ext uri="{FF2B5EF4-FFF2-40B4-BE49-F238E27FC236}">
                <a16:creationId xmlns:a16="http://schemas.microsoft.com/office/drawing/2014/main" id="{4580512F-3C30-15A9-65E6-19E26F260976}"/>
              </a:ext>
            </a:extLst>
          </p:cNvPr>
          <p:cNvSpPr/>
          <p:nvPr/>
        </p:nvSpPr>
        <p:spPr>
          <a:xfrm>
            <a:off x="4078447" y="5746526"/>
            <a:ext cx="987105" cy="240030"/>
          </a:xfrm>
          <a:prstGeom prst="rightArrow">
            <a:avLst/>
          </a:prstGeom>
          <a:solidFill>
            <a:srgbClr val="00B050"/>
          </a:solidFill>
          <a:ln>
            <a:solidFill>
              <a:srgbClr val="00B05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VN"/>
          </a:p>
        </p:txBody>
      </p:sp>
      <p:sp>
        <p:nvSpPr>
          <p:cNvPr id="80" name="TextBox 79">
            <a:extLst>
              <a:ext uri="{FF2B5EF4-FFF2-40B4-BE49-F238E27FC236}">
                <a16:creationId xmlns:a16="http://schemas.microsoft.com/office/drawing/2014/main" id="{380E7E3F-85C9-9616-A78C-F609B3A20681}"/>
              </a:ext>
            </a:extLst>
          </p:cNvPr>
          <p:cNvSpPr txBox="1"/>
          <p:nvPr/>
        </p:nvSpPr>
        <p:spPr>
          <a:xfrm>
            <a:off x="5292584" y="5680060"/>
            <a:ext cx="2433989" cy="369332"/>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rtlCol="0">
            <a:spAutoFit/>
          </a:bodyPr>
          <a:lstStyle/>
          <a:p>
            <a:pPr marL="285750" indent="-285750">
              <a:buFont typeface="Wingdings" pitchFamily="2" charset="2"/>
              <a:buChar char="Ø"/>
            </a:pPr>
            <a:r>
              <a:rPr lang="en-VN" dirty="0">
                <a:latin typeface="Lato" panose="020F0502020204030203" pitchFamily="34" charset="0"/>
                <a:ea typeface="Lato" panose="020F0502020204030203" pitchFamily="34" charset="0"/>
                <a:cs typeface="Lato" panose="020F0502020204030203" pitchFamily="34" charset="0"/>
              </a:rPr>
              <a:t>Quay phải node P</a:t>
            </a:r>
          </a:p>
        </p:txBody>
      </p:sp>
      <p:sp>
        <p:nvSpPr>
          <p:cNvPr id="42" name="Oval 41">
            <a:extLst>
              <a:ext uri="{FF2B5EF4-FFF2-40B4-BE49-F238E27FC236}">
                <a16:creationId xmlns:a16="http://schemas.microsoft.com/office/drawing/2014/main" id="{762B3FBC-9E1F-604C-F731-E794CE1C8B87}"/>
              </a:ext>
            </a:extLst>
          </p:cNvPr>
          <p:cNvSpPr/>
          <p:nvPr/>
        </p:nvSpPr>
        <p:spPr>
          <a:xfrm>
            <a:off x="1584129" y="3342881"/>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U</a:t>
            </a:r>
          </a:p>
        </p:txBody>
      </p:sp>
      <p:sp>
        <p:nvSpPr>
          <p:cNvPr id="43" name="Triangle 42">
            <a:extLst>
              <a:ext uri="{FF2B5EF4-FFF2-40B4-BE49-F238E27FC236}">
                <a16:creationId xmlns:a16="http://schemas.microsoft.com/office/drawing/2014/main" id="{E62E2CD0-AF57-A19B-3AF8-D686A491EA2F}"/>
              </a:ext>
            </a:extLst>
          </p:cNvPr>
          <p:cNvSpPr/>
          <p:nvPr/>
        </p:nvSpPr>
        <p:spPr>
          <a:xfrm>
            <a:off x="2708429" y="3976733"/>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R5</a:t>
            </a:r>
          </a:p>
        </p:txBody>
      </p:sp>
      <p:sp>
        <p:nvSpPr>
          <p:cNvPr id="44" name="Triangle 43">
            <a:extLst>
              <a:ext uri="{FF2B5EF4-FFF2-40B4-BE49-F238E27FC236}">
                <a16:creationId xmlns:a16="http://schemas.microsoft.com/office/drawing/2014/main" id="{27DC1521-CEA9-3A5A-BB94-84E424892C2F}"/>
              </a:ext>
            </a:extLst>
          </p:cNvPr>
          <p:cNvSpPr/>
          <p:nvPr/>
        </p:nvSpPr>
        <p:spPr>
          <a:xfrm>
            <a:off x="1417427" y="3976733"/>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R2</a:t>
            </a:r>
          </a:p>
        </p:txBody>
      </p:sp>
      <p:cxnSp>
        <p:nvCxnSpPr>
          <p:cNvPr id="45" name="Straight Arrow Connector 44">
            <a:extLst>
              <a:ext uri="{FF2B5EF4-FFF2-40B4-BE49-F238E27FC236}">
                <a16:creationId xmlns:a16="http://schemas.microsoft.com/office/drawing/2014/main" id="{E0E1CDD8-D387-2B53-4E8B-31395610E5D3}"/>
              </a:ext>
            </a:extLst>
          </p:cNvPr>
          <p:cNvCxnSpPr>
            <a:cxnSpLocks/>
            <a:stCxn id="49" idx="4"/>
            <a:endCxn id="50" idx="0"/>
          </p:cNvCxnSpPr>
          <p:nvPr/>
        </p:nvCxnSpPr>
        <p:spPr>
          <a:xfrm>
            <a:off x="2193298" y="3091623"/>
            <a:ext cx="290786"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2BB06D27-4CD0-5351-B8DE-538B4738A7B9}"/>
              </a:ext>
            </a:extLst>
          </p:cNvPr>
          <p:cNvCxnSpPr>
            <a:cxnSpLocks/>
            <a:stCxn id="49" idx="4"/>
            <a:endCxn id="42" idx="0"/>
          </p:cNvCxnSpPr>
          <p:nvPr/>
        </p:nvCxnSpPr>
        <p:spPr>
          <a:xfrm flipH="1">
            <a:off x="1809118" y="3091623"/>
            <a:ext cx="384180"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C8023C28-5960-3125-088B-B1576816D899}"/>
              </a:ext>
            </a:extLst>
          </p:cNvPr>
          <p:cNvCxnSpPr>
            <a:cxnSpLocks/>
            <a:stCxn id="42" idx="4"/>
            <a:endCxn id="82" idx="0"/>
          </p:cNvCxnSpPr>
          <p:nvPr/>
        </p:nvCxnSpPr>
        <p:spPr>
          <a:xfrm flipH="1">
            <a:off x="1022495" y="3742991"/>
            <a:ext cx="786623"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56A58593-0DA4-6DDE-A71F-7DB6B960FEEB}"/>
              </a:ext>
            </a:extLst>
          </p:cNvPr>
          <p:cNvCxnSpPr>
            <a:cxnSpLocks/>
            <a:stCxn id="42" idx="4"/>
            <a:endCxn id="44" idx="0"/>
          </p:cNvCxnSpPr>
          <p:nvPr/>
        </p:nvCxnSpPr>
        <p:spPr>
          <a:xfrm flipH="1">
            <a:off x="1757016" y="3742991"/>
            <a:ext cx="52102"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65A667A1-B8B4-6EEA-E1AE-77A135C9BAED}"/>
              </a:ext>
            </a:extLst>
          </p:cNvPr>
          <p:cNvSpPr/>
          <p:nvPr/>
        </p:nvSpPr>
        <p:spPr>
          <a:xfrm>
            <a:off x="1968309" y="2691513"/>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G</a:t>
            </a:r>
          </a:p>
        </p:txBody>
      </p:sp>
      <p:sp>
        <p:nvSpPr>
          <p:cNvPr id="50" name="Oval 49">
            <a:extLst>
              <a:ext uri="{FF2B5EF4-FFF2-40B4-BE49-F238E27FC236}">
                <a16:creationId xmlns:a16="http://schemas.microsoft.com/office/drawing/2014/main" id="{CD3D9874-25B1-4AC8-591D-959B117B5E50}"/>
              </a:ext>
            </a:extLst>
          </p:cNvPr>
          <p:cNvSpPr/>
          <p:nvPr/>
        </p:nvSpPr>
        <p:spPr>
          <a:xfrm>
            <a:off x="2259095" y="3342881"/>
            <a:ext cx="449977"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P</a:t>
            </a:r>
          </a:p>
        </p:txBody>
      </p:sp>
      <p:cxnSp>
        <p:nvCxnSpPr>
          <p:cNvPr id="51" name="Straight Arrow Connector 50">
            <a:extLst>
              <a:ext uri="{FF2B5EF4-FFF2-40B4-BE49-F238E27FC236}">
                <a16:creationId xmlns:a16="http://schemas.microsoft.com/office/drawing/2014/main" id="{C3EFBF92-F2F1-90DA-A36D-8754875115D8}"/>
              </a:ext>
            </a:extLst>
          </p:cNvPr>
          <p:cNvCxnSpPr>
            <a:cxnSpLocks/>
            <a:stCxn id="50" idx="4"/>
            <a:endCxn id="43" idx="0"/>
          </p:cNvCxnSpPr>
          <p:nvPr/>
        </p:nvCxnSpPr>
        <p:spPr>
          <a:xfrm>
            <a:off x="2484084" y="3742991"/>
            <a:ext cx="563934"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BF38E0DE-5186-D5B4-5A4D-7F4B37E46690}"/>
              </a:ext>
            </a:extLst>
          </p:cNvPr>
          <p:cNvCxnSpPr>
            <a:cxnSpLocks/>
            <a:stCxn id="50" idx="4"/>
            <a:endCxn id="81" idx="0"/>
          </p:cNvCxnSpPr>
          <p:nvPr/>
        </p:nvCxnSpPr>
        <p:spPr>
          <a:xfrm flipH="1">
            <a:off x="2356507" y="3742991"/>
            <a:ext cx="127577" cy="2347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Triangle 52">
            <a:extLst>
              <a:ext uri="{FF2B5EF4-FFF2-40B4-BE49-F238E27FC236}">
                <a16:creationId xmlns:a16="http://schemas.microsoft.com/office/drawing/2014/main" id="{CB1D8526-2E09-A0F4-010D-86A0F7CFE6D7}"/>
              </a:ext>
            </a:extLst>
          </p:cNvPr>
          <p:cNvSpPr/>
          <p:nvPr/>
        </p:nvSpPr>
        <p:spPr>
          <a:xfrm>
            <a:off x="1678300" y="4805401"/>
            <a:ext cx="679178"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R3</a:t>
            </a:r>
          </a:p>
        </p:txBody>
      </p:sp>
      <p:sp>
        <p:nvSpPr>
          <p:cNvPr id="55" name="Triangle 54">
            <a:extLst>
              <a:ext uri="{FF2B5EF4-FFF2-40B4-BE49-F238E27FC236}">
                <a16:creationId xmlns:a16="http://schemas.microsoft.com/office/drawing/2014/main" id="{E283EE1C-FA58-1BF9-9282-3C6BCFD8D686}"/>
              </a:ext>
            </a:extLst>
          </p:cNvPr>
          <p:cNvSpPr/>
          <p:nvPr/>
        </p:nvSpPr>
        <p:spPr>
          <a:xfrm>
            <a:off x="2379488" y="4805401"/>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R4</a:t>
            </a:r>
          </a:p>
        </p:txBody>
      </p:sp>
      <p:cxnSp>
        <p:nvCxnSpPr>
          <p:cNvPr id="56" name="Straight Arrow Connector 55">
            <a:extLst>
              <a:ext uri="{FF2B5EF4-FFF2-40B4-BE49-F238E27FC236}">
                <a16:creationId xmlns:a16="http://schemas.microsoft.com/office/drawing/2014/main" id="{D6A3FD6A-9738-9941-9B22-8664E0C60922}"/>
              </a:ext>
            </a:extLst>
          </p:cNvPr>
          <p:cNvCxnSpPr>
            <a:cxnSpLocks/>
            <a:endCxn id="53" idx="0"/>
          </p:cNvCxnSpPr>
          <p:nvPr/>
        </p:nvCxnSpPr>
        <p:spPr>
          <a:xfrm flipH="1">
            <a:off x="2017889" y="4382610"/>
            <a:ext cx="341385" cy="4227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05EBFF49-E9A4-00DC-C7D8-03CCD5EF2BC7}"/>
              </a:ext>
            </a:extLst>
          </p:cNvPr>
          <p:cNvCxnSpPr>
            <a:cxnSpLocks/>
            <a:endCxn id="55" idx="0"/>
          </p:cNvCxnSpPr>
          <p:nvPr/>
        </p:nvCxnSpPr>
        <p:spPr>
          <a:xfrm>
            <a:off x="2402689" y="4438795"/>
            <a:ext cx="316388" cy="3666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27452094-BA16-1329-551B-BA9A7356F9F9}"/>
              </a:ext>
            </a:extLst>
          </p:cNvPr>
          <p:cNvCxnSpPr>
            <a:cxnSpLocks/>
            <a:endCxn id="49" idx="0"/>
          </p:cNvCxnSpPr>
          <p:nvPr/>
        </p:nvCxnSpPr>
        <p:spPr>
          <a:xfrm flipH="1">
            <a:off x="2193298" y="2304969"/>
            <a:ext cx="290785" cy="386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Oval 80">
            <a:extLst>
              <a:ext uri="{FF2B5EF4-FFF2-40B4-BE49-F238E27FC236}">
                <a16:creationId xmlns:a16="http://schemas.microsoft.com/office/drawing/2014/main" id="{F80E2BA2-9891-604C-4FE1-77514989AE07}"/>
              </a:ext>
            </a:extLst>
          </p:cNvPr>
          <p:cNvSpPr/>
          <p:nvPr/>
        </p:nvSpPr>
        <p:spPr>
          <a:xfrm>
            <a:off x="2131518" y="3977759"/>
            <a:ext cx="449977"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N</a:t>
            </a:r>
          </a:p>
        </p:txBody>
      </p:sp>
      <p:sp>
        <p:nvSpPr>
          <p:cNvPr id="82" name="Triangle 81">
            <a:extLst>
              <a:ext uri="{FF2B5EF4-FFF2-40B4-BE49-F238E27FC236}">
                <a16:creationId xmlns:a16="http://schemas.microsoft.com/office/drawing/2014/main" id="{C92C6C86-AC5A-E035-2904-7473BA35F0A2}"/>
              </a:ext>
            </a:extLst>
          </p:cNvPr>
          <p:cNvSpPr/>
          <p:nvPr/>
        </p:nvSpPr>
        <p:spPr>
          <a:xfrm>
            <a:off x="682906" y="3976733"/>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R1</a:t>
            </a:r>
          </a:p>
        </p:txBody>
      </p:sp>
      <p:sp>
        <p:nvSpPr>
          <p:cNvPr id="83" name="Right Arrow 82">
            <a:extLst>
              <a:ext uri="{FF2B5EF4-FFF2-40B4-BE49-F238E27FC236}">
                <a16:creationId xmlns:a16="http://schemas.microsoft.com/office/drawing/2014/main" id="{1FFCAD8A-E0C9-FF3D-C5BC-E0AB166263A1}"/>
              </a:ext>
            </a:extLst>
          </p:cNvPr>
          <p:cNvSpPr/>
          <p:nvPr/>
        </p:nvSpPr>
        <p:spPr>
          <a:xfrm>
            <a:off x="3996211" y="3640945"/>
            <a:ext cx="987105" cy="240030"/>
          </a:xfrm>
          <a:prstGeom prst="rightArrow">
            <a:avLst/>
          </a:prstGeom>
          <a:solidFill>
            <a:srgbClr val="00B050"/>
          </a:solidFill>
          <a:ln>
            <a:solidFill>
              <a:srgbClr val="00B05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VN"/>
          </a:p>
        </p:txBody>
      </p:sp>
      <p:sp>
        <p:nvSpPr>
          <p:cNvPr id="102" name="Oval 101">
            <a:extLst>
              <a:ext uri="{FF2B5EF4-FFF2-40B4-BE49-F238E27FC236}">
                <a16:creationId xmlns:a16="http://schemas.microsoft.com/office/drawing/2014/main" id="{E78C8691-B002-BA78-771C-353108FE0EE3}"/>
              </a:ext>
            </a:extLst>
          </p:cNvPr>
          <p:cNvSpPr/>
          <p:nvPr/>
        </p:nvSpPr>
        <p:spPr>
          <a:xfrm>
            <a:off x="7726573" y="4009041"/>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P</a:t>
            </a:r>
          </a:p>
        </p:txBody>
      </p:sp>
      <p:sp>
        <p:nvSpPr>
          <p:cNvPr id="103" name="Oval 102">
            <a:extLst>
              <a:ext uri="{FF2B5EF4-FFF2-40B4-BE49-F238E27FC236}">
                <a16:creationId xmlns:a16="http://schemas.microsoft.com/office/drawing/2014/main" id="{9F6CBDDB-5970-611E-FCB5-A3B1417F2E90}"/>
              </a:ext>
            </a:extLst>
          </p:cNvPr>
          <p:cNvSpPr/>
          <p:nvPr/>
        </p:nvSpPr>
        <p:spPr>
          <a:xfrm>
            <a:off x="6327259" y="3376385"/>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U</a:t>
            </a:r>
          </a:p>
        </p:txBody>
      </p:sp>
      <p:sp>
        <p:nvSpPr>
          <p:cNvPr id="104" name="Triangle 103">
            <a:extLst>
              <a:ext uri="{FF2B5EF4-FFF2-40B4-BE49-F238E27FC236}">
                <a16:creationId xmlns:a16="http://schemas.microsoft.com/office/drawing/2014/main" id="{93CCB0B4-56D5-EB0F-4EA4-1F0CCDD35BE6}"/>
              </a:ext>
            </a:extLst>
          </p:cNvPr>
          <p:cNvSpPr/>
          <p:nvPr/>
        </p:nvSpPr>
        <p:spPr>
          <a:xfrm>
            <a:off x="6916112" y="4010237"/>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R3</a:t>
            </a:r>
          </a:p>
        </p:txBody>
      </p:sp>
      <p:sp>
        <p:nvSpPr>
          <p:cNvPr id="105" name="Triangle 104">
            <a:extLst>
              <a:ext uri="{FF2B5EF4-FFF2-40B4-BE49-F238E27FC236}">
                <a16:creationId xmlns:a16="http://schemas.microsoft.com/office/drawing/2014/main" id="{5213FE52-B207-5336-1DCE-1C9C266D0612}"/>
              </a:ext>
            </a:extLst>
          </p:cNvPr>
          <p:cNvSpPr/>
          <p:nvPr/>
        </p:nvSpPr>
        <p:spPr>
          <a:xfrm>
            <a:off x="6160557" y="4010237"/>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R2</a:t>
            </a:r>
          </a:p>
        </p:txBody>
      </p:sp>
      <p:cxnSp>
        <p:nvCxnSpPr>
          <p:cNvPr id="106" name="Straight Arrow Connector 105">
            <a:extLst>
              <a:ext uri="{FF2B5EF4-FFF2-40B4-BE49-F238E27FC236}">
                <a16:creationId xmlns:a16="http://schemas.microsoft.com/office/drawing/2014/main" id="{7E21E642-FCCC-3A50-6746-6BBE87CBB1CA}"/>
              </a:ext>
            </a:extLst>
          </p:cNvPr>
          <p:cNvCxnSpPr>
            <a:cxnSpLocks/>
            <a:stCxn id="110" idx="4"/>
            <a:endCxn id="111" idx="0"/>
          </p:cNvCxnSpPr>
          <p:nvPr/>
        </p:nvCxnSpPr>
        <p:spPr>
          <a:xfrm>
            <a:off x="6936428" y="3125127"/>
            <a:ext cx="290786"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B2D6C7A8-4B65-D2D3-4646-74A97342E1FB}"/>
              </a:ext>
            </a:extLst>
          </p:cNvPr>
          <p:cNvCxnSpPr>
            <a:cxnSpLocks/>
            <a:stCxn id="110" idx="4"/>
            <a:endCxn id="103" idx="0"/>
          </p:cNvCxnSpPr>
          <p:nvPr/>
        </p:nvCxnSpPr>
        <p:spPr>
          <a:xfrm flipH="1">
            <a:off x="6552248" y="3125127"/>
            <a:ext cx="384180"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F94E9F1E-04C8-C57C-7CC8-710D4501FB34}"/>
              </a:ext>
            </a:extLst>
          </p:cNvPr>
          <p:cNvCxnSpPr>
            <a:cxnSpLocks/>
            <a:stCxn id="103" idx="4"/>
            <a:endCxn id="112" idx="0"/>
          </p:cNvCxnSpPr>
          <p:nvPr/>
        </p:nvCxnSpPr>
        <p:spPr>
          <a:xfrm flipH="1">
            <a:off x="5873072" y="3776495"/>
            <a:ext cx="679176" cy="2456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86471579-6EDA-F477-39F6-1AE81D860AFE}"/>
              </a:ext>
            </a:extLst>
          </p:cNvPr>
          <p:cNvCxnSpPr>
            <a:cxnSpLocks/>
            <a:stCxn id="103" idx="4"/>
            <a:endCxn id="105" idx="0"/>
          </p:cNvCxnSpPr>
          <p:nvPr/>
        </p:nvCxnSpPr>
        <p:spPr>
          <a:xfrm flipH="1">
            <a:off x="6500146" y="3776495"/>
            <a:ext cx="52102"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0" name="Oval 109">
            <a:extLst>
              <a:ext uri="{FF2B5EF4-FFF2-40B4-BE49-F238E27FC236}">
                <a16:creationId xmlns:a16="http://schemas.microsoft.com/office/drawing/2014/main" id="{8DB78F83-E925-E751-8157-1FC90BBB0986}"/>
              </a:ext>
            </a:extLst>
          </p:cNvPr>
          <p:cNvSpPr/>
          <p:nvPr/>
        </p:nvSpPr>
        <p:spPr>
          <a:xfrm>
            <a:off x="6711439" y="2725017"/>
            <a:ext cx="449977"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G</a:t>
            </a:r>
          </a:p>
        </p:txBody>
      </p:sp>
      <p:sp>
        <p:nvSpPr>
          <p:cNvPr id="111" name="Oval 110">
            <a:extLst>
              <a:ext uri="{FF2B5EF4-FFF2-40B4-BE49-F238E27FC236}">
                <a16:creationId xmlns:a16="http://schemas.microsoft.com/office/drawing/2014/main" id="{51C6E161-517B-CB09-027B-FF4288EFBD9E}"/>
              </a:ext>
            </a:extLst>
          </p:cNvPr>
          <p:cNvSpPr/>
          <p:nvPr/>
        </p:nvSpPr>
        <p:spPr>
          <a:xfrm>
            <a:off x="7002225" y="3376385"/>
            <a:ext cx="449977"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N</a:t>
            </a:r>
          </a:p>
        </p:txBody>
      </p:sp>
      <p:sp>
        <p:nvSpPr>
          <p:cNvPr id="112" name="Triangle 111">
            <a:extLst>
              <a:ext uri="{FF2B5EF4-FFF2-40B4-BE49-F238E27FC236}">
                <a16:creationId xmlns:a16="http://schemas.microsoft.com/office/drawing/2014/main" id="{39F3A0E5-C030-7261-5E02-87DCD1961CD3}"/>
              </a:ext>
            </a:extLst>
          </p:cNvPr>
          <p:cNvSpPr/>
          <p:nvPr/>
        </p:nvSpPr>
        <p:spPr>
          <a:xfrm>
            <a:off x="5533483" y="4022113"/>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R1</a:t>
            </a:r>
          </a:p>
        </p:txBody>
      </p:sp>
      <p:cxnSp>
        <p:nvCxnSpPr>
          <p:cNvPr id="113" name="Straight Arrow Connector 112">
            <a:extLst>
              <a:ext uri="{FF2B5EF4-FFF2-40B4-BE49-F238E27FC236}">
                <a16:creationId xmlns:a16="http://schemas.microsoft.com/office/drawing/2014/main" id="{41161FF0-8267-728E-F5B6-8DAFDA66E557}"/>
              </a:ext>
            </a:extLst>
          </p:cNvPr>
          <p:cNvCxnSpPr>
            <a:cxnSpLocks/>
            <a:stCxn id="111" idx="4"/>
            <a:endCxn id="104" idx="0"/>
          </p:cNvCxnSpPr>
          <p:nvPr/>
        </p:nvCxnSpPr>
        <p:spPr>
          <a:xfrm>
            <a:off x="7227214" y="3776495"/>
            <a:ext cx="28487"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52ADB8E5-5456-6E80-3EEC-E3F737E5BDB4}"/>
              </a:ext>
            </a:extLst>
          </p:cNvPr>
          <p:cNvCxnSpPr>
            <a:cxnSpLocks/>
            <a:stCxn id="111" idx="4"/>
            <a:endCxn id="102" idx="0"/>
          </p:cNvCxnSpPr>
          <p:nvPr/>
        </p:nvCxnSpPr>
        <p:spPr>
          <a:xfrm>
            <a:off x="7227214" y="3776495"/>
            <a:ext cx="724348" cy="232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5" name="Triangle 114">
            <a:extLst>
              <a:ext uri="{FF2B5EF4-FFF2-40B4-BE49-F238E27FC236}">
                <a16:creationId xmlns:a16="http://schemas.microsoft.com/office/drawing/2014/main" id="{21E92EAF-A052-4D18-086B-0A9FFFDA5E63}"/>
              </a:ext>
            </a:extLst>
          </p:cNvPr>
          <p:cNvSpPr/>
          <p:nvPr/>
        </p:nvSpPr>
        <p:spPr>
          <a:xfrm>
            <a:off x="7286899" y="4811602"/>
            <a:ext cx="679178"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R4</a:t>
            </a:r>
          </a:p>
        </p:txBody>
      </p:sp>
      <p:sp>
        <p:nvSpPr>
          <p:cNvPr id="116" name="Triangle 115">
            <a:extLst>
              <a:ext uri="{FF2B5EF4-FFF2-40B4-BE49-F238E27FC236}">
                <a16:creationId xmlns:a16="http://schemas.microsoft.com/office/drawing/2014/main" id="{73E4412C-6E5A-F440-1006-23B7F60A13A5}"/>
              </a:ext>
            </a:extLst>
          </p:cNvPr>
          <p:cNvSpPr/>
          <p:nvPr/>
        </p:nvSpPr>
        <p:spPr>
          <a:xfrm>
            <a:off x="7988087" y="4811602"/>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R5</a:t>
            </a:r>
          </a:p>
        </p:txBody>
      </p:sp>
      <p:cxnSp>
        <p:nvCxnSpPr>
          <p:cNvPr id="117" name="Straight Arrow Connector 116">
            <a:extLst>
              <a:ext uri="{FF2B5EF4-FFF2-40B4-BE49-F238E27FC236}">
                <a16:creationId xmlns:a16="http://schemas.microsoft.com/office/drawing/2014/main" id="{EF0826BB-3736-073D-7EB9-AE64E155CD12}"/>
              </a:ext>
            </a:extLst>
          </p:cNvPr>
          <p:cNvCxnSpPr>
            <a:cxnSpLocks/>
            <a:endCxn id="115" idx="0"/>
          </p:cNvCxnSpPr>
          <p:nvPr/>
        </p:nvCxnSpPr>
        <p:spPr>
          <a:xfrm flipH="1">
            <a:off x="7626488" y="4388811"/>
            <a:ext cx="341385" cy="4227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56BC768A-5C2C-DDF8-41AB-7F255DAAA2D7}"/>
              </a:ext>
            </a:extLst>
          </p:cNvPr>
          <p:cNvCxnSpPr>
            <a:cxnSpLocks/>
            <a:endCxn id="116" idx="0"/>
          </p:cNvCxnSpPr>
          <p:nvPr/>
        </p:nvCxnSpPr>
        <p:spPr>
          <a:xfrm>
            <a:off x="8011288" y="4444996"/>
            <a:ext cx="316388" cy="3666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83F51D0A-F283-671E-3DD1-F6099F6BA251}"/>
              </a:ext>
            </a:extLst>
          </p:cNvPr>
          <p:cNvCxnSpPr>
            <a:cxnSpLocks/>
            <a:endCxn id="110" idx="0"/>
          </p:cNvCxnSpPr>
          <p:nvPr/>
        </p:nvCxnSpPr>
        <p:spPr>
          <a:xfrm flipH="1">
            <a:off x="6936428" y="2338473"/>
            <a:ext cx="290785" cy="386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530613A-F1E1-A16A-56B9-22F40D8C20DD}"/>
              </a:ext>
            </a:extLst>
          </p:cNvPr>
          <p:cNvSpPr txBox="1"/>
          <p:nvPr/>
        </p:nvSpPr>
        <p:spPr>
          <a:xfrm>
            <a:off x="3139381" y="2481355"/>
            <a:ext cx="3281272" cy="369332"/>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rtlCol="0">
            <a:spAutoFit/>
          </a:bodyPr>
          <a:lstStyle/>
          <a:p>
            <a:pPr marL="285750" indent="-285750">
              <a:buFont typeface="Wingdings" pitchFamily="2" charset="2"/>
              <a:buChar char="Ø"/>
            </a:pPr>
            <a:r>
              <a:rPr lang="en-VN" dirty="0">
                <a:latin typeface="Lato" panose="020F0502020204030203" pitchFamily="34" charset="0"/>
                <a:ea typeface="Lato" panose="020F0502020204030203" pitchFamily="34" charset="0"/>
                <a:cs typeface="Lato" panose="020F0502020204030203" pitchFamily="34" charset="0"/>
              </a:rPr>
              <a:t>Thực hiện như </a:t>
            </a:r>
            <a:r>
              <a:rPr lang="en-VN" dirty="0">
                <a:solidFill>
                  <a:srgbClr val="FF0000"/>
                </a:solidFill>
                <a:latin typeface="Lato" panose="020F0502020204030203" pitchFamily="34" charset="0"/>
                <a:ea typeface="Lato" panose="020F0502020204030203" pitchFamily="34" charset="0"/>
                <a:cs typeface="Lato" panose="020F0502020204030203" pitchFamily="34" charset="0"/>
              </a:rPr>
              <a:t>Right - Right</a:t>
            </a:r>
          </a:p>
        </p:txBody>
      </p:sp>
    </p:spTree>
    <p:extLst>
      <p:ext uri="{BB962C8B-B14F-4D97-AF65-F5344CB8AC3E}">
        <p14:creationId xmlns:p14="http://schemas.microsoft.com/office/powerpoint/2010/main" val="1397787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2"/>
                                        </p:tgtEl>
                                        <p:attrNameLst>
                                          <p:attrName>style.visibility</p:attrName>
                                        </p:attrNameLst>
                                      </p:cBhvr>
                                      <p:to>
                                        <p:strVal val="visible"/>
                                      </p:to>
                                    </p:set>
                                  </p:childTnLst>
                                </p:cTn>
                              </p:par>
                              <p:par>
                                <p:cTn id="17" presetID="1" presetClass="entr" presetSubtype="0" fill="hold" grpId="0" nodeType="withEffect">
                                  <p:stCondLst>
                                    <p:cond delay="0"/>
                                  </p:stCondLst>
                                  <p:iterate type="lt">
                                    <p:tmAbs val="0"/>
                                  </p:iterate>
                                  <p:childTnLst>
                                    <p:set>
                                      <p:cBhvr>
                                        <p:cTn id="18" dur="1" fill="hold">
                                          <p:stCondLst>
                                            <p:cond delay="0"/>
                                          </p:stCondLst>
                                        </p:cTn>
                                        <p:tgtEl>
                                          <p:spTgt spid="10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9"/>
                                        </p:tgtEl>
                                        <p:attrNameLst>
                                          <p:attrName>style.visibility</p:attrName>
                                        </p:attrNameLst>
                                      </p:cBhvr>
                                      <p:to>
                                        <p:strVal val="visible"/>
                                      </p:to>
                                    </p:set>
                                  </p:childTnLst>
                                </p:cTn>
                              </p:par>
                              <p:par>
                                <p:cTn id="31" presetID="1" presetClass="entr" presetSubtype="0" fill="hold" grpId="0" nodeType="withEffect">
                                  <p:stCondLst>
                                    <p:cond delay="0"/>
                                  </p:stCondLst>
                                  <p:iterate type="lt">
                                    <p:tmAbs val="0"/>
                                  </p:iterate>
                                  <p:childTnLst>
                                    <p:set>
                                      <p:cBhvr>
                                        <p:cTn id="32" dur="1" fill="hold">
                                          <p:stCondLst>
                                            <p:cond delay="0"/>
                                          </p:stCondLst>
                                        </p:cTn>
                                        <p:tgtEl>
                                          <p:spTgt spid="1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1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1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1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1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P spid="79" grpId="0" animBg="1"/>
      <p:bldP spid="80" grpId="0" animBg="1"/>
      <p:bldP spid="83" grpId="0" animBg="1"/>
      <p:bldP spid="102" grpId="0" animBg="1"/>
      <p:bldP spid="103" grpId="0" animBg="1"/>
      <p:bldP spid="104" grpId="0" animBg="1"/>
      <p:bldP spid="105" grpId="0" animBg="1"/>
      <p:bldP spid="110" grpId="0" animBg="1"/>
      <p:bldP spid="111" grpId="0" animBg="1"/>
      <p:bldP spid="112" grpId="0" animBg="1"/>
      <p:bldP spid="115" grpId="0" animBg="1"/>
      <p:bldP spid="116" grpId="0" animBg="1"/>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29</a:t>
            </a:fld>
            <a:endParaRPr lang="en-US" dirty="0"/>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lang="en-US" dirty="0"/>
              <a:t>THAO TÁC CƠ BẢN</a:t>
            </a:r>
          </a:p>
        </p:txBody>
      </p:sp>
      <p:sp>
        <p:nvSpPr>
          <p:cNvPr id="3" name="TextBox 2">
            <a:extLst>
              <a:ext uri="{FF2B5EF4-FFF2-40B4-BE49-F238E27FC236}">
                <a16:creationId xmlns:a16="http://schemas.microsoft.com/office/drawing/2014/main" id="{FB2A445E-0F6E-815C-D17A-9F0A8135FE1E}"/>
              </a:ext>
            </a:extLst>
          </p:cNvPr>
          <p:cNvSpPr txBox="1"/>
          <p:nvPr/>
        </p:nvSpPr>
        <p:spPr>
          <a:xfrm>
            <a:off x="682906" y="729204"/>
            <a:ext cx="4780634" cy="707886"/>
          </a:xfrm>
          <a:prstGeom prst="rect">
            <a:avLst/>
          </a:prstGeom>
          <a:noFill/>
        </p:spPr>
        <p:txBody>
          <a:bodyPr wrap="square" rtlCol="0">
            <a:spAutoFit/>
          </a:bodyPr>
          <a:lstStyle/>
          <a:p>
            <a:r>
              <a:rPr lang="en-VN" sz="2000" b="1" dirty="0">
                <a:solidFill>
                  <a:schemeClr val="accent1">
                    <a:lumMod val="50000"/>
                  </a:schemeClr>
                </a:solidFill>
                <a:latin typeface="Lato" panose="020F0502020204030203" pitchFamily="34" charset="0"/>
                <a:ea typeface="Lato" panose="020F0502020204030203" pitchFamily="34" charset="0"/>
                <a:cs typeface="Lato" panose="020F0502020204030203" pitchFamily="34" charset="0"/>
              </a:rPr>
              <a:t>2. Insertion (Thêm node vào cây đỏ đen)</a:t>
            </a:r>
          </a:p>
          <a:p>
            <a:endParaRPr lang="en-VN" sz="2000" b="1" dirty="0">
              <a:solidFill>
                <a:schemeClr val="accent1">
                  <a:lumMod val="50000"/>
                </a:schemeClr>
              </a:solidFill>
            </a:endParaRPr>
          </a:p>
        </p:txBody>
      </p:sp>
      <p:sp>
        <p:nvSpPr>
          <p:cNvPr id="7" name="TextBox 6">
            <a:extLst>
              <a:ext uri="{FF2B5EF4-FFF2-40B4-BE49-F238E27FC236}">
                <a16:creationId xmlns:a16="http://schemas.microsoft.com/office/drawing/2014/main" id="{6C4639FF-C762-3F88-3CE8-48A40412B7B3}"/>
              </a:ext>
            </a:extLst>
          </p:cNvPr>
          <p:cNvSpPr txBox="1"/>
          <p:nvPr/>
        </p:nvSpPr>
        <p:spPr>
          <a:xfrm>
            <a:off x="682906" y="1266610"/>
            <a:ext cx="5820764" cy="400110"/>
          </a:xfrm>
          <a:prstGeom prst="rect">
            <a:avLst/>
          </a:prstGeom>
          <a:noFill/>
        </p:spPr>
        <p:txBody>
          <a:bodyPr wrap="square" rtlCol="0">
            <a:spAutoFit/>
          </a:bodyPr>
          <a:lstStyle/>
          <a:p>
            <a:pPr marL="285750" indent="-285750">
              <a:buClr>
                <a:srgbClr val="C00000"/>
              </a:buClr>
              <a:buFont typeface="Wingdings" pitchFamily="2" charset="2"/>
              <a:buChar char="Ø"/>
            </a:pPr>
            <a:r>
              <a:rPr lang="en-VN" sz="2000" dirty="0">
                <a:solidFill>
                  <a:srgbClr val="C00000"/>
                </a:solidFill>
                <a:latin typeface="Lato" panose="020F0502020204030203" pitchFamily="34" charset="0"/>
                <a:ea typeface="Lato" panose="020F0502020204030203" pitchFamily="34" charset="0"/>
                <a:cs typeface="Lato" panose="020F0502020204030203" pitchFamily="34" charset="0"/>
              </a:rPr>
              <a:t>TH4: </a:t>
            </a:r>
            <a:r>
              <a:rPr lang="en-VN" sz="2000" dirty="0">
                <a:latin typeface="Lato" panose="020F0502020204030203" pitchFamily="34" charset="0"/>
                <a:ea typeface="Lato" panose="020F0502020204030203" pitchFamily="34" charset="0"/>
                <a:cs typeface="Lato" panose="020F0502020204030203" pitchFamily="34" charset="0"/>
              </a:rPr>
              <a:t>P là node đỏ và U là node đen</a:t>
            </a:r>
          </a:p>
        </p:txBody>
      </p:sp>
      <p:sp>
        <p:nvSpPr>
          <p:cNvPr id="80" name="TextBox 79">
            <a:extLst>
              <a:ext uri="{FF2B5EF4-FFF2-40B4-BE49-F238E27FC236}">
                <a16:creationId xmlns:a16="http://schemas.microsoft.com/office/drawing/2014/main" id="{380E7E3F-85C9-9616-A78C-F609B3A20681}"/>
              </a:ext>
            </a:extLst>
          </p:cNvPr>
          <p:cNvSpPr txBox="1"/>
          <p:nvPr/>
        </p:nvSpPr>
        <p:spPr>
          <a:xfrm>
            <a:off x="3212664" y="5535508"/>
            <a:ext cx="2718672" cy="646331"/>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rtlCol="0">
            <a:spAutoFit/>
          </a:bodyPr>
          <a:lstStyle/>
          <a:p>
            <a:pPr marL="285750" indent="-285750">
              <a:buFont typeface="Wingdings" pitchFamily="2" charset="2"/>
              <a:buChar char="Ø"/>
            </a:pPr>
            <a:r>
              <a:rPr lang="en-VN" dirty="0">
                <a:latin typeface="Lato" panose="020F0502020204030203" pitchFamily="34" charset="0"/>
                <a:ea typeface="Lato" panose="020F0502020204030203" pitchFamily="34" charset="0"/>
                <a:cs typeface="Lato" panose="020F0502020204030203" pitchFamily="34" charset="0"/>
              </a:rPr>
              <a:t>Quay trái node G</a:t>
            </a:r>
          </a:p>
          <a:p>
            <a:pPr marL="285750" indent="-285750">
              <a:buFont typeface="Wingdings" pitchFamily="2" charset="2"/>
              <a:buChar char="Ø"/>
            </a:pPr>
            <a:r>
              <a:rPr lang="en-VN" dirty="0">
                <a:latin typeface="Lato" panose="020F0502020204030203" pitchFamily="34" charset="0"/>
                <a:ea typeface="Lato" panose="020F0502020204030203" pitchFamily="34" charset="0"/>
                <a:cs typeface="Lato" panose="020F0502020204030203" pitchFamily="34" charset="0"/>
              </a:rPr>
              <a:t>Đổi màu node G và N</a:t>
            </a:r>
          </a:p>
        </p:txBody>
      </p:sp>
      <p:sp>
        <p:nvSpPr>
          <p:cNvPr id="42" name="Oval 41">
            <a:extLst>
              <a:ext uri="{FF2B5EF4-FFF2-40B4-BE49-F238E27FC236}">
                <a16:creationId xmlns:a16="http://schemas.microsoft.com/office/drawing/2014/main" id="{762B3FBC-9E1F-604C-F731-E794CE1C8B87}"/>
              </a:ext>
            </a:extLst>
          </p:cNvPr>
          <p:cNvSpPr/>
          <p:nvPr/>
        </p:nvSpPr>
        <p:spPr>
          <a:xfrm>
            <a:off x="1584129" y="3342881"/>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U</a:t>
            </a:r>
          </a:p>
        </p:txBody>
      </p:sp>
      <p:sp>
        <p:nvSpPr>
          <p:cNvPr id="43" name="Triangle 42">
            <a:extLst>
              <a:ext uri="{FF2B5EF4-FFF2-40B4-BE49-F238E27FC236}">
                <a16:creationId xmlns:a16="http://schemas.microsoft.com/office/drawing/2014/main" id="{E62E2CD0-AF57-A19B-3AF8-D686A491EA2F}"/>
              </a:ext>
            </a:extLst>
          </p:cNvPr>
          <p:cNvSpPr/>
          <p:nvPr/>
        </p:nvSpPr>
        <p:spPr>
          <a:xfrm>
            <a:off x="2172982" y="3976733"/>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R3</a:t>
            </a:r>
          </a:p>
        </p:txBody>
      </p:sp>
      <p:sp>
        <p:nvSpPr>
          <p:cNvPr id="44" name="Triangle 43">
            <a:extLst>
              <a:ext uri="{FF2B5EF4-FFF2-40B4-BE49-F238E27FC236}">
                <a16:creationId xmlns:a16="http://schemas.microsoft.com/office/drawing/2014/main" id="{27DC1521-CEA9-3A5A-BB94-84E424892C2F}"/>
              </a:ext>
            </a:extLst>
          </p:cNvPr>
          <p:cNvSpPr/>
          <p:nvPr/>
        </p:nvSpPr>
        <p:spPr>
          <a:xfrm>
            <a:off x="1417427" y="3976733"/>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R2</a:t>
            </a:r>
          </a:p>
        </p:txBody>
      </p:sp>
      <p:cxnSp>
        <p:nvCxnSpPr>
          <p:cNvPr id="45" name="Straight Arrow Connector 44">
            <a:extLst>
              <a:ext uri="{FF2B5EF4-FFF2-40B4-BE49-F238E27FC236}">
                <a16:creationId xmlns:a16="http://schemas.microsoft.com/office/drawing/2014/main" id="{E0E1CDD8-D387-2B53-4E8B-31395610E5D3}"/>
              </a:ext>
            </a:extLst>
          </p:cNvPr>
          <p:cNvCxnSpPr>
            <a:cxnSpLocks/>
            <a:stCxn id="49" idx="4"/>
            <a:endCxn id="50" idx="0"/>
          </p:cNvCxnSpPr>
          <p:nvPr/>
        </p:nvCxnSpPr>
        <p:spPr>
          <a:xfrm>
            <a:off x="2193298" y="3091623"/>
            <a:ext cx="290786"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2BB06D27-4CD0-5351-B8DE-538B4738A7B9}"/>
              </a:ext>
            </a:extLst>
          </p:cNvPr>
          <p:cNvCxnSpPr>
            <a:cxnSpLocks/>
            <a:stCxn id="49" idx="4"/>
            <a:endCxn id="42" idx="0"/>
          </p:cNvCxnSpPr>
          <p:nvPr/>
        </p:nvCxnSpPr>
        <p:spPr>
          <a:xfrm flipH="1">
            <a:off x="1809118" y="3091623"/>
            <a:ext cx="384180"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C8023C28-5960-3125-088B-B1576816D899}"/>
              </a:ext>
            </a:extLst>
          </p:cNvPr>
          <p:cNvCxnSpPr>
            <a:cxnSpLocks/>
            <a:stCxn id="42" idx="4"/>
            <a:endCxn id="82" idx="0"/>
          </p:cNvCxnSpPr>
          <p:nvPr/>
        </p:nvCxnSpPr>
        <p:spPr>
          <a:xfrm flipH="1">
            <a:off x="1022495" y="3742991"/>
            <a:ext cx="786623"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56A58593-0DA4-6DDE-A71F-7DB6B960FEEB}"/>
              </a:ext>
            </a:extLst>
          </p:cNvPr>
          <p:cNvCxnSpPr>
            <a:cxnSpLocks/>
            <a:stCxn id="42" idx="4"/>
            <a:endCxn id="44" idx="0"/>
          </p:cNvCxnSpPr>
          <p:nvPr/>
        </p:nvCxnSpPr>
        <p:spPr>
          <a:xfrm flipH="1">
            <a:off x="1757016" y="3742991"/>
            <a:ext cx="52102"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65A667A1-B8B4-6EEA-E1AE-77A135C9BAED}"/>
              </a:ext>
            </a:extLst>
          </p:cNvPr>
          <p:cNvSpPr/>
          <p:nvPr/>
        </p:nvSpPr>
        <p:spPr>
          <a:xfrm>
            <a:off x="1968309" y="2691513"/>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G</a:t>
            </a:r>
          </a:p>
        </p:txBody>
      </p:sp>
      <p:sp>
        <p:nvSpPr>
          <p:cNvPr id="50" name="Oval 49">
            <a:extLst>
              <a:ext uri="{FF2B5EF4-FFF2-40B4-BE49-F238E27FC236}">
                <a16:creationId xmlns:a16="http://schemas.microsoft.com/office/drawing/2014/main" id="{CD3D9874-25B1-4AC8-591D-959B117B5E50}"/>
              </a:ext>
            </a:extLst>
          </p:cNvPr>
          <p:cNvSpPr/>
          <p:nvPr/>
        </p:nvSpPr>
        <p:spPr>
          <a:xfrm>
            <a:off x="2259095" y="3342881"/>
            <a:ext cx="449977"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N</a:t>
            </a:r>
          </a:p>
        </p:txBody>
      </p:sp>
      <p:cxnSp>
        <p:nvCxnSpPr>
          <p:cNvPr id="51" name="Straight Arrow Connector 50">
            <a:extLst>
              <a:ext uri="{FF2B5EF4-FFF2-40B4-BE49-F238E27FC236}">
                <a16:creationId xmlns:a16="http://schemas.microsoft.com/office/drawing/2014/main" id="{C3EFBF92-F2F1-90DA-A36D-8754875115D8}"/>
              </a:ext>
            </a:extLst>
          </p:cNvPr>
          <p:cNvCxnSpPr>
            <a:cxnSpLocks/>
            <a:stCxn id="50" idx="4"/>
            <a:endCxn id="43" idx="0"/>
          </p:cNvCxnSpPr>
          <p:nvPr/>
        </p:nvCxnSpPr>
        <p:spPr>
          <a:xfrm>
            <a:off x="2484084" y="3742991"/>
            <a:ext cx="28487"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BF38E0DE-5186-D5B4-5A4D-7F4B37E46690}"/>
              </a:ext>
            </a:extLst>
          </p:cNvPr>
          <p:cNvCxnSpPr>
            <a:cxnSpLocks/>
            <a:stCxn id="50" idx="4"/>
          </p:cNvCxnSpPr>
          <p:nvPr/>
        </p:nvCxnSpPr>
        <p:spPr>
          <a:xfrm>
            <a:off x="2484084" y="3742991"/>
            <a:ext cx="784042"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Triangle 52">
            <a:extLst>
              <a:ext uri="{FF2B5EF4-FFF2-40B4-BE49-F238E27FC236}">
                <a16:creationId xmlns:a16="http://schemas.microsoft.com/office/drawing/2014/main" id="{CB1D8526-2E09-A0F4-010D-86A0F7CFE6D7}"/>
              </a:ext>
            </a:extLst>
          </p:cNvPr>
          <p:cNvSpPr/>
          <p:nvPr/>
        </p:nvSpPr>
        <p:spPr>
          <a:xfrm>
            <a:off x="2566938" y="4817150"/>
            <a:ext cx="679178"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R4</a:t>
            </a:r>
          </a:p>
        </p:txBody>
      </p:sp>
      <p:sp>
        <p:nvSpPr>
          <p:cNvPr id="55" name="Triangle 54">
            <a:extLst>
              <a:ext uri="{FF2B5EF4-FFF2-40B4-BE49-F238E27FC236}">
                <a16:creationId xmlns:a16="http://schemas.microsoft.com/office/drawing/2014/main" id="{E283EE1C-FA58-1BF9-9282-3C6BCFD8D686}"/>
              </a:ext>
            </a:extLst>
          </p:cNvPr>
          <p:cNvSpPr/>
          <p:nvPr/>
        </p:nvSpPr>
        <p:spPr>
          <a:xfrm>
            <a:off x="3268126" y="4817150"/>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R5</a:t>
            </a:r>
          </a:p>
        </p:txBody>
      </p:sp>
      <p:cxnSp>
        <p:nvCxnSpPr>
          <p:cNvPr id="56" name="Straight Arrow Connector 55">
            <a:extLst>
              <a:ext uri="{FF2B5EF4-FFF2-40B4-BE49-F238E27FC236}">
                <a16:creationId xmlns:a16="http://schemas.microsoft.com/office/drawing/2014/main" id="{D6A3FD6A-9738-9941-9B22-8664E0C60922}"/>
              </a:ext>
            </a:extLst>
          </p:cNvPr>
          <p:cNvCxnSpPr>
            <a:cxnSpLocks/>
            <a:endCxn id="53" idx="0"/>
          </p:cNvCxnSpPr>
          <p:nvPr/>
        </p:nvCxnSpPr>
        <p:spPr>
          <a:xfrm flipH="1">
            <a:off x="2906527" y="4394359"/>
            <a:ext cx="341385" cy="4227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05EBFF49-E9A4-00DC-C7D8-03CCD5EF2BC7}"/>
              </a:ext>
            </a:extLst>
          </p:cNvPr>
          <p:cNvCxnSpPr>
            <a:cxnSpLocks/>
            <a:endCxn id="55" idx="0"/>
          </p:cNvCxnSpPr>
          <p:nvPr/>
        </p:nvCxnSpPr>
        <p:spPr>
          <a:xfrm>
            <a:off x="3291327" y="4450544"/>
            <a:ext cx="316388" cy="3666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27452094-BA16-1329-551B-BA9A7356F9F9}"/>
              </a:ext>
            </a:extLst>
          </p:cNvPr>
          <p:cNvCxnSpPr>
            <a:cxnSpLocks/>
            <a:endCxn id="49" idx="0"/>
          </p:cNvCxnSpPr>
          <p:nvPr/>
        </p:nvCxnSpPr>
        <p:spPr>
          <a:xfrm flipH="1">
            <a:off x="2193298" y="2304969"/>
            <a:ext cx="290785" cy="386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Oval 80">
            <a:extLst>
              <a:ext uri="{FF2B5EF4-FFF2-40B4-BE49-F238E27FC236}">
                <a16:creationId xmlns:a16="http://schemas.microsoft.com/office/drawing/2014/main" id="{F80E2BA2-9891-604C-4FE1-77514989AE07}"/>
              </a:ext>
            </a:extLst>
          </p:cNvPr>
          <p:cNvSpPr/>
          <p:nvPr/>
        </p:nvSpPr>
        <p:spPr>
          <a:xfrm>
            <a:off x="3015005" y="4010237"/>
            <a:ext cx="449977"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P</a:t>
            </a:r>
          </a:p>
        </p:txBody>
      </p:sp>
      <p:sp>
        <p:nvSpPr>
          <p:cNvPr id="82" name="Triangle 81">
            <a:extLst>
              <a:ext uri="{FF2B5EF4-FFF2-40B4-BE49-F238E27FC236}">
                <a16:creationId xmlns:a16="http://schemas.microsoft.com/office/drawing/2014/main" id="{C92C6C86-AC5A-E035-2904-7473BA35F0A2}"/>
              </a:ext>
            </a:extLst>
          </p:cNvPr>
          <p:cNvSpPr/>
          <p:nvPr/>
        </p:nvSpPr>
        <p:spPr>
          <a:xfrm>
            <a:off x="682906" y="3976733"/>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R1</a:t>
            </a:r>
          </a:p>
        </p:txBody>
      </p:sp>
      <p:sp>
        <p:nvSpPr>
          <p:cNvPr id="83" name="Right Arrow 82">
            <a:extLst>
              <a:ext uri="{FF2B5EF4-FFF2-40B4-BE49-F238E27FC236}">
                <a16:creationId xmlns:a16="http://schemas.microsoft.com/office/drawing/2014/main" id="{1FFCAD8A-E0C9-FF3D-C5BC-E0AB166263A1}"/>
              </a:ext>
            </a:extLst>
          </p:cNvPr>
          <p:cNvSpPr/>
          <p:nvPr/>
        </p:nvSpPr>
        <p:spPr>
          <a:xfrm>
            <a:off x="3996211" y="3640945"/>
            <a:ext cx="987105" cy="240030"/>
          </a:xfrm>
          <a:prstGeom prst="rightArrow">
            <a:avLst/>
          </a:prstGeom>
          <a:solidFill>
            <a:srgbClr val="00B050"/>
          </a:solidFill>
          <a:ln>
            <a:solidFill>
              <a:srgbClr val="00B05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VN"/>
          </a:p>
        </p:txBody>
      </p:sp>
      <p:sp>
        <p:nvSpPr>
          <p:cNvPr id="102" name="Oval 101">
            <a:extLst>
              <a:ext uri="{FF2B5EF4-FFF2-40B4-BE49-F238E27FC236}">
                <a16:creationId xmlns:a16="http://schemas.microsoft.com/office/drawing/2014/main" id="{E78C8691-B002-BA78-771C-353108FE0EE3}"/>
              </a:ext>
            </a:extLst>
          </p:cNvPr>
          <p:cNvSpPr/>
          <p:nvPr/>
        </p:nvSpPr>
        <p:spPr>
          <a:xfrm>
            <a:off x="5714791" y="4043741"/>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U</a:t>
            </a:r>
          </a:p>
        </p:txBody>
      </p:sp>
      <p:sp>
        <p:nvSpPr>
          <p:cNvPr id="103" name="Oval 102">
            <a:extLst>
              <a:ext uri="{FF2B5EF4-FFF2-40B4-BE49-F238E27FC236}">
                <a16:creationId xmlns:a16="http://schemas.microsoft.com/office/drawing/2014/main" id="{9F6CBDDB-5970-611E-FCB5-A3B1417F2E90}"/>
              </a:ext>
            </a:extLst>
          </p:cNvPr>
          <p:cNvSpPr/>
          <p:nvPr/>
        </p:nvSpPr>
        <p:spPr>
          <a:xfrm>
            <a:off x="6327259" y="3376385"/>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G</a:t>
            </a:r>
          </a:p>
        </p:txBody>
      </p:sp>
      <p:sp>
        <p:nvSpPr>
          <p:cNvPr id="104" name="Triangle 103">
            <a:extLst>
              <a:ext uri="{FF2B5EF4-FFF2-40B4-BE49-F238E27FC236}">
                <a16:creationId xmlns:a16="http://schemas.microsoft.com/office/drawing/2014/main" id="{93CCB0B4-56D5-EB0F-4EA4-1F0CCDD35BE6}"/>
              </a:ext>
            </a:extLst>
          </p:cNvPr>
          <p:cNvSpPr/>
          <p:nvPr/>
        </p:nvSpPr>
        <p:spPr>
          <a:xfrm>
            <a:off x="6916112" y="4010237"/>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R4</a:t>
            </a:r>
          </a:p>
        </p:txBody>
      </p:sp>
      <p:sp>
        <p:nvSpPr>
          <p:cNvPr id="105" name="Triangle 104">
            <a:extLst>
              <a:ext uri="{FF2B5EF4-FFF2-40B4-BE49-F238E27FC236}">
                <a16:creationId xmlns:a16="http://schemas.microsoft.com/office/drawing/2014/main" id="{5213FE52-B207-5336-1DCE-1C9C266D0612}"/>
              </a:ext>
            </a:extLst>
          </p:cNvPr>
          <p:cNvSpPr/>
          <p:nvPr/>
        </p:nvSpPr>
        <p:spPr>
          <a:xfrm>
            <a:off x="6160557" y="4010237"/>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R3</a:t>
            </a:r>
          </a:p>
        </p:txBody>
      </p:sp>
      <p:cxnSp>
        <p:nvCxnSpPr>
          <p:cNvPr id="106" name="Straight Arrow Connector 105">
            <a:extLst>
              <a:ext uri="{FF2B5EF4-FFF2-40B4-BE49-F238E27FC236}">
                <a16:creationId xmlns:a16="http://schemas.microsoft.com/office/drawing/2014/main" id="{7E21E642-FCCC-3A50-6746-6BBE87CBB1CA}"/>
              </a:ext>
            </a:extLst>
          </p:cNvPr>
          <p:cNvCxnSpPr>
            <a:cxnSpLocks/>
            <a:stCxn id="110" idx="4"/>
            <a:endCxn id="111" idx="0"/>
          </p:cNvCxnSpPr>
          <p:nvPr/>
        </p:nvCxnSpPr>
        <p:spPr>
          <a:xfrm>
            <a:off x="6936428" y="3125127"/>
            <a:ext cx="290786"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B2D6C7A8-4B65-D2D3-4646-74A97342E1FB}"/>
              </a:ext>
            </a:extLst>
          </p:cNvPr>
          <p:cNvCxnSpPr>
            <a:cxnSpLocks/>
            <a:stCxn id="110" idx="4"/>
            <a:endCxn id="103" idx="0"/>
          </p:cNvCxnSpPr>
          <p:nvPr/>
        </p:nvCxnSpPr>
        <p:spPr>
          <a:xfrm flipH="1">
            <a:off x="6552248" y="3125127"/>
            <a:ext cx="384180"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F94E9F1E-04C8-C57C-7CC8-710D4501FB34}"/>
              </a:ext>
            </a:extLst>
          </p:cNvPr>
          <p:cNvCxnSpPr>
            <a:cxnSpLocks/>
            <a:stCxn id="103" idx="4"/>
            <a:endCxn id="102" idx="0"/>
          </p:cNvCxnSpPr>
          <p:nvPr/>
        </p:nvCxnSpPr>
        <p:spPr>
          <a:xfrm flipH="1">
            <a:off x="5939780" y="3776495"/>
            <a:ext cx="612468" cy="2672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86471579-6EDA-F477-39F6-1AE81D860AFE}"/>
              </a:ext>
            </a:extLst>
          </p:cNvPr>
          <p:cNvCxnSpPr>
            <a:cxnSpLocks/>
            <a:stCxn id="103" idx="4"/>
            <a:endCxn id="105" idx="0"/>
          </p:cNvCxnSpPr>
          <p:nvPr/>
        </p:nvCxnSpPr>
        <p:spPr>
          <a:xfrm flipH="1">
            <a:off x="6500146" y="3776495"/>
            <a:ext cx="52102"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0" name="Oval 109">
            <a:extLst>
              <a:ext uri="{FF2B5EF4-FFF2-40B4-BE49-F238E27FC236}">
                <a16:creationId xmlns:a16="http://schemas.microsoft.com/office/drawing/2014/main" id="{8DB78F83-E925-E751-8157-1FC90BBB0986}"/>
              </a:ext>
            </a:extLst>
          </p:cNvPr>
          <p:cNvSpPr/>
          <p:nvPr/>
        </p:nvSpPr>
        <p:spPr>
          <a:xfrm>
            <a:off x="6711439" y="2725017"/>
            <a:ext cx="449977"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N</a:t>
            </a:r>
          </a:p>
        </p:txBody>
      </p:sp>
      <p:sp>
        <p:nvSpPr>
          <p:cNvPr id="111" name="Oval 110">
            <a:extLst>
              <a:ext uri="{FF2B5EF4-FFF2-40B4-BE49-F238E27FC236}">
                <a16:creationId xmlns:a16="http://schemas.microsoft.com/office/drawing/2014/main" id="{51C6E161-517B-CB09-027B-FF4288EFBD9E}"/>
              </a:ext>
            </a:extLst>
          </p:cNvPr>
          <p:cNvSpPr/>
          <p:nvPr/>
        </p:nvSpPr>
        <p:spPr>
          <a:xfrm>
            <a:off x="7002225" y="3376385"/>
            <a:ext cx="449977"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P</a:t>
            </a:r>
          </a:p>
        </p:txBody>
      </p:sp>
      <p:sp>
        <p:nvSpPr>
          <p:cNvPr id="112" name="Triangle 111">
            <a:extLst>
              <a:ext uri="{FF2B5EF4-FFF2-40B4-BE49-F238E27FC236}">
                <a16:creationId xmlns:a16="http://schemas.microsoft.com/office/drawing/2014/main" id="{39F3A0E5-C030-7261-5E02-87DCD1961CD3}"/>
              </a:ext>
            </a:extLst>
          </p:cNvPr>
          <p:cNvSpPr/>
          <p:nvPr/>
        </p:nvSpPr>
        <p:spPr>
          <a:xfrm>
            <a:off x="7671667" y="4010237"/>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R5</a:t>
            </a:r>
          </a:p>
        </p:txBody>
      </p:sp>
      <p:cxnSp>
        <p:nvCxnSpPr>
          <p:cNvPr id="113" name="Straight Arrow Connector 112">
            <a:extLst>
              <a:ext uri="{FF2B5EF4-FFF2-40B4-BE49-F238E27FC236}">
                <a16:creationId xmlns:a16="http://schemas.microsoft.com/office/drawing/2014/main" id="{41161FF0-8267-728E-F5B6-8DAFDA66E557}"/>
              </a:ext>
            </a:extLst>
          </p:cNvPr>
          <p:cNvCxnSpPr>
            <a:cxnSpLocks/>
            <a:stCxn id="111" idx="4"/>
            <a:endCxn id="104" idx="0"/>
          </p:cNvCxnSpPr>
          <p:nvPr/>
        </p:nvCxnSpPr>
        <p:spPr>
          <a:xfrm>
            <a:off x="7227214" y="3776495"/>
            <a:ext cx="28487"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52ADB8E5-5456-6E80-3EEC-E3F737E5BDB4}"/>
              </a:ext>
            </a:extLst>
          </p:cNvPr>
          <p:cNvCxnSpPr>
            <a:cxnSpLocks/>
            <a:stCxn id="111" idx="4"/>
            <a:endCxn id="112" idx="0"/>
          </p:cNvCxnSpPr>
          <p:nvPr/>
        </p:nvCxnSpPr>
        <p:spPr>
          <a:xfrm>
            <a:off x="7227214" y="3776495"/>
            <a:ext cx="784042"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5" name="Triangle 114">
            <a:extLst>
              <a:ext uri="{FF2B5EF4-FFF2-40B4-BE49-F238E27FC236}">
                <a16:creationId xmlns:a16="http://schemas.microsoft.com/office/drawing/2014/main" id="{21E92EAF-A052-4D18-086B-0A9FFFDA5E63}"/>
              </a:ext>
            </a:extLst>
          </p:cNvPr>
          <p:cNvSpPr/>
          <p:nvPr/>
        </p:nvSpPr>
        <p:spPr>
          <a:xfrm>
            <a:off x="5196699" y="4810457"/>
            <a:ext cx="679178"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R1</a:t>
            </a:r>
          </a:p>
        </p:txBody>
      </p:sp>
      <p:sp>
        <p:nvSpPr>
          <p:cNvPr id="116" name="Triangle 115">
            <a:extLst>
              <a:ext uri="{FF2B5EF4-FFF2-40B4-BE49-F238E27FC236}">
                <a16:creationId xmlns:a16="http://schemas.microsoft.com/office/drawing/2014/main" id="{73E4412C-6E5A-F440-1006-23B7F60A13A5}"/>
              </a:ext>
            </a:extLst>
          </p:cNvPr>
          <p:cNvSpPr/>
          <p:nvPr/>
        </p:nvSpPr>
        <p:spPr>
          <a:xfrm>
            <a:off x="5897887" y="4810457"/>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R2</a:t>
            </a:r>
          </a:p>
        </p:txBody>
      </p:sp>
      <p:cxnSp>
        <p:nvCxnSpPr>
          <p:cNvPr id="117" name="Straight Arrow Connector 116">
            <a:extLst>
              <a:ext uri="{FF2B5EF4-FFF2-40B4-BE49-F238E27FC236}">
                <a16:creationId xmlns:a16="http://schemas.microsoft.com/office/drawing/2014/main" id="{EF0826BB-3736-073D-7EB9-AE64E155CD12}"/>
              </a:ext>
            </a:extLst>
          </p:cNvPr>
          <p:cNvCxnSpPr>
            <a:cxnSpLocks/>
            <a:endCxn id="115" idx="0"/>
          </p:cNvCxnSpPr>
          <p:nvPr/>
        </p:nvCxnSpPr>
        <p:spPr>
          <a:xfrm flipH="1">
            <a:off x="5536288" y="4387666"/>
            <a:ext cx="341385" cy="4227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56BC768A-5C2C-DDF8-41AB-7F255DAAA2D7}"/>
              </a:ext>
            </a:extLst>
          </p:cNvPr>
          <p:cNvCxnSpPr>
            <a:cxnSpLocks/>
            <a:endCxn id="116" idx="0"/>
          </p:cNvCxnSpPr>
          <p:nvPr/>
        </p:nvCxnSpPr>
        <p:spPr>
          <a:xfrm>
            <a:off x="5921088" y="4443851"/>
            <a:ext cx="316388" cy="3666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83F51D0A-F283-671E-3DD1-F6099F6BA251}"/>
              </a:ext>
            </a:extLst>
          </p:cNvPr>
          <p:cNvCxnSpPr>
            <a:cxnSpLocks/>
            <a:endCxn id="110" idx="0"/>
          </p:cNvCxnSpPr>
          <p:nvPr/>
        </p:nvCxnSpPr>
        <p:spPr>
          <a:xfrm flipH="1">
            <a:off x="6936428" y="2338473"/>
            <a:ext cx="290785" cy="386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1A516636-84A4-E9A2-3301-DC1EC896BD3E}"/>
              </a:ext>
            </a:extLst>
          </p:cNvPr>
          <p:cNvSpPr txBox="1"/>
          <p:nvPr/>
        </p:nvSpPr>
        <p:spPr>
          <a:xfrm>
            <a:off x="820066" y="1595246"/>
            <a:ext cx="7800213" cy="493212"/>
          </a:xfrm>
          <a:prstGeom prst="rect">
            <a:avLst/>
          </a:prstGeom>
          <a:noFill/>
        </p:spPr>
        <p:txBody>
          <a:bodyPr wrap="square" rtlCol="0">
            <a:spAutoFit/>
          </a:bodyPr>
          <a:lstStyle/>
          <a:p>
            <a:pPr>
              <a:lnSpc>
                <a:spcPct val="150000"/>
              </a:lnSpc>
            </a:pPr>
            <a:r>
              <a:rPr lang="en-VN" sz="2000" dirty="0">
                <a:solidFill>
                  <a:srgbClr val="FF0000"/>
                </a:solidFill>
                <a:latin typeface="Lato" panose="020F0502020204030203" pitchFamily="34" charset="0"/>
                <a:ea typeface="Lato" panose="020F0502020204030203" pitchFamily="34" charset="0"/>
                <a:cs typeface="Lato" panose="020F0502020204030203" pitchFamily="34" charset="0"/>
              </a:rPr>
              <a:t>4. Right – Left</a:t>
            </a:r>
            <a:r>
              <a:rPr lang="en-VN" sz="20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 P là </a:t>
            </a:r>
            <a:r>
              <a:rPr lang="en-VN" sz="2000" dirty="0">
                <a:solidFill>
                  <a:srgbClr val="BC05B7"/>
                </a:solidFill>
                <a:latin typeface="Lato" panose="020F0502020204030203" pitchFamily="34" charset="0"/>
                <a:ea typeface="Lato" panose="020F0502020204030203" pitchFamily="34" charset="0"/>
                <a:cs typeface="Lato" panose="020F0502020204030203" pitchFamily="34" charset="0"/>
              </a:rPr>
              <a:t>con phải </a:t>
            </a:r>
            <a:r>
              <a:rPr lang="en-VN" sz="20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của G, N là </a:t>
            </a:r>
            <a:r>
              <a:rPr lang="en-VN" sz="2000" dirty="0">
                <a:solidFill>
                  <a:srgbClr val="00B050"/>
                </a:solidFill>
                <a:latin typeface="Lato" panose="020F0502020204030203" pitchFamily="34" charset="0"/>
                <a:ea typeface="Lato" panose="020F0502020204030203" pitchFamily="34" charset="0"/>
                <a:cs typeface="Lato" panose="020F0502020204030203" pitchFamily="34" charset="0"/>
              </a:rPr>
              <a:t>con trái </a:t>
            </a:r>
            <a:r>
              <a:rPr lang="en-VN" sz="2000" dirty="0">
                <a:solidFill>
                  <a:schemeClr val="accent5">
                    <a:lumMod val="75000"/>
                  </a:schemeClr>
                </a:solidFill>
                <a:latin typeface="Lato" panose="020F0502020204030203" pitchFamily="34" charset="0"/>
                <a:ea typeface="Lato" panose="020F0502020204030203" pitchFamily="34" charset="0"/>
                <a:cs typeface="Lato" panose="020F0502020204030203" pitchFamily="34" charset="0"/>
              </a:rPr>
              <a:t>của P</a:t>
            </a:r>
          </a:p>
        </p:txBody>
      </p:sp>
    </p:spTree>
    <p:extLst>
      <p:ext uri="{BB962C8B-B14F-4D97-AF65-F5344CB8AC3E}">
        <p14:creationId xmlns:p14="http://schemas.microsoft.com/office/powerpoint/2010/main" val="2831184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2"/>
                                        </p:tgtEl>
                                        <p:attrNameLst>
                                          <p:attrName>style.visibility</p:attrName>
                                        </p:attrNameLst>
                                      </p:cBhvr>
                                      <p:to>
                                        <p:strVal val="visible"/>
                                      </p:to>
                                    </p:set>
                                  </p:childTnLst>
                                </p:cTn>
                              </p:par>
                              <p:par>
                                <p:cTn id="11" presetID="1" presetClass="entr" presetSubtype="0" fill="hold" grpId="0" nodeType="withEffect">
                                  <p:stCondLst>
                                    <p:cond delay="0"/>
                                  </p:stCondLst>
                                  <p:iterate type="lt">
                                    <p:tmAbs val="0"/>
                                  </p:iterate>
                                  <p:childTnLst>
                                    <p:set>
                                      <p:cBhvr>
                                        <p:cTn id="12" dur="1" fill="hold">
                                          <p:stCondLst>
                                            <p:cond delay="0"/>
                                          </p:stCondLst>
                                        </p:cTn>
                                        <p:tgtEl>
                                          <p:spTgt spid="10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9"/>
                                        </p:tgtEl>
                                        <p:attrNameLst>
                                          <p:attrName>style.visibility</p:attrName>
                                        </p:attrNameLst>
                                      </p:cBhvr>
                                      <p:to>
                                        <p:strVal val="visible"/>
                                      </p:to>
                                    </p:set>
                                  </p:childTnLst>
                                </p:cTn>
                              </p:par>
                              <p:par>
                                <p:cTn id="25" presetID="1" presetClass="entr" presetSubtype="0" fill="hold" grpId="0" nodeType="withEffect">
                                  <p:stCondLst>
                                    <p:cond delay="0"/>
                                  </p:stCondLst>
                                  <p:iterate type="lt">
                                    <p:tmAbs val="0"/>
                                  </p:iterate>
                                  <p:childTnLst>
                                    <p:set>
                                      <p:cBhvr>
                                        <p:cTn id="26" dur="1" fill="hold">
                                          <p:stCondLst>
                                            <p:cond delay="0"/>
                                          </p:stCondLst>
                                        </p:cTn>
                                        <p:tgtEl>
                                          <p:spTgt spid="1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6" presetClass="emph" presetSubtype="0" fill="hold" grpId="1" nodeType="clickEffect">
                                  <p:stCondLst>
                                    <p:cond delay="0"/>
                                  </p:stCondLst>
                                  <p:iterate type="lt">
                                    <p:tmPct val="4000"/>
                                  </p:iterate>
                                  <p:childTnLst>
                                    <p:set>
                                      <p:cBhvr override="childStyle">
                                        <p:cTn id="48" dur="500" fill="hold"/>
                                        <p:tgtEl>
                                          <p:spTgt spid="110"/>
                                        </p:tgtEl>
                                        <p:attrNameLst>
                                          <p:attrName>style.color</p:attrName>
                                        </p:attrNameLst>
                                      </p:cBhvr>
                                      <p:to>
                                        <p:clrVal>
                                          <a:schemeClr val="tx1"/>
                                        </p:clrVal>
                                      </p:to>
                                    </p:set>
                                    <p:set>
                                      <p:cBhvr>
                                        <p:cTn id="49" dur="500" fill="hold"/>
                                        <p:tgtEl>
                                          <p:spTgt spid="110"/>
                                        </p:tgtEl>
                                        <p:attrNameLst>
                                          <p:attrName>fillcolor</p:attrName>
                                        </p:attrNameLst>
                                      </p:cBhvr>
                                      <p:to>
                                        <p:clrVal>
                                          <a:schemeClr val="tx1"/>
                                        </p:clrVal>
                                      </p:to>
                                    </p:set>
                                    <p:set>
                                      <p:cBhvr>
                                        <p:cTn id="50" dur="500" fill="hold"/>
                                        <p:tgtEl>
                                          <p:spTgt spid="110"/>
                                        </p:tgtEl>
                                        <p:attrNameLst>
                                          <p:attrName>fill.type</p:attrName>
                                        </p:attrNameLst>
                                      </p:cBhvr>
                                      <p:to>
                                        <p:strVal val="solid"/>
                                      </p:to>
                                    </p:set>
                                  </p:childTnLst>
                                </p:cTn>
                              </p:par>
                              <p:par>
                                <p:cTn id="51" presetID="3" presetClass="emph" presetSubtype="2" fill="hold" grpId="2" nodeType="withEffect">
                                  <p:stCondLst>
                                    <p:cond delay="0"/>
                                  </p:stCondLst>
                                  <p:iterate type="lt">
                                    <p:tmPct val="0"/>
                                  </p:iterate>
                                  <p:childTnLst>
                                    <p:animClr clrSpc="rgb" dir="cw">
                                      <p:cBhvr override="childStyle">
                                        <p:cTn id="52" dur="2000" fill="hold"/>
                                        <p:tgtEl>
                                          <p:spTgt spid="110"/>
                                        </p:tgtEl>
                                        <p:attrNameLst>
                                          <p:attrName>style.color</p:attrName>
                                        </p:attrNameLst>
                                      </p:cBhvr>
                                      <p:to>
                                        <a:schemeClr val="bg1"/>
                                      </p:to>
                                    </p:animClr>
                                  </p:childTnLst>
                                </p:cTn>
                              </p:par>
                              <p:par>
                                <p:cTn id="53" presetID="16" presetClass="emph" presetSubtype="0" fill="hold" grpId="1" nodeType="withEffect">
                                  <p:stCondLst>
                                    <p:cond delay="0"/>
                                  </p:stCondLst>
                                  <p:iterate type="lt">
                                    <p:tmPct val="4000"/>
                                  </p:iterate>
                                  <p:childTnLst>
                                    <p:set>
                                      <p:cBhvr override="childStyle">
                                        <p:cTn id="54" dur="500" fill="hold"/>
                                        <p:tgtEl>
                                          <p:spTgt spid="103"/>
                                        </p:tgtEl>
                                        <p:attrNameLst>
                                          <p:attrName>style.color</p:attrName>
                                        </p:attrNameLst>
                                      </p:cBhvr>
                                      <p:to>
                                        <p:clrVal>
                                          <a:srgbClr val="F31407"/>
                                        </p:clrVal>
                                      </p:to>
                                    </p:set>
                                    <p:set>
                                      <p:cBhvr>
                                        <p:cTn id="55" dur="500" fill="hold"/>
                                        <p:tgtEl>
                                          <p:spTgt spid="103"/>
                                        </p:tgtEl>
                                        <p:attrNameLst>
                                          <p:attrName>fillcolor</p:attrName>
                                        </p:attrNameLst>
                                      </p:cBhvr>
                                      <p:to>
                                        <p:clrVal>
                                          <a:srgbClr val="F31407"/>
                                        </p:clrVal>
                                      </p:to>
                                    </p:set>
                                    <p:set>
                                      <p:cBhvr>
                                        <p:cTn id="56" dur="500" fill="hold"/>
                                        <p:tgtEl>
                                          <p:spTgt spid="103"/>
                                        </p:tgtEl>
                                        <p:attrNameLst>
                                          <p:attrName>fill.type</p:attrName>
                                        </p:attrNameLst>
                                      </p:cBhvr>
                                      <p:to>
                                        <p:strVal val="solid"/>
                                      </p:to>
                                    </p:set>
                                  </p:childTnLst>
                                </p:cTn>
                              </p:par>
                              <p:par>
                                <p:cTn id="57" presetID="3" presetClass="emph" presetSubtype="2" fill="hold" grpId="2" nodeType="withEffect">
                                  <p:stCondLst>
                                    <p:cond delay="0"/>
                                  </p:stCondLst>
                                  <p:iterate type="lt">
                                    <p:tmPct val="0"/>
                                  </p:iterate>
                                  <p:childTnLst>
                                    <p:animClr clrSpc="rgb" dir="cw">
                                      <p:cBhvr override="childStyle">
                                        <p:cTn id="58" dur="2000" fill="hold"/>
                                        <p:tgtEl>
                                          <p:spTgt spid="103"/>
                                        </p:tgtEl>
                                        <p:attrNameLst>
                                          <p:attrName>style.color</p:attrName>
                                        </p:attrNameLst>
                                      </p:cBhvr>
                                      <p:to>
                                        <a:schemeClr val="bg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83" grpId="0" animBg="1"/>
      <p:bldP spid="102" grpId="0" animBg="1"/>
      <p:bldP spid="103" grpId="0" animBg="1"/>
      <p:bldP spid="103" grpId="1" animBg="1"/>
      <p:bldP spid="103" grpId="2" animBg="1"/>
      <p:bldP spid="104" grpId="0" animBg="1"/>
      <p:bldP spid="105" grpId="0" animBg="1"/>
      <p:bldP spid="110" grpId="0" animBg="1"/>
      <p:bldP spid="110" grpId="1" animBg="1"/>
      <p:bldP spid="110" grpId="2" animBg="1"/>
      <p:bldP spid="111" grpId="0" animBg="1"/>
      <p:bldP spid="112" grpId="0" animBg="1"/>
      <p:bldP spid="115" grpId="0" animBg="1"/>
      <p:bldP spid="11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30</a:t>
            </a:fld>
            <a:endParaRPr lang="en-US" dirty="0"/>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lang="en-US" dirty="0"/>
              <a:t>THAO TÁC CƠ BẢN</a:t>
            </a:r>
          </a:p>
        </p:txBody>
      </p:sp>
      <p:sp>
        <p:nvSpPr>
          <p:cNvPr id="3" name="TextBox 2">
            <a:extLst>
              <a:ext uri="{FF2B5EF4-FFF2-40B4-BE49-F238E27FC236}">
                <a16:creationId xmlns:a16="http://schemas.microsoft.com/office/drawing/2014/main" id="{FB2A445E-0F6E-815C-D17A-9F0A8135FE1E}"/>
              </a:ext>
            </a:extLst>
          </p:cNvPr>
          <p:cNvSpPr txBox="1"/>
          <p:nvPr/>
        </p:nvSpPr>
        <p:spPr>
          <a:xfrm>
            <a:off x="682906" y="729204"/>
            <a:ext cx="4780634" cy="707886"/>
          </a:xfrm>
          <a:prstGeom prst="rect">
            <a:avLst/>
          </a:prstGeom>
          <a:noFill/>
        </p:spPr>
        <p:txBody>
          <a:bodyPr wrap="square" rtlCol="0">
            <a:spAutoFit/>
          </a:bodyPr>
          <a:lstStyle/>
          <a:p>
            <a:r>
              <a:rPr lang="en-VN" sz="2000" b="1" dirty="0">
                <a:solidFill>
                  <a:schemeClr val="accent1">
                    <a:lumMod val="50000"/>
                  </a:schemeClr>
                </a:solidFill>
                <a:latin typeface="Lato" panose="020F0502020204030203" pitchFamily="34" charset="0"/>
                <a:ea typeface="Lato" panose="020F0502020204030203" pitchFamily="34" charset="0"/>
                <a:cs typeface="Lato" panose="020F0502020204030203" pitchFamily="34" charset="0"/>
              </a:rPr>
              <a:t>2. Insertion (Thêm node vào cây đỏ đen)</a:t>
            </a:r>
          </a:p>
          <a:p>
            <a:endParaRPr lang="en-VN" sz="2000" b="1" dirty="0">
              <a:solidFill>
                <a:schemeClr val="accent1">
                  <a:lumMod val="50000"/>
                </a:schemeClr>
              </a:solidFill>
            </a:endParaRPr>
          </a:p>
        </p:txBody>
      </p:sp>
      <p:sp>
        <p:nvSpPr>
          <p:cNvPr id="7" name="TextBox 6">
            <a:extLst>
              <a:ext uri="{FF2B5EF4-FFF2-40B4-BE49-F238E27FC236}">
                <a16:creationId xmlns:a16="http://schemas.microsoft.com/office/drawing/2014/main" id="{6C4639FF-C762-3F88-3CE8-48A40412B7B3}"/>
              </a:ext>
            </a:extLst>
          </p:cNvPr>
          <p:cNvSpPr txBox="1"/>
          <p:nvPr/>
        </p:nvSpPr>
        <p:spPr>
          <a:xfrm>
            <a:off x="682906" y="1266610"/>
            <a:ext cx="6686092" cy="369332"/>
          </a:xfrm>
          <a:prstGeom prst="rect">
            <a:avLst/>
          </a:prstGeom>
          <a:noFill/>
        </p:spPr>
        <p:txBody>
          <a:bodyPr wrap="square" rtlCol="0">
            <a:spAutoFit/>
          </a:bodyPr>
          <a:lstStyle/>
          <a:p>
            <a:pPr marL="285750" indent="-285750">
              <a:buClr>
                <a:srgbClr val="C00000"/>
              </a:buClr>
              <a:buFont typeface="Wingdings" pitchFamily="2" charset="2"/>
              <a:buChar char="Ø"/>
            </a:pPr>
            <a:r>
              <a:rPr lang="en-VN" dirty="0">
                <a:solidFill>
                  <a:srgbClr val="C00000"/>
                </a:solidFill>
                <a:latin typeface="Lato" panose="020F0502020204030203" pitchFamily="34" charset="0"/>
                <a:ea typeface="Lato" panose="020F0502020204030203" pitchFamily="34" charset="0"/>
                <a:cs typeface="Lato" panose="020F0502020204030203" pitchFamily="34" charset="0"/>
              </a:rPr>
              <a:t>Ví dụ: </a:t>
            </a:r>
            <a:r>
              <a:rPr lang="en-VN" dirty="0">
                <a:latin typeface="Lato" panose="020F0502020204030203" pitchFamily="34" charset="0"/>
                <a:ea typeface="Lato" panose="020F0502020204030203" pitchFamily="34" charset="0"/>
                <a:cs typeface="Lato" panose="020F0502020204030203" pitchFamily="34" charset="0"/>
              </a:rPr>
              <a:t>Tạo cây đỏ đen từ dãy số: 50, 75, 25, 80, 100,…</a:t>
            </a:r>
          </a:p>
        </p:txBody>
      </p:sp>
      <p:sp>
        <p:nvSpPr>
          <p:cNvPr id="64" name="Oval 63">
            <a:extLst>
              <a:ext uri="{FF2B5EF4-FFF2-40B4-BE49-F238E27FC236}">
                <a16:creationId xmlns:a16="http://schemas.microsoft.com/office/drawing/2014/main" id="{3DB7DA7B-11A2-C3AD-DB23-494E0B2EBBF9}"/>
              </a:ext>
            </a:extLst>
          </p:cNvPr>
          <p:cNvSpPr/>
          <p:nvPr/>
        </p:nvSpPr>
        <p:spPr>
          <a:xfrm>
            <a:off x="1660778" y="3114620"/>
            <a:ext cx="499902"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25</a:t>
            </a:r>
          </a:p>
        </p:txBody>
      </p:sp>
      <p:cxnSp>
        <p:nvCxnSpPr>
          <p:cNvPr id="65" name="Straight Arrow Connector 64">
            <a:extLst>
              <a:ext uri="{FF2B5EF4-FFF2-40B4-BE49-F238E27FC236}">
                <a16:creationId xmlns:a16="http://schemas.microsoft.com/office/drawing/2014/main" id="{BD35087C-A924-1935-A18B-02F50951B0A4}"/>
              </a:ext>
            </a:extLst>
          </p:cNvPr>
          <p:cNvCxnSpPr>
            <a:cxnSpLocks/>
            <a:stCxn id="67" idx="4"/>
            <a:endCxn id="68" idx="0"/>
          </p:cNvCxnSpPr>
          <p:nvPr/>
        </p:nvCxnSpPr>
        <p:spPr>
          <a:xfrm>
            <a:off x="2297902" y="2568496"/>
            <a:ext cx="499902" cy="546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A6C92503-D0D5-BE5E-D556-517AB3E608B0}"/>
              </a:ext>
            </a:extLst>
          </p:cNvPr>
          <p:cNvCxnSpPr>
            <a:cxnSpLocks/>
            <a:stCxn id="67" idx="4"/>
            <a:endCxn id="64" idx="0"/>
          </p:cNvCxnSpPr>
          <p:nvPr/>
        </p:nvCxnSpPr>
        <p:spPr>
          <a:xfrm flipH="1">
            <a:off x="1910729" y="2568496"/>
            <a:ext cx="387173" cy="546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763934BE-EB43-87ED-36AF-00900B22CF13}"/>
              </a:ext>
            </a:extLst>
          </p:cNvPr>
          <p:cNvSpPr/>
          <p:nvPr/>
        </p:nvSpPr>
        <p:spPr>
          <a:xfrm>
            <a:off x="2047950" y="2168386"/>
            <a:ext cx="499903"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50</a:t>
            </a:r>
          </a:p>
        </p:txBody>
      </p:sp>
      <p:sp>
        <p:nvSpPr>
          <p:cNvPr id="68" name="Oval 67">
            <a:extLst>
              <a:ext uri="{FF2B5EF4-FFF2-40B4-BE49-F238E27FC236}">
                <a16:creationId xmlns:a16="http://schemas.microsoft.com/office/drawing/2014/main" id="{81F43955-326C-05AC-DF32-C814AE70A4F0}"/>
              </a:ext>
            </a:extLst>
          </p:cNvPr>
          <p:cNvSpPr/>
          <p:nvPr/>
        </p:nvSpPr>
        <p:spPr>
          <a:xfrm>
            <a:off x="2547852" y="3114620"/>
            <a:ext cx="499903"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75</a:t>
            </a:r>
          </a:p>
        </p:txBody>
      </p:sp>
      <p:cxnSp>
        <p:nvCxnSpPr>
          <p:cNvPr id="69" name="Straight Arrow Connector 68">
            <a:extLst>
              <a:ext uri="{FF2B5EF4-FFF2-40B4-BE49-F238E27FC236}">
                <a16:creationId xmlns:a16="http://schemas.microsoft.com/office/drawing/2014/main" id="{EFB3E3A4-99BB-1218-9D6E-940A454FE76A}"/>
              </a:ext>
            </a:extLst>
          </p:cNvPr>
          <p:cNvCxnSpPr>
            <a:cxnSpLocks/>
            <a:stCxn id="68" idx="4"/>
          </p:cNvCxnSpPr>
          <p:nvPr/>
        </p:nvCxnSpPr>
        <p:spPr>
          <a:xfrm>
            <a:off x="2797804" y="3514730"/>
            <a:ext cx="194373" cy="4573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Oval 69">
            <a:extLst>
              <a:ext uri="{FF2B5EF4-FFF2-40B4-BE49-F238E27FC236}">
                <a16:creationId xmlns:a16="http://schemas.microsoft.com/office/drawing/2014/main" id="{84EE3BC2-1F8E-8E70-DB78-F90FB5649FEC}"/>
              </a:ext>
            </a:extLst>
          </p:cNvPr>
          <p:cNvSpPr/>
          <p:nvPr/>
        </p:nvSpPr>
        <p:spPr>
          <a:xfrm>
            <a:off x="2786436" y="3972110"/>
            <a:ext cx="499903"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80</a:t>
            </a:r>
          </a:p>
        </p:txBody>
      </p:sp>
      <p:sp>
        <p:nvSpPr>
          <p:cNvPr id="4" name="TextBox 3">
            <a:extLst>
              <a:ext uri="{FF2B5EF4-FFF2-40B4-BE49-F238E27FC236}">
                <a16:creationId xmlns:a16="http://schemas.microsoft.com/office/drawing/2014/main" id="{70B9A9E2-0F2E-F710-0088-AFA3F50FED7A}"/>
              </a:ext>
            </a:extLst>
          </p:cNvPr>
          <p:cNvSpPr txBox="1"/>
          <p:nvPr/>
        </p:nvSpPr>
        <p:spPr>
          <a:xfrm>
            <a:off x="1838725" y="1749806"/>
            <a:ext cx="1153452" cy="338554"/>
          </a:xfrm>
          <a:prstGeom prst="rect">
            <a:avLst/>
          </a:prstGeom>
          <a:noFill/>
        </p:spPr>
        <p:txBody>
          <a:bodyPr wrap="square" rtlCol="0">
            <a:spAutoFit/>
          </a:bodyPr>
          <a:lstStyle/>
          <a:p>
            <a:r>
              <a:rPr lang="en-US" sz="1600" dirty="0">
                <a:solidFill>
                  <a:srgbClr val="7030A0"/>
                </a:solidFill>
                <a:latin typeface="Lato" panose="020F0502020204030203" pitchFamily="34" charset="0"/>
                <a:ea typeface="Lato" panose="020F0502020204030203" pitchFamily="34" charset="0"/>
                <a:cs typeface="Lato" panose="020F0502020204030203" pitchFamily="34" charset="0"/>
              </a:rPr>
              <a:t>T</a:t>
            </a:r>
            <a:r>
              <a:rPr lang="en-VN" sz="1600" dirty="0">
                <a:solidFill>
                  <a:srgbClr val="7030A0"/>
                </a:solidFill>
                <a:latin typeface="Lato" panose="020F0502020204030203" pitchFamily="34" charset="0"/>
                <a:ea typeface="Lato" panose="020F0502020204030203" pitchFamily="34" charset="0"/>
                <a:cs typeface="Lato" panose="020F0502020204030203" pitchFamily="34" charset="0"/>
              </a:rPr>
              <a:t>hêm 100</a:t>
            </a:r>
          </a:p>
        </p:txBody>
      </p:sp>
      <p:cxnSp>
        <p:nvCxnSpPr>
          <p:cNvPr id="9" name="Straight Arrow Connector 8">
            <a:extLst>
              <a:ext uri="{FF2B5EF4-FFF2-40B4-BE49-F238E27FC236}">
                <a16:creationId xmlns:a16="http://schemas.microsoft.com/office/drawing/2014/main" id="{E43D7DC2-8655-7503-2077-7AED8E6AAB9D}"/>
              </a:ext>
            </a:extLst>
          </p:cNvPr>
          <p:cNvCxnSpPr>
            <a:cxnSpLocks/>
          </p:cNvCxnSpPr>
          <p:nvPr/>
        </p:nvCxnSpPr>
        <p:spPr>
          <a:xfrm>
            <a:off x="3059123" y="4372220"/>
            <a:ext cx="194373" cy="4573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CB12FCE1-29C4-3FDC-FAD0-A6F57431071E}"/>
              </a:ext>
            </a:extLst>
          </p:cNvPr>
          <p:cNvSpPr/>
          <p:nvPr/>
        </p:nvSpPr>
        <p:spPr>
          <a:xfrm>
            <a:off x="3047755" y="4829600"/>
            <a:ext cx="610696"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100</a:t>
            </a:r>
          </a:p>
        </p:txBody>
      </p:sp>
      <p:sp>
        <p:nvSpPr>
          <p:cNvPr id="12" name="TextBox 11">
            <a:extLst>
              <a:ext uri="{FF2B5EF4-FFF2-40B4-BE49-F238E27FC236}">
                <a16:creationId xmlns:a16="http://schemas.microsoft.com/office/drawing/2014/main" id="{DE66A6F2-38C9-39DA-6B9D-8E1EDDC8303B}"/>
              </a:ext>
            </a:extLst>
          </p:cNvPr>
          <p:cNvSpPr txBox="1"/>
          <p:nvPr/>
        </p:nvSpPr>
        <p:spPr>
          <a:xfrm>
            <a:off x="1465635" y="5441681"/>
            <a:ext cx="2404851" cy="646331"/>
          </a:xfrm>
          <a:prstGeom prst="rect">
            <a:avLst/>
          </a:prstGeom>
          <a:noFill/>
        </p:spPr>
        <p:txBody>
          <a:bodyPr wrap="square" rtlCol="0">
            <a:spAutoFit/>
          </a:bodyPr>
          <a:lstStyle/>
          <a:p>
            <a:pPr marL="285750" indent="-285750">
              <a:buFont typeface="Wingdings" pitchFamily="2" charset="2"/>
              <a:buChar char="Ø"/>
            </a:pPr>
            <a:r>
              <a:rPr lang="en-VN" dirty="0">
                <a:latin typeface="Lato" panose="020F0502020204030203" pitchFamily="34" charset="0"/>
                <a:ea typeface="Lato" panose="020F0502020204030203" pitchFamily="34" charset="0"/>
                <a:cs typeface="Lato" panose="020F0502020204030203" pitchFamily="34" charset="0"/>
              </a:rPr>
              <a:t>Quay trái node 75 </a:t>
            </a:r>
          </a:p>
          <a:p>
            <a:pPr marL="285750" indent="-285750">
              <a:buFont typeface="Wingdings" pitchFamily="2" charset="2"/>
              <a:buChar char="Ø"/>
            </a:pPr>
            <a:r>
              <a:rPr lang="en-VN" dirty="0">
                <a:latin typeface="Lato" panose="020F0502020204030203" pitchFamily="34" charset="0"/>
                <a:ea typeface="Lato" panose="020F0502020204030203" pitchFamily="34" charset="0"/>
                <a:cs typeface="Lato" panose="020F0502020204030203" pitchFamily="34" charset="0"/>
              </a:rPr>
              <a:t>Đổi màu 75 và 80</a:t>
            </a:r>
          </a:p>
        </p:txBody>
      </p:sp>
      <p:sp>
        <p:nvSpPr>
          <p:cNvPr id="13" name="TextBox 12">
            <a:extLst>
              <a:ext uri="{FF2B5EF4-FFF2-40B4-BE49-F238E27FC236}">
                <a16:creationId xmlns:a16="http://schemas.microsoft.com/office/drawing/2014/main" id="{EE955864-44DD-FFB0-06E2-1592A61F5A40}"/>
              </a:ext>
            </a:extLst>
          </p:cNvPr>
          <p:cNvSpPr txBox="1"/>
          <p:nvPr/>
        </p:nvSpPr>
        <p:spPr>
          <a:xfrm>
            <a:off x="1465635" y="4567038"/>
            <a:ext cx="1332169" cy="369332"/>
          </a:xfrm>
          <a:prstGeom prst="rect">
            <a:avLst/>
          </a:prstGeom>
          <a:noFill/>
        </p:spPr>
        <p:txBody>
          <a:bodyPr wrap="square" rtlCol="0">
            <a:spAutoFit/>
          </a:bodyPr>
          <a:lstStyle/>
          <a:p>
            <a:r>
              <a:rPr lang="en-VN" dirty="0">
                <a:solidFill>
                  <a:srgbClr val="FF0000"/>
                </a:solidFill>
                <a:latin typeface="Lato" panose="020F0502020204030203" pitchFamily="34" charset="0"/>
                <a:ea typeface="Lato" panose="020F0502020204030203" pitchFamily="34" charset="0"/>
                <a:cs typeface="Lato" panose="020F0502020204030203" pitchFamily="34" charset="0"/>
              </a:rPr>
              <a:t>Right-Right</a:t>
            </a:r>
          </a:p>
        </p:txBody>
      </p:sp>
      <p:sp>
        <p:nvSpPr>
          <p:cNvPr id="15" name="Oval 14">
            <a:extLst>
              <a:ext uri="{FF2B5EF4-FFF2-40B4-BE49-F238E27FC236}">
                <a16:creationId xmlns:a16="http://schemas.microsoft.com/office/drawing/2014/main" id="{DE9B579A-AA5F-593E-37CE-379E8353093E}"/>
              </a:ext>
            </a:extLst>
          </p:cNvPr>
          <p:cNvSpPr/>
          <p:nvPr/>
        </p:nvSpPr>
        <p:spPr>
          <a:xfrm>
            <a:off x="5464082" y="3441705"/>
            <a:ext cx="499902"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25</a:t>
            </a:r>
          </a:p>
        </p:txBody>
      </p:sp>
      <p:cxnSp>
        <p:nvCxnSpPr>
          <p:cNvPr id="16" name="Straight Arrow Connector 15">
            <a:extLst>
              <a:ext uri="{FF2B5EF4-FFF2-40B4-BE49-F238E27FC236}">
                <a16:creationId xmlns:a16="http://schemas.microsoft.com/office/drawing/2014/main" id="{56409384-56EB-08F5-A397-FC7877B856C0}"/>
              </a:ext>
            </a:extLst>
          </p:cNvPr>
          <p:cNvCxnSpPr>
            <a:cxnSpLocks/>
            <a:stCxn id="19" idx="4"/>
            <a:endCxn id="20" idx="0"/>
          </p:cNvCxnSpPr>
          <p:nvPr/>
        </p:nvCxnSpPr>
        <p:spPr>
          <a:xfrm>
            <a:off x="6101206" y="2895581"/>
            <a:ext cx="499902" cy="546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54073F1-2D6D-51B4-4DEF-133CC40881D1}"/>
              </a:ext>
            </a:extLst>
          </p:cNvPr>
          <p:cNvCxnSpPr>
            <a:cxnSpLocks/>
            <a:stCxn id="19" idx="4"/>
            <a:endCxn id="15" idx="0"/>
          </p:cNvCxnSpPr>
          <p:nvPr/>
        </p:nvCxnSpPr>
        <p:spPr>
          <a:xfrm flipH="1">
            <a:off x="5714033" y="2895581"/>
            <a:ext cx="387173" cy="546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B2642885-CC78-35C8-FDF4-8C5D89BDB7DA}"/>
              </a:ext>
            </a:extLst>
          </p:cNvPr>
          <p:cNvSpPr/>
          <p:nvPr/>
        </p:nvSpPr>
        <p:spPr>
          <a:xfrm>
            <a:off x="5851254" y="2495471"/>
            <a:ext cx="499903"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50</a:t>
            </a:r>
          </a:p>
        </p:txBody>
      </p:sp>
      <p:sp>
        <p:nvSpPr>
          <p:cNvPr id="20" name="Oval 19">
            <a:extLst>
              <a:ext uri="{FF2B5EF4-FFF2-40B4-BE49-F238E27FC236}">
                <a16:creationId xmlns:a16="http://schemas.microsoft.com/office/drawing/2014/main" id="{3D023CC6-CC2A-9B9E-6715-2FE73F6055FE}"/>
              </a:ext>
            </a:extLst>
          </p:cNvPr>
          <p:cNvSpPr/>
          <p:nvPr/>
        </p:nvSpPr>
        <p:spPr>
          <a:xfrm>
            <a:off x="6351156" y="3441705"/>
            <a:ext cx="499903"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80</a:t>
            </a:r>
          </a:p>
        </p:txBody>
      </p:sp>
      <p:cxnSp>
        <p:nvCxnSpPr>
          <p:cNvPr id="22" name="Straight Arrow Connector 21">
            <a:extLst>
              <a:ext uri="{FF2B5EF4-FFF2-40B4-BE49-F238E27FC236}">
                <a16:creationId xmlns:a16="http://schemas.microsoft.com/office/drawing/2014/main" id="{5F5F8BD1-2C71-134A-CE49-0C1B106D4DE7}"/>
              </a:ext>
            </a:extLst>
          </p:cNvPr>
          <p:cNvCxnSpPr>
            <a:cxnSpLocks/>
            <a:endCxn id="23" idx="0"/>
          </p:cNvCxnSpPr>
          <p:nvPr/>
        </p:nvCxnSpPr>
        <p:spPr>
          <a:xfrm>
            <a:off x="6628897" y="3843235"/>
            <a:ext cx="684974" cy="4559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F41DCF6B-A374-8655-0797-3BEF06AD4811}"/>
              </a:ext>
            </a:extLst>
          </p:cNvPr>
          <p:cNvSpPr/>
          <p:nvPr/>
        </p:nvSpPr>
        <p:spPr>
          <a:xfrm>
            <a:off x="7008523" y="4299195"/>
            <a:ext cx="610696"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100</a:t>
            </a:r>
          </a:p>
        </p:txBody>
      </p:sp>
      <p:sp>
        <p:nvSpPr>
          <p:cNvPr id="29" name="Oval 28">
            <a:extLst>
              <a:ext uri="{FF2B5EF4-FFF2-40B4-BE49-F238E27FC236}">
                <a16:creationId xmlns:a16="http://schemas.microsoft.com/office/drawing/2014/main" id="{8CBDC981-6BF6-1C5A-A9DD-CF2A5CAB4CA1}"/>
              </a:ext>
            </a:extLst>
          </p:cNvPr>
          <p:cNvSpPr/>
          <p:nvPr/>
        </p:nvSpPr>
        <p:spPr>
          <a:xfrm>
            <a:off x="5726278" y="4268726"/>
            <a:ext cx="499903"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75</a:t>
            </a:r>
          </a:p>
        </p:txBody>
      </p:sp>
      <p:cxnSp>
        <p:nvCxnSpPr>
          <p:cNvPr id="31" name="Straight Arrow Connector 30">
            <a:extLst>
              <a:ext uri="{FF2B5EF4-FFF2-40B4-BE49-F238E27FC236}">
                <a16:creationId xmlns:a16="http://schemas.microsoft.com/office/drawing/2014/main" id="{CF88ACE8-2353-FE0D-9257-7C3631B9145B}"/>
              </a:ext>
            </a:extLst>
          </p:cNvPr>
          <p:cNvCxnSpPr>
            <a:cxnSpLocks/>
            <a:stCxn id="20" idx="4"/>
            <a:endCxn id="29" idx="0"/>
          </p:cNvCxnSpPr>
          <p:nvPr/>
        </p:nvCxnSpPr>
        <p:spPr>
          <a:xfrm flipH="1">
            <a:off x="5976230" y="3841815"/>
            <a:ext cx="624878" cy="426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1100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iterate type="lt">
                                    <p:tmAbs val="0"/>
                                  </p:iterate>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grpId="0" nodeType="withEffect">
                                  <p:stCondLst>
                                    <p:cond delay="0"/>
                                  </p:stCondLst>
                                  <p:iterate type="lt">
                                    <p:tmAbs val="0"/>
                                  </p:iterate>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6" presetClass="emph" presetSubtype="0" fill="hold" grpId="1" nodeType="clickEffect">
                                  <p:stCondLst>
                                    <p:cond delay="0"/>
                                  </p:stCondLst>
                                  <p:iterate type="lt">
                                    <p:tmPct val="4000"/>
                                  </p:iterate>
                                  <p:childTnLst>
                                    <p:set>
                                      <p:cBhvr override="childStyle">
                                        <p:cTn id="40" dur="500" fill="hold"/>
                                        <p:tgtEl>
                                          <p:spTgt spid="20"/>
                                        </p:tgtEl>
                                        <p:attrNameLst>
                                          <p:attrName>style.color</p:attrName>
                                        </p:attrNameLst>
                                      </p:cBhvr>
                                      <p:to>
                                        <p:clrVal>
                                          <a:schemeClr val="tx1"/>
                                        </p:clrVal>
                                      </p:to>
                                    </p:set>
                                    <p:set>
                                      <p:cBhvr>
                                        <p:cTn id="41" dur="500" fill="hold"/>
                                        <p:tgtEl>
                                          <p:spTgt spid="20"/>
                                        </p:tgtEl>
                                        <p:attrNameLst>
                                          <p:attrName>fillcolor</p:attrName>
                                        </p:attrNameLst>
                                      </p:cBhvr>
                                      <p:to>
                                        <p:clrVal>
                                          <a:schemeClr val="tx1"/>
                                        </p:clrVal>
                                      </p:to>
                                    </p:set>
                                    <p:set>
                                      <p:cBhvr>
                                        <p:cTn id="42" dur="500" fill="hold"/>
                                        <p:tgtEl>
                                          <p:spTgt spid="20"/>
                                        </p:tgtEl>
                                        <p:attrNameLst>
                                          <p:attrName>fill.type</p:attrName>
                                        </p:attrNameLst>
                                      </p:cBhvr>
                                      <p:to>
                                        <p:strVal val="solid"/>
                                      </p:to>
                                    </p:set>
                                  </p:childTnLst>
                                </p:cTn>
                              </p:par>
                              <p:par>
                                <p:cTn id="43" presetID="3" presetClass="emph" presetSubtype="2" fill="hold" nodeType="withEffect">
                                  <p:stCondLst>
                                    <p:cond delay="0"/>
                                  </p:stCondLst>
                                  <p:childTnLst>
                                    <p:animClr clrSpc="rgb" dir="cw">
                                      <p:cBhvr override="childStyle">
                                        <p:cTn id="44" dur="2000" fill="hold"/>
                                        <p:tgtEl>
                                          <p:spTgt spid="20">
                                            <p:txEl>
                                              <p:pRg st="0" end="0"/>
                                            </p:txEl>
                                          </p:spTgt>
                                        </p:tgtEl>
                                        <p:attrNameLst>
                                          <p:attrName>style.color</p:attrName>
                                        </p:attrNameLst>
                                      </p:cBhvr>
                                      <p:to>
                                        <a:schemeClr val="bg1"/>
                                      </p:to>
                                    </p:animClr>
                                  </p:childTnLst>
                                </p:cTn>
                              </p:par>
                              <p:par>
                                <p:cTn id="45" presetID="16" presetClass="emph" presetSubtype="0" fill="hold" grpId="1" nodeType="withEffect">
                                  <p:stCondLst>
                                    <p:cond delay="0"/>
                                  </p:stCondLst>
                                  <p:iterate type="lt">
                                    <p:tmPct val="4000"/>
                                  </p:iterate>
                                  <p:childTnLst>
                                    <p:set>
                                      <p:cBhvr override="childStyle">
                                        <p:cTn id="46" dur="500" fill="hold"/>
                                        <p:tgtEl>
                                          <p:spTgt spid="29"/>
                                        </p:tgtEl>
                                        <p:attrNameLst>
                                          <p:attrName>style.color</p:attrName>
                                        </p:attrNameLst>
                                      </p:cBhvr>
                                      <p:to>
                                        <p:clrVal>
                                          <a:srgbClr val="F30000"/>
                                        </p:clrVal>
                                      </p:to>
                                    </p:set>
                                    <p:set>
                                      <p:cBhvr>
                                        <p:cTn id="47" dur="500" fill="hold"/>
                                        <p:tgtEl>
                                          <p:spTgt spid="29"/>
                                        </p:tgtEl>
                                        <p:attrNameLst>
                                          <p:attrName>fillcolor</p:attrName>
                                        </p:attrNameLst>
                                      </p:cBhvr>
                                      <p:to>
                                        <p:clrVal>
                                          <a:srgbClr val="F30000"/>
                                        </p:clrVal>
                                      </p:to>
                                    </p:set>
                                    <p:set>
                                      <p:cBhvr>
                                        <p:cTn id="48" dur="500" fill="hold"/>
                                        <p:tgtEl>
                                          <p:spTgt spid="29"/>
                                        </p:tgtEl>
                                        <p:attrNameLst>
                                          <p:attrName>fill.type</p:attrName>
                                        </p:attrNameLst>
                                      </p:cBhvr>
                                      <p:to>
                                        <p:strVal val="solid"/>
                                      </p:to>
                                    </p:set>
                                  </p:childTnLst>
                                </p:cTn>
                              </p:par>
                              <p:par>
                                <p:cTn id="49" presetID="16" presetClass="emph" presetSubtype="0" fill="hold" nodeType="withEffect">
                                  <p:stCondLst>
                                    <p:cond delay="0"/>
                                  </p:stCondLst>
                                  <p:iterate type="lt">
                                    <p:tmPct val="4000"/>
                                  </p:iterate>
                                  <p:childTnLst>
                                    <p:set>
                                      <p:cBhvr override="childStyle">
                                        <p:cTn id="50" dur="500" fill="hold"/>
                                        <p:tgtEl>
                                          <p:spTgt spid="29">
                                            <p:txEl>
                                              <p:pRg st="0" end="0"/>
                                            </p:txEl>
                                          </p:spTgt>
                                        </p:tgtEl>
                                        <p:attrNameLst>
                                          <p:attrName>style.color</p:attrName>
                                        </p:attrNameLst>
                                      </p:cBhvr>
                                      <p:to>
                                        <p:clrVal>
                                          <a:schemeClr val="bg1"/>
                                        </p:clrVal>
                                      </p:to>
                                    </p:set>
                                    <p:set>
                                      <p:cBhvr>
                                        <p:cTn id="51" dur="500" fill="hold"/>
                                        <p:tgtEl>
                                          <p:spTgt spid="29">
                                            <p:txEl>
                                              <p:pRg st="0" end="0"/>
                                            </p:txEl>
                                          </p:spTgt>
                                        </p:tgtEl>
                                        <p:attrNameLst>
                                          <p:attrName>fillcolor</p:attrName>
                                        </p:attrNameLst>
                                      </p:cBhvr>
                                      <p:to>
                                        <p:clrVal>
                                          <a:schemeClr val="bg1"/>
                                        </p:clrVal>
                                      </p:to>
                                    </p:set>
                                    <p:set>
                                      <p:cBhvr>
                                        <p:cTn id="52" dur="500" fill="hold"/>
                                        <p:tgtEl>
                                          <p:spTgt spid="29">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animBg="1"/>
      <p:bldP spid="12" grpId="0"/>
      <p:bldP spid="13" grpId="0"/>
      <p:bldP spid="15" grpId="0" animBg="1"/>
      <p:bldP spid="19" grpId="0" animBg="1"/>
      <p:bldP spid="20" grpId="0" animBg="1"/>
      <p:bldP spid="20" grpId="1" animBg="1"/>
      <p:bldP spid="23" grpId="0" animBg="1"/>
      <p:bldP spid="29" grpId="0" animBg="1"/>
      <p:bldP spid="29"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31</a:t>
            </a:fld>
            <a:endParaRPr lang="en-US" dirty="0"/>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lang="en-US" dirty="0"/>
              <a:t>THAO TÁC CƠ BẢN</a:t>
            </a:r>
          </a:p>
        </p:txBody>
      </p:sp>
      <p:sp>
        <p:nvSpPr>
          <p:cNvPr id="3" name="TextBox 2">
            <a:extLst>
              <a:ext uri="{FF2B5EF4-FFF2-40B4-BE49-F238E27FC236}">
                <a16:creationId xmlns:a16="http://schemas.microsoft.com/office/drawing/2014/main" id="{FB2A445E-0F6E-815C-D17A-9F0A8135FE1E}"/>
              </a:ext>
            </a:extLst>
          </p:cNvPr>
          <p:cNvSpPr txBox="1"/>
          <p:nvPr/>
        </p:nvSpPr>
        <p:spPr>
          <a:xfrm>
            <a:off x="682906" y="729204"/>
            <a:ext cx="4780634" cy="707886"/>
          </a:xfrm>
          <a:prstGeom prst="rect">
            <a:avLst/>
          </a:prstGeom>
          <a:noFill/>
        </p:spPr>
        <p:txBody>
          <a:bodyPr wrap="square" rtlCol="0">
            <a:spAutoFit/>
          </a:bodyPr>
          <a:lstStyle/>
          <a:p>
            <a:r>
              <a:rPr lang="en-VN" sz="2000" b="1" dirty="0">
                <a:solidFill>
                  <a:schemeClr val="accent1">
                    <a:lumMod val="50000"/>
                  </a:schemeClr>
                </a:solidFill>
                <a:latin typeface="Lato" panose="020F0502020204030203" pitchFamily="34" charset="0"/>
                <a:ea typeface="Lato" panose="020F0502020204030203" pitchFamily="34" charset="0"/>
                <a:cs typeface="Lato" panose="020F0502020204030203" pitchFamily="34" charset="0"/>
              </a:rPr>
              <a:t>3. Deletion (Xoá node)</a:t>
            </a:r>
          </a:p>
          <a:p>
            <a:endParaRPr lang="en-VN" sz="2000" b="1" dirty="0">
              <a:solidFill>
                <a:schemeClr val="accent1">
                  <a:lumMod val="50000"/>
                </a:schemeClr>
              </a:solidFill>
            </a:endParaRPr>
          </a:p>
        </p:txBody>
      </p:sp>
      <p:sp>
        <p:nvSpPr>
          <p:cNvPr id="6" name="TextBox 5">
            <a:extLst>
              <a:ext uri="{FF2B5EF4-FFF2-40B4-BE49-F238E27FC236}">
                <a16:creationId xmlns:a16="http://schemas.microsoft.com/office/drawing/2014/main" id="{B46CB544-8221-AFF8-A9FF-48716A4D89C0}"/>
              </a:ext>
            </a:extLst>
          </p:cNvPr>
          <p:cNvSpPr txBox="1"/>
          <p:nvPr/>
        </p:nvSpPr>
        <p:spPr>
          <a:xfrm>
            <a:off x="556591" y="1298713"/>
            <a:ext cx="7765774" cy="369332"/>
          </a:xfrm>
          <a:prstGeom prst="rect">
            <a:avLst/>
          </a:prstGeom>
          <a:noFill/>
        </p:spPr>
        <p:txBody>
          <a:bodyPr wrap="square" rtlCol="0">
            <a:spAutoFit/>
          </a:bodyPr>
          <a:lstStyle/>
          <a:p>
            <a:r>
              <a:rPr lang="en-VN" dirty="0">
                <a:latin typeface="Lato" panose="020F0502020204030203" pitchFamily="34" charset="0"/>
                <a:ea typeface="Lato" panose="020F0502020204030203" pitchFamily="34" charset="0"/>
                <a:cs typeface="Lato" panose="020F0502020204030203" pitchFamily="34" charset="0"/>
              </a:rPr>
              <a:t>Việc thực hiện xoá một node X của cây đỏ đen được thực hiện như sau:</a:t>
            </a:r>
          </a:p>
        </p:txBody>
      </p:sp>
      <p:sp>
        <p:nvSpPr>
          <p:cNvPr id="8" name="TextBox 7">
            <a:extLst>
              <a:ext uri="{FF2B5EF4-FFF2-40B4-BE49-F238E27FC236}">
                <a16:creationId xmlns:a16="http://schemas.microsoft.com/office/drawing/2014/main" id="{037DFB61-6E88-4E65-259E-A1F259464780}"/>
              </a:ext>
            </a:extLst>
          </p:cNvPr>
          <p:cNvSpPr txBox="1"/>
          <p:nvPr/>
        </p:nvSpPr>
        <p:spPr>
          <a:xfrm>
            <a:off x="1113182" y="1950138"/>
            <a:ext cx="6917635" cy="1938992"/>
          </a:xfrm>
          <a:prstGeom prst="rect">
            <a:avLst/>
          </a:prstGeom>
          <a:noFill/>
        </p:spPr>
        <p:txBody>
          <a:bodyPr wrap="square" rtlCol="0">
            <a:spAutoFit/>
          </a:bodyPr>
          <a:lstStyle/>
          <a:p>
            <a:pPr marL="342900" indent="-342900">
              <a:buFont typeface="+mj-lt"/>
              <a:buAutoNum type="arabicPeriod"/>
            </a:pPr>
            <a:r>
              <a:rPr lang="en-VN" sz="2000" dirty="0">
                <a:solidFill>
                  <a:srgbClr val="00B0F0"/>
                </a:solidFill>
                <a:latin typeface="Lato" panose="020F0502020204030203" pitchFamily="34" charset="0"/>
                <a:ea typeface="Lato" panose="020F0502020204030203" pitchFamily="34" charset="0"/>
                <a:cs typeface="Lato" panose="020F0502020204030203" pitchFamily="34" charset="0"/>
              </a:rPr>
              <a:t>Tìm kiếm node cần xoá, nếu không tìm thấy thì dừng.</a:t>
            </a:r>
          </a:p>
          <a:p>
            <a:pPr marL="342900" indent="-342900">
              <a:buFont typeface="+mj-lt"/>
              <a:buAutoNum type="arabicPeriod"/>
            </a:pPr>
            <a:r>
              <a:rPr lang="en-VN" sz="2000" dirty="0">
                <a:solidFill>
                  <a:srgbClr val="00B0F0"/>
                </a:solidFill>
                <a:latin typeface="Lato" panose="020F0502020204030203" pitchFamily="34" charset="0"/>
                <a:ea typeface="Lato" panose="020F0502020204030203" pitchFamily="34" charset="0"/>
                <a:cs typeface="Lato" panose="020F0502020204030203" pitchFamily="34" charset="0"/>
              </a:rPr>
              <a:t>Nếu tìm thấy, ta tiến hành xoá:</a:t>
            </a:r>
          </a:p>
          <a:p>
            <a:pPr marL="742950" lvl="1" indent="-285750">
              <a:buFont typeface="Wingdings" pitchFamily="2" charset="2"/>
              <a:buChar char="q"/>
            </a:pPr>
            <a:r>
              <a:rPr lang="en-VN" sz="2000" dirty="0">
                <a:solidFill>
                  <a:srgbClr val="00B0F0"/>
                </a:solidFill>
                <a:latin typeface="Lato" panose="020F0502020204030203" pitchFamily="34" charset="0"/>
                <a:ea typeface="Lato" panose="020F0502020204030203" pitchFamily="34" charset="0"/>
                <a:cs typeface="Lato" panose="020F0502020204030203" pitchFamily="34" charset="0"/>
              </a:rPr>
              <a:t>Node cần xoá là nút lá</a:t>
            </a:r>
          </a:p>
          <a:p>
            <a:pPr marL="742950" lvl="1" indent="-285750">
              <a:buFont typeface="Wingdings" pitchFamily="2" charset="2"/>
              <a:buChar char="q"/>
            </a:pPr>
            <a:r>
              <a:rPr lang="en-VN" sz="2000" dirty="0">
                <a:solidFill>
                  <a:srgbClr val="00B0F0"/>
                </a:solidFill>
                <a:latin typeface="Lato" panose="020F0502020204030203" pitchFamily="34" charset="0"/>
                <a:ea typeface="Lato" panose="020F0502020204030203" pitchFamily="34" charset="0"/>
                <a:cs typeface="Lato" panose="020F0502020204030203" pitchFamily="34" charset="0"/>
              </a:rPr>
              <a:t>Node cần xoá là nút 1 con</a:t>
            </a:r>
          </a:p>
          <a:p>
            <a:pPr marL="742950" lvl="1" indent="-285750">
              <a:buFont typeface="Wingdings" pitchFamily="2" charset="2"/>
              <a:buChar char="q"/>
            </a:pPr>
            <a:r>
              <a:rPr lang="en-VN" sz="2000" dirty="0">
                <a:solidFill>
                  <a:srgbClr val="00B0F0"/>
                </a:solidFill>
                <a:latin typeface="Lato" panose="020F0502020204030203" pitchFamily="34" charset="0"/>
                <a:ea typeface="Lato" panose="020F0502020204030203" pitchFamily="34" charset="0"/>
                <a:cs typeface="Lato" panose="020F0502020204030203" pitchFamily="34" charset="0"/>
              </a:rPr>
              <a:t>Node cần xoá là nút 2 con (tìm Node thay thế)</a:t>
            </a:r>
          </a:p>
          <a:p>
            <a:pPr marL="342900" indent="-342900">
              <a:buFont typeface="+mj-lt"/>
              <a:buAutoNum type="arabicPeriod"/>
            </a:pPr>
            <a:r>
              <a:rPr lang="en-VN" sz="2000" dirty="0">
                <a:solidFill>
                  <a:srgbClr val="00B0F0"/>
                </a:solidFill>
                <a:latin typeface="Lato" panose="020F0502020204030203" pitchFamily="34" charset="0"/>
                <a:ea typeface="Lato" panose="020F0502020204030203" pitchFamily="34" charset="0"/>
                <a:cs typeface="Lato" panose="020F0502020204030203" pitchFamily="34" charset="0"/>
              </a:rPr>
              <a:t>Điều chỉnh lại nếu vi phạm các quy định của cây đỏ đen.</a:t>
            </a:r>
          </a:p>
        </p:txBody>
      </p:sp>
    </p:spTree>
    <p:extLst>
      <p:ext uri="{BB962C8B-B14F-4D97-AF65-F5344CB8AC3E}">
        <p14:creationId xmlns:p14="http://schemas.microsoft.com/office/powerpoint/2010/main" val="2513760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32</a:t>
            </a:fld>
            <a:endParaRPr lang="en-US" dirty="0"/>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lang="en-US" dirty="0"/>
              <a:t>THAO TÁC CƠ BẢN</a:t>
            </a:r>
          </a:p>
        </p:txBody>
      </p:sp>
      <p:sp>
        <p:nvSpPr>
          <p:cNvPr id="3" name="TextBox 2">
            <a:extLst>
              <a:ext uri="{FF2B5EF4-FFF2-40B4-BE49-F238E27FC236}">
                <a16:creationId xmlns:a16="http://schemas.microsoft.com/office/drawing/2014/main" id="{FB2A445E-0F6E-815C-D17A-9F0A8135FE1E}"/>
              </a:ext>
            </a:extLst>
          </p:cNvPr>
          <p:cNvSpPr txBox="1"/>
          <p:nvPr/>
        </p:nvSpPr>
        <p:spPr>
          <a:xfrm>
            <a:off x="682906" y="729204"/>
            <a:ext cx="4780634" cy="707886"/>
          </a:xfrm>
          <a:prstGeom prst="rect">
            <a:avLst/>
          </a:prstGeom>
          <a:noFill/>
        </p:spPr>
        <p:txBody>
          <a:bodyPr wrap="square" rtlCol="0">
            <a:spAutoFit/>
          </a:bodyPr>
          <a:lstStyle/>
          <a:p>
            <a:r>
              <a:rPr lang="en-VN" sz="2000" b="1" dirty="0">
                <a:solidFill>
                  <a:schemeClr val="accent1">
                    <a:lumMod val="50000"/>
                  </a:schemeClr>
                </a:solidFill>
                <a:latin typeface="Lato" panose="020F0502020204030203" pitchFamily="34" charset="0"/>
                <a:ea typeface="Lato" panose="020F0502020204030203" pitchFamily="34" charset="0"/>
                <a:cs typeface="Lato" panose="020F0502020204030203" pitchFamily="34" charset="0"/>
              </a:rPr>
              <a:t>3. Deletion (Xoá node)</a:t>
            </a:r>
          </a:p>
          <a:p>
            <a:endParaRPr lang="en-VN" sz="2000" b="1" dirty="0">
              <a:solidFill>
                <a:schemeClr val="accent1">
                  <a:lumMod val="50000"/>
                </a:schemeClr>
              </a:solidFill>
            </a:endParaRPr>
          </a:p>
        </p:txBody>
      </p:sp>
      <p:sp>
        <p:nvSpPr>
          <p:cNvPr id="6" name="TextBox 5">
            <a:extLst>
              <a:ext uri="{FF2B5EF4-FFF2-40B4-BE49-F238E27FC236}">
                <a16:creationId xmlns:a16="http://schemas.microsoft.com/office/drawing/2014/main" id="{B46CB544-8221-AFF8-A9FF-48716A4D89C0}"/>
              </a:ext>
            </a:extLst>
          </p:cNvPr>
          <p:cNvSpPr txBox="1"/>
          <p:nvPr/>
        </p:nvSpPr>
        <p:spPr>
          <a:xfrm>
            <a:off x="556591" y="1298713"/>
            <a:ext cx="7765774" cy="369332"/>
          </a:xfrm>
          <a:prstGeom prst="rect">
            <a:avLst/>
          </a:prstGeom>
          <a:noFill/>
        </p:spPr>
        <p:txBody>
          <a:bodyPr wrap="square" rtlCol="0">
            <a:spAutoFit/>
          </a:bodyPr>
          <a:lstStyle/>
          <a:p>
            <a:r>
              <a:rPr lang="en-VN" dirty="0">
                <a:latin typeface="Lato" panose="020F0502020204030203" pitchFamily="34" charset="0"/>
                <a:ea typeface="Lato" panose="020F0502020204030203" pitchFamily="34" charset="0"/>
                <a:cs typeface="Lato" panose="020F0502020204030203" pitchFamily="34" charset="0"/>
              </a:rPr>
              <a:t>Các trường hợp có thể xảy ra khi xoá node X của cây đỏ đen:</a:t>
            </a:r>
          </a:p>
        </p:txBody>
      </p:sp>
      <p:sp>
        <p:nvSpPr>
          <p:cNvPr id="4" name="TextBox 3">
            <a:extLst>
              <a:ext uri="{FF2B5EF4-FFF2-40B4-BE49-F238E27FC236}">
                <a16:creationId xmlns:a16="http://schemas.microsoft.com/office/drawing/2014/main" id="{C8663B12-B349-597A-7A26-5CF9AD5C9B9F}"/>
              </a:ext>
            </a:extLst>
          </p:cNvPr>
          <p:cNvSpPr txBox="1"/>
          <p:nvPr/>
        </p:nvSpPr>
        <p:spPr>
          <a:xfrm>
            <a:off x="1272209" y="1987826"/>
            <a:ext cx="5446643" cy="2339871"/>
          </a:xfrm>
          <a:prstGeom prst="rect">
            <a:avLst/>
          </a:prstGeom>
          <a:noFill/>
        </p:spPr>
        <p:txBody>
          <a:bodyPr wrap="square" rtlCol="0">
            <a:spAutoFit/>
          </a:bodyPr>
          <a:lstStyle/>
          <a:p>
            <a:pPr marL="342900" indent="-342900">
              <a:lnSpc>
                <a:spcPct val="150000"/>
              </a:lnSpc>
              <a:buFont typeface="+mj-lt"/>
              <a:buAutoNum type="alphaLcParenR"/>
            </a:pPr>
            <a:r>
              <a:rPr lang="en-VN" sz="2000" dirty="0">
                <a:latin typeface="Lato" panose="020F0502020204030203" pitchFamily="34" charset="0"/>
                <a:ea typeface="Lato" panose="020F0502020204030203" pitchFamily="34" charset="0"/>
                <a:cs typeface="Lato" panose="020F0502020204030203" pitchFamily="34" charset="0"/>
              </a:rPr>
              <a:t>Node cần xoá X là node đỏ</a:t>
            </a:r>
          </a:p>
          <a:p>
            <a:pPr marL="342900" indent="-342900">
              <a:lnSpc>
                <a:spcPct val="150000"/>
              </a:lnSpc>
              <a:buFont typeface="+mj-lt"/>
              <a:buAutoNum type="alphaLcParenR"/>
            </a:pPr>
            <a:r>
              <a:rPr lang="en-VN" sz="2000" dirty="0">
                <a:latin typeface="Lato" panose="020F0502020204030203" pitchFamily="34" charset="0"/>
                <a:ea typeface="Lato" panose="020F0502020204030203" pitchFamily="34" charset="0"/>
                <a:cs typeface="Lato" panose="020F0502020204030203" pitchFamily="34" charset="0"/>
              </a:rPr>
              <a:t>Node cần xoá X là node đen</a:t>
            </a:r>
          </a:p>
          <a:p>
            <a:pPr marL="742950" lvl="1" indent="-285750">
              <a:lnSpc>
                <a:spcPct val="150000"/>
              </a:lnSpc>
              <a:buFont typeface="Wingdings" pitchFamily="2" charset="2"/>
              <a:buChar char="Ø"/>
            </a:pPr>
            <a:r>
              <a:rPr lang="en-VN" sz="2000" dirty="0">
                <a:latin typeface="Lato" panose="020F0502020204030203" pitchFamily="34" charset="0"/>
                <a:ea typeface="Lato" panose="020F0502020204030203" pitchFamily="34" charset="0"/>
                <a:cs typeface="Lato" panose="020F0502020204030203" pitchFamily="34" charset="0"/>
              </a:rPr>
              <a:t>Node con của X là nút đỏ (có 1 con)</a:t>
            </a:r>
          </a:p>
          <a:p>
            <a:pPr marL="742950" lvl="1" indent="-285750">
              <a:lnSpc>
                <a:spcPct val="150000"/>
              </a:lnSpc>
              <a:buFont typeface="Wingdings" pitchFamily="2" charset="2"/>
              <a:buChar char="Ø"/>
            </a:pPr>
            <a:r>
              <a:rPr lang="en-VN" sz="2000" dirty="0">
                <a:latin typeface="Lato" panose="020F0502020204030203" pitchFamily="34" charset="0"/>
                <a:ea typeface="Lato" panose="020F0502020204030203" pitchFamily="34" charset="0"/>
                <a:cs typeface="Lato" panose="020F0502020204030203" pitchFamily="34" charset="0"/>
              </a:rPr>
              <a:t>2 con của X (kể cả NIL) đều là nút đen</a:t>
            </a:r>
          </a:p>
          <a:p>
            <a:pPr marL="285750" indent="-285750">
              <a:lnSpc>
                <a:spcPct val="150000"/>
              </a:lnSpc>
              <a:buFont typeface="Wingdings" pitchFamily="2" charset="2"/>
              <a:buChar char="Ø"/>
            </a:pPr>
            <a:endParaRPr lang="en-VN" sz="2000"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192217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33</a:t>
            </a:fld>
            <a:endParaRPr lang="en-US" dirty="0"/>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lang="en-US" dirty="0"/>
              <a:t>THAO TÁC CƠ BẢN</a:t>
            </a:r>
          </a:p>
        </p:txBody>
      </p:sp>
      <p:sp>
        <p:nvSpPr>
          <p:cNvPr id="3" name="TextBox 2">
            <a:extLst>
              <a:ext uri="{FF2B5EF4-FFF2-40B4-BE49-F238E27FC236}">
                <a16:creationId xmlns:a16="http://schemas.microsoft.com/office/drawing/2014/main" id="{FB2A445E-0F6E-815C-D17A-9F0A8135FE1E}"/>
              </a:ext>
            </a:extLst>
          </p:cNvPr>
          <p:cNvSpPr txBox="1"/>
          <p:nvPr/>
        </p:nvSpPr>
        <p:spPr>
          <a:xfrm>
            <a:off x="682906" y="729204"/>
            <a:ext cx="4780634" cy="707886"/>
          </a:xfrm>
          <a:prstGeom prst="rect">
            <a:avLst/>
          </a:prstGeom>
          <a:noFill/>
        </p:spPr>
        <p:txBody>
          <a:bodyPr wrap="square" rtlCol="0">
            <a:spAutoFit/>
          </a:bodyPr>
          <a:lstStyle/>
          <a:p>
            <a:r>
              <a:rPr lang="en-VN" sz="2000" b="1" dirty="0">
                <a:solidFill>
                  <a:schemeClr val="accent1">
                    <a:lumMod val="50000"/>
                  </a:schemeClr>
                </a:solidFill>
                <a:latin typeface="Lato" panose="020F0502020204030203" pitchFamily="34" charset="0"/>
                <a:ea typeface="Lato" panose="020F0502020204030203" pitchFamily="34" charset="0"/>
                <a:cs typeface="Lato" panose="020F0502020204030203" pitchFamily="34" charset="0"/>
              </a:rPr>
              <a:t>3. Deletion (Xoá node)</a:t>
            </a:r>
          </a:p>
          <a:p>
            <a:endParaRPr lang="en-VN" sz="2000" b="1" dirty="0">
              <a:solidFill>
                <a:schemeClr val="accent1">
                  <a:lumMod val="50000"/>
                </a:schemeClr>
              </a:solidFill>
            </a:endParaRPr>
          </a:p>
        </p:txBody>
      </p:sp>
      <p:sp>
        <p:nvSpPr>
          <p:cNvPr id="6" name="TextBox 5">
            <a:extLst>
              <a:ext uri="{FF2B5EF4-FFF2-40B4-BE49-F238E27FC236}">
                <a16:creationId xmlns:a16="http://schemas.microsoft.com/office/drawing/2014/main" id="{B46CB544-8221-AFF8-A9FF-48716A4D89C0}"/>
              </a:ext>
            </a:extLst>
          </p:cNvPr>
          <p:cNvSpPr txBox="1"/>
          <p:nvPr/>
        </p:nvSpPr>
        <p:spPr>
          <a:xfrm>
            <a:off x="556591" y="1298713"/>
            <a:ext cx="7765774" cy="707886"/>
          </a:xfrm>
          <a:prstGeom prst="rect">
            <a:avLst/>
          </a:prstGeom>
          <a:noFill/>
        </p:spPr>
        <p:txBody>
          <a:bodyPr wrap="square" rtlCol="0">
            <a:spAutoFit/>
          </a:bodyPr>
          <a:lstStyle/>
          <a:p>
            <a:r>
              <a:rPr lang="en-VN" sz="2000" dirty="0">
                <a:solidFill>
                  <a:srgbClr val="00B0F0"/>
                </a:solidFill>
                <a:latin typeface="Lato" panose="020F0502020204030203" pitchFamily="34" charset="0"/>
                <a:ea typeface="Lato" panose="020F0502020204030203" pitchFamily="34" charset="0"/>
                <a:cs typeface="Lato" panose="020F0502020204030203" pitchFamily="34" charset="0"/>
              </a:rPr>
              <a:t>X</a:t>
            </a:r>
            <a:r>
              <a:rPr lang="en-VN" sz="2000" dirty="0">
                <a:latin typeface="Lato" panose="020F0502020204030203" pitchFamily="34" charset="0"/>
                <a:ea typeface="Lato" panose="020F0502020204030203" pitchFamily="34" charset="0"/>
                <a:cs typeface="Lato" panose="020F0502020204030203" pitchFamily="34" charset="0"/>
              </a:rPr>
              <a:t> </a:t>
            </a:r>
            <a:r>
              <a:rPr lang="en-VN" sz="2000" dirty="0">
                <a:solidFill>
                  <a:srgbClr val="FF0000"/>
                </a:solidFill>
                <a:latin typeface="Lato" panose="020F0502020204030203" pitchFamily="34" charset="0"/>
                <a:ea typeface="Lato" panose="020F0502020204030203" pitchFamily="34" charset="0"/>
                <a:cs typeface="Lato" panose="020F0502020204030203" pitchFamily="34" charset="0"/>
              </a:rPr>
              <a:t>màu đỏ hoặc nút gốc: </a:t>
            </a:r>
            <a:r>
              <a:rPr lang="en-VN" sz="2000" dirty="0">
                <a:latin typeface="Lato" panose="020F0502020204030203" pitchFamily="34" charset="0"/>
                <a:ea typeface="Lato" panose="020F0502020204030203" pitchFamily="34" charset="0"/>
                <a:cs typeface="Lato" panose="020F0502020204030203" pitchFamily="34" charset="0"/>
              </a:rPr>
              <a:t>Việc xoá node X sẽ không ảnh hưởng đến đặc điểm và tính chất của cây đỏ đen nên không cần điều chỉnh.</a:t>
            </a:r>
            <a:endParaRPr lang="en-VN" sz="2000" dirty="0">
              <a:solidFill>
                <a:srgbClr val="FF0000"/>
              </a:solidFill>
              <a:latin typeface="Lato" panose="020F0502020204030203" pitchFamily="34" charset="0"/>
              <a:ea typeface="Lato" panose="020F0502020204030203" pitchFamily="34" charset="0"/>
              <a:cs typeface="Lato" panose="020F0502020204030203" pitchFamily="34" charset="0"/>
            </a:endParaRPr>
          </a:p>
        </p:txBody>
      </p:sp>
      <p:sp>
        <p:nvSpPr>
          <p:cNvPr id="4" name="Oval 3">
            <a:extLst>
              <a:ext uri="{FF2B5EF4-FFF2-40B4-BE49-F238E27FC236}">
                <a16:creationId xmlns:a16="http://schemas.microsoft.com/office/drawing/2014/main" id="{5715CE84-DC33-18F3-4D27-74747E7703B1}"/>
              </a:ext>
            </a:extLst>
          </p:cNvPr>
          <p:cNvSpPr/>
          <p:nvPr/>
        </p:nvSpPr>
        <p:spPr>
          <a:xfrm>
            <a:off x="1849597" y="3342881"/>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P</a:t>
            </a:r>
          </a:p>
        </p:txBody>
      </p:sp>
      <p:sp>
        <p:nvSpPr>
          <p:cNvPr id="7" name="Triangle 6">
            <a:extLst>
              <a:ext uri="{FF2B5EF4-FFF2-40B4-BE49-F238E27FC236}">
                <a16:creationId xmlns:a16="http://schemas.microsoft.com/office/drawing/2014/main" id="{DFBFEB47-9322-8985-B7D2-82D205DFDC65}"/>
              </a:ext>
            </a:extLst>
          </p:cNvPr>
          <p:cNvSpPr/>
          <p:nvPr/>
        </p:nvSpPr>
        <p:spPr>
          <a:xfrm>
            <a:off x="2438450" y="3976733"/>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R2</a:t>
            </a:r>
          </a:p>
        </p:txBody>
      </p:sp>
      <p:sp>
        <p:nvSpPr>
          <p:cNvPr id="8" name="Triangle 7">
            <a:extLst>
              <a:ext uri="{FF2B5EF4-FFF2-40B4-BE49-F238E27FC236}">
                <a16:creationId xmlns:a16="http://schemas.microsoft.com/office/drawing/2014/main" id="{41688C17-9F20-BAA4-62DC-7CC06B9AA881}"/>
              </a:ext>
            </a:extLst>
          </p:cNvPr>
          <p:cNvSpPr/>
          <p:nvPr/>
        </p:nvSpPr>
        <p:spPr>
          <a:xfrm>
            <a:off x="1682895" y="3976733"/>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R1</a:t>
            </a:r>
          </a:p>
        </p:txBody>
      </p:sp>
      <p:cxnSp>
        <p:nvCxnSpPr>
          <p:cNvPr id="9" name="Straight Arrow Connector 8">
            <a:extLst>
              <a:ext uri="{FF2B5EF4-FFF2-40B4-BE49-F238E27FC236}">
                <a16:creationId xmlns:a16="http://schemas.microsoft.com/office/drawing/2014/main" id="{A71ED173-8166-9387-6028-0E7F943BCACB}"/>
              </a:ext>
            </a:extLst>
          </p:cNvPr>
          <p:cNvCxnSpPr>
            <a:cxnSpLocks/>
            <a:stCxn id="13" idx="4"/>
            <a:endCxn id="14" idx="0"/>
          </p:cNvCxnSpPr>
          <p:nvPr/>
        </p:nvCxnSpPr>
        <p:spPr>
          <a:xfrm>
            <a:off x="2458766" y="3091623"/>
            <a:ext cx="290786"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B8080E0-5948-D7DD-1E2C-1DED1E796125}"/>
              </a:ext>
            </a:extLst>
          </p:cNvPr>
          <p:cNvCxnSpPr>
            <a:cxnSpLocks/>
            <a:stCxn id="13" idx="4"/>
            <a:endCxn id="4" idx="0"/>
          </p:cNvCxnSpPr>
          <p:nvPr/>
        </p:nvCxnSpPr>
        <p:spPr>
          <a:xfrm flipH="1">
            <a:off x="2074586" y="3091623"/>
            <a:ext cx="384180"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C7B27B3-0879-16AE-8848-B5316EFB7793}"/>
              </a:ext>
            </a:extLst>
          </p:cNvPr>
          <p:cNvCxnSpPr>
            <a:cxnSpLocks/>
            <a:stCxn id="4" idx="4"/>
          </p:cNvCxnSpPr>
          <p:nvPr/>
        </p:nvCxnSpPr>
        <p:spPr>
          <a:xfrm flipH="1">
            <a:off x="1287963" y="3742991"/>
            <a:ext cx="786623"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CE2F1EE-BC03-E8E8-2C35-D1435560B33F}"/>
              </a:ext>
            </a:extLst>
          </p:cNvPr>
          <p:cNvCxnSpPr>
            <a:cxnSpLocks/>
            <a:stCxn id="4" idx="4"/>
            <a:endCxn id="8" idx="0"/>
          </p:cNvCxnSpPr>
          <p:nvPr/>
        </p:nvCxnSpPr>
        <p:spPr>
          <a:xfrm flipH="1">
            <a:off x="2022484" y="3742991"/>
            <a:ext cx="52102"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FE9D6D8-378C-107C-16DF-073E43889829}"/>
              </a:ext>
            </a:extLst>
          </p:cNvPr>
          <p:cNvSpPr/>
          <p:nvPr/>
        </p:nvSpPr>
        <p:spPr>
          <a:xfrm>
            <a:off x="2233777" y="2691513"/>
            <a:ext cx="449977" cy="400110"/>
          </a:xfrm>
          <a:prstGeom prst="ellipse">
            <a:avLst/>
          </a:prstGeom>
          <a:solidFill>
            <a:srgbClr val="BC05B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G</a:t>
            </a:r>
          </a:p>
        </p:txBody>
      </p:sp>
      <p:sp>
        <p:nvSpPr>
          <p:cNvPr id="14" name="Oval 13">
            <a:extLst>
              <a:ext uri="{FF2B5EF4-FFF2-40B4-BE49-F238E27FC236}">
                <a16:creationId xmlns:a16="http://schemas.microsoft.com/office/drawing/2014/main" id="{C503F241-2804-2761-C971-4535A5725279}"/>
              </a:ext>
            </a:extLst>
          </p:cNvPr>
          <p:cNvSpPr/>
          <p:nvPr/>
        </p:nvSpPr>
        <p:spPr>
          <a:xfrm>
            <a:off x="2524563" y="3342881"/>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U</a:t>
            </a:r>
          </a:p>
        </p:txBody>
      </p:sp>
      <p:cxnSp>
        <p:nvCxnSpPr>
          <p:cNvPr id="15" name="Straight Arrow Connector 14">
            <a:extLst>
              <a:ext uri="{FF2B5EF4-FFF2-40B4-BE49-F238E27FC236}">
                <a16:creationId xmlns:a16="http://schemas.microsoft.com/office/drawing/2014/main" id="{14E3B391-7E73-B844-8981-CC8463133B14}"/>
              </a:ext>
            </a:extLst>
          </p:cNvPr>
          <p:cNvCxnSpPr>
            <a:cxnSpLocks/>
            <a:stCxn id="14" idx="4"/>
            <a:endCxn id="7" idx="0"/>
          </p:cNvCxnSpPr>
          <p:nvPr/>
        </p:nvCxnSpPr>
        <p:spPr>
          <a:xfrm>
            <a:off x="2749552" y="3742991"/>
            <a:ext cx="28487"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D6A8923-4A24-4108-E0BC-D5C8F32C899E}"/>
              </a:ext>
            </a:extLst>
          </p:cNvPr>
          <p:cNvCxnSpPr>
            <a:cxnSpLocks/>
            <a:stCxn id="14" idx="4"/>
          </p:cNvCxnSpPr>
          <p:nvPr/>
        </p:nvCxnSpPr>
        <p:spPr>
          <a:xfrm>
            <a:off x="2749552" y="3742991"/>
            <a:ext cx="784042"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riangle 16">
            <a:extLst>
              <a:ext uri="{FF2B5EF4-FFF2-40B4-BE49-F238E27FC236}">
                <a16:creationId xmlns:a16="http://schemas.microsoft.com/office/drawing/2014/main" id="{0D2D046E-DFCC-9D55-E826-77233144CDBD}"/>
              </a:ext>
            </a:extLst>
          </p:cNvPr>
          <p:cNvSpPr/>
          <p:nvPr/>
        </p:nvSpPr>
        <p:spPr>
          <a:xfrm>
            <a:off x="1176351" y="4817150"/>
            <a:ext cx="679178"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R4</a:t>
            </a:r>
          </a:p>
        </p:txBody>
      </p:sp>
      <p:sp>
        <p:nvSpPr>
          <p:cNvPr id="18" name="Triangle 17">
            <a:extLst>
              <a:ext uri="{FF2B5EF4-FFF2-40B4-BE49-F238E27FC236}">
                <a16:creationId xmlns:a16="http://schemas.microsoft.com/office/drawing/2014/main" id="{304BAE5D-D23A-0541-FB73-186F4CE00206}"/>
              </a:ext>
            </a:extLst>
          </p:cNvPr>
          <p:cNvSpPr/>
          <p:nvPr/>
        </p:nvSpPr>
        <p:spPr>
          <a:xfrm>
            <a:off x="3194005" y="3974151"/>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R3</a:t>
            </a:r>
          </a:p>
        </p:txBody>
      </p:sp>
      <p:cxnSp>
        <p:nvCxnSpPr>
          <p:cNvPr id="19" name="Straight Arrow Connector 18">
            <a:extLst>
              <a:ext uri="{FF2B5EF4-FFF2-40B4-BE49-F238E27FC236}">
                <a16:creationId xmlns:a16="http://schemas.microsoft.com/office/drawing/2014/main" id="{F47606C7-F412-217B-CDD3-A934C27E1B50}"/>
              </a:ext>
            </a:extLst>
          </p:cNvPr>
          <p:cNvCxnSpPr>
            <a:cxnSpLocks/>
          </p:cNvCxnSpPr>
          <p:nvPr/>
        </p:nvCxnSpPr>
        <p:spPr>
          <a:xfrm>
            <a:off x="1266372" y="4415733"/>
            <a:ext cx="219057" cy="4014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109EC248-73B4-E5B0-9492-C29F79ABCB1E}"/>
              </a:ext>
            </a:extLst>
          </p:cNvPr>
          <p:cNvCxnSpPr>
            <a:cxnSpLocks/>
            <a:endCxn id="13" idx="0"/>
          </p:cNvCxnSpPr>
          <p:nvPr/>
        </p:nvCxnSpPr>
        <p:spPr>
          <a:xfrm flipH="1">
            <a:off x="2458766" y="2304969"/>
            <a:ext cx="290785" cy="386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51545B3E-B213-0AD6-5990-CCC002BDFC7D}"/>
              </a:ext>
            </a:extLst>
          </p:cNvPr>
          <p:cNvSpPr/>
          <p:nvPr/>
        </p:nvSpPr>
        <p:spPr>
          <a:xfrm>
            <a:off x="1035452" y="4013070"/>
            <a:ext cx="449977"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X</a:t>
            </a:r>
          </a:p>
        </p:txBody>
      </p:sp>
      <p:pic>
        <p:nvPicPr>
          <p:cNvPr id="30" name="Graphic 29" descr="Add outline">
            <a:extLst>
              <a:ext uri="{FF2B5EF4-FFF2-40B4-BE49-F238E27FC236}">
                <a16:creationId xmlns:a16="http://schemas.microsoft.com/office/drawing/2014/main" id="{7CB3F2D3-9AD6-79F5-C79F-3CDFFB0145E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9753631">
            <a:off x="813869" y="3755925"/>
            <a:ext cx="914400" cy="914400"/>
          </a:xfrm>
          <a:prstGeom prst="rect">
            <a:avLst/>
          </a:prstGeom>
        </p:spPr>
      </p:pic>
      <p:sp>
        <p:nvSpPr>
          <p:cNvPr id="31" name="Oval 30">
            <a:extLst>
              <a:ext uri="{FF2B5EF4-FFF2-40B4-BE49-F238E27FC236}">
                <a16:creationId xmlns:a16="http://schemas.microsoft.com/office/drawing/2014/main" id="{3B3EF7A1-6E8E-1B4B-968A-B60E299057C6}"/>
              </a:ext>
            </a:extLst>
          </p:cNvPr>
          <p:cNvSpPr/>
          <p:nvPr/>
        </p:nvSpPr>
        <p:spPr>
          <a:xfrm>
            <a:off x="5990474" y="3342881"/>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P</a:t>
            </a:r>
          </a:p>
        </p:txBody>
      </p:sp>
      <p:sp>
        <p:nvSpPr>
          <p:cNvPr id="32" name="Triangle 31">
            <a:extLst>
              <a:ext uri="{FF2B5EF4-FFF2-40B4-BE49-F238E27FC236}">
                <a16:creationId xmlns:a16="http://schemas.microsoft.com/office/drawing/2014/main" id="{88BA91AE-6D41-9C3E-F3B1-248E19220F4F}"/>
              </a:ext>
            </a:extLst>
          </p:cNvPr>
          <p:cNvSpPr/>
          <p:nvPr/>
        </p:nvSpPr>
        <p:spPr>
          <a:xfrm>
            <a:off x="6579327" y="3976733"/>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R2</a:t>
            </a:r>
          </a:p>
        </p:txBody>
      </p:sp>
      <p:sp>
        <p:nvSpPr>
          <p:cNvPr id="33" name="Triangle 32">
            <a:extLst>
              <a:ext uri="{FF2B5EF4-FFF2-40B4-BE49-F238E27FC236}">
                <a16:creationId xmlns:a16="http://schemas.microsoft.com/office/drawing/2014/main" id="{8EBC35E2-FCE2-3112-3144-B0E0CD6267D2}"/>
              </a:ext>
            </a:extLst>
          </p:cNvPr>
          <p:cNvSpPr/>
          <p:nvPr/>
        </p:nvSpPr>
        <p:spPr>
          <a:xfrm>
            <a:off x="5823772" y="3976733"/>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R1</a:t>
            </a:r>
          </a:p>
        </p:txBody>
      </p:sp>
      <p:cxnSp>
        <p:nvCxnSpPr>
          <p:cNvPr id="34" name="Straight Arrow Connector 33">
            <a:extLst>
              <a:ext uri="{FF2B5EF4-FFF2-40B4-BE49-F238E27FC236}">
                <a16:creationId xmlns:a16="http://schemas.microsoft.com/office/drawing/2014/main" id="{3F45B8B1-28AB-06C5-7C4A-C864A8897ED6}"/>
              </a:ext>
            </a:extLst>
          </p:cNvPr>
          <p:cNvCxnSpPr>
            <a:cxnSpLocks/>
            <a:stCxn id="38" idx="4"/>
            <a:endCxn id="39" idx="0"/>
          </p:cNvCxnSpPr>
          <p:nvPr/>
        </p:nvCxnSpPr>
        <p:spPr>
          <a:xfrm>
            <a:off x="6599643" y="3091623"/>
            <a:ext cx="290786"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BE8F001-E452-7E4C-44CE-D89385A11703}"/>
              </a:ext>
            </a:extLst>
          </p:cNvPr>
          <p:cNvCxnSpPr>
            <a:cxnSpLocks/>
            <a:stCxn id="38" idx="4"/>
            <a:endCxn id="31" idx="0"/>
          </p:cNvCxnSpPr>
          <p:nvPr/>
        </p:nvCxnSpPr>
        <p:spPr>
          <a:xfrm flipH="1">
            <a:off x="6215463" y="3091623"/>
            <a:ext cx="384180"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0C80445-FC81-94D8-31A0-A582D532BA99}"/>
              </a:ext>
            </a:extLst>
          </p:cNvPr>
          <p:cNvCxnSpPr>
            <a:cxnSpLocks/>
            <a:stCxn id="31" idx="4"/>
          </p:cNvCxnSpPr>
          <p:nvPr/>
        </p:nvCxnSpPr>
        <p:spPr>
          <a:xfrm flipH="1">
            <a:off x="5428840" y="3742991"/>
            <a:ext cx="786623"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1FC402C1-885D-5EDB-3E1D-E4665CCB5BCB}"/>
              </a:ext>
            </a:extLst>
          </p:cNvPr>
          <p:cNvCxnSpPr>
            <a:cxnSpLocks/>
            <a:stCxn id="31" idx="4"/>
            <a:endCxn id="33" idx="0"/>
          </p:cNvCxnSpPr>
          <p:nvPr/>
        </p:nvCxnSpPr>
        <p:spPr>
          <a:xfrm flipH="1">
            <a:off x="6163361" y="3742991"/>
            <a:ext cx="52102"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B3DF6658-ECFC-7F36-8194-986A92E4689E}"/>
              </a:ext>
            </a:extLst>
          </p:cNvPr>
          <p:cNvSpPr/>
          <p:nvPr/>
        </p:nvSpPr>
        <p:spPr>
          <a:xfrm>
            <a:off x="6374654" y="2691513"/>
            <a:ext cx="449977" cy="400110"/>
          </a:xfrm>
          <a:prstGeom prst="ellipse">
            <a:avLst/>
          </a:prstGeom>
          <a:solidFill>
            <a:srgbClr val="BC05B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G</a:t>
            </a:r>
          </a:p>
        </p:txBody>
      </p:sp>
      <p:sp>
        <p:nvSpPr>
          <p:cNvPr id="39" name="Oval 38">
            <a:extLst>
              <a:ext uri="{FF2B5EF4-FFF2-40B4-BE49-F238E27FC236}">
                <a16:creationId xmlns:a16="http://schemas.microsoft.com/office/drawing/2014/main" id="{F1C7AABD-B490-1DD8-339C-4D3134531392}"/>
              </a:ext>
            </a:extLst>
          </p:cNvPr>
          <p:cNvSpPr/>
          <p:nvPr/>
        </p:nvSpPr>
        <p:spPr>
          <a:xfrm>
            <a:off x="6665440" y="3342881"/>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U</a:t>
            </a:r>
          </a:p>
        </p:txBody>
      </p:sp>
      <p:cxnSp>
        <p:nvCxnSpPr>
          <p:cNvPr id="40" name="Straight Arrow Connector 39">
            <a:extLst>
              <a:ext uri="{FF2B5EF4-FFF2-40B4-BE49-F238E27FC236}">
                <a16:creationId xmlns:a16="http://schemas.microsoft.com/office/drawing/2014/main" id="{488822D0-8821-7139-DB13-422B9B790AEB}"/>
              </a:ext>
            </a:extLst>
          </p:cNvPr>
          <p:cNvCxnSpPr>
            <a:cxnSpLocks/>
            <a:stCxn id="39" idx="4"/>
            <a:endCxn id="32" idx="0"/>
          </p:cNvCxnSpPr>
          <p:nvPr/>
        </p:nvCxnSpPr>
        <p:spPr>
          <a:xfrm>
            <a:off x="6890429" y="3742991"/>
            <a:ext cx="28487"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5438347E-4F86-4911-2149-A67789058F14}"/>
              </a:ext>
            </a:extLst>
          </p:cNvPr>
          <p:cNvCxnSpPr>
            <a:cxnSpLocks/>
            <a:stCxn id="39" idx="4"/>
          </p:cNvCxnSpPr>
          <p:nvPr/>
        </p:nvCxnSpPr>
        <p:spPr>
          <a:xfrm>
            <a:off x="6890429" y="3742991"/>
            <a:ext cx="784042"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Triangle 41">
            <a:extLst>
              <a:ext uri="{FF2B5EF4-FFF2-40B4-BE49-F238E27FC236}">
                <a16:creationId xmlns:a16="http://schemas.microsoft.com/office/drawing/2014/main" id="{4C253AE5-810B-85B4-E62F-0BADC77AC0B5}"/>
              </a:ext>
            </a:extLst>
          </p:cNvPr>
          <p:cNvSpPr/>
          <p:nvPr/>
        </p:nvSpPr>
        <p:spPr>
          <a:xfrm>
            <a:off x="5068217" y="3974151"/>
            <a:ext cx="679178"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R4</a:t>
            </a:r>
          </a:p>
        </p:txBody>
      </p:sp>
      <p:sp>
        <p:nvSpPr>
          <p:cNvPr id="43" name="Triangle 42">
            <a:extLst>
              <a:ext uri="{FF2B5EF4-FFF2-40B4-BE49-F238E27FC236}">
                <a16:creationId xmlns:a16="http://schemas.microsoft.com/office/drawing/2014/main" id="{E714B5C2-E599-68E8-198E-C05AF7A5D381}"/>
              </a:ext>
            </a:extLst>
          </p:cNvPr>
          <p:cNvSpPr/>
          <p:nvPr/>
        </p:nvSpPr>
        <p:spPr>
          <a:xfrm>
            <a:off x="7334882" y="3974151"/>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R3</a:t>
            </a:r>
          </a:p>
        </p:txBody>
      </p:sp>
      <p:cxnSp>
        <p:nvCxnSpPr>
          <p:cNvPr id="45" name="Straight Arrow Connector 44">
            <a:extLst>
              <a:ext uri="{FF2B5EF4-FFF2-40B4-BE49-F238E27FC236}">
                <a16:creationId xmlns:a16="http://schemas.microsoft.com/office/drawing/2014/main" id="{DBFB526A-D207-697C-D087-4AF0C9ED8FF3}"/>
              </a:ext>
            </a:extLst>
          </p:cNvPr>
          <p:cNvCxnSpPr>
            <a:cxnSpLocks/>
            <a:endCxn id="38" idx="0"/>
          </p:cNvCxnSpPr>
          <p:nvPr/>
        </p:nvCxnSpPr>
        <p:spPr>
          <a:xfrm flipH="1">
            <a:off x="6599643" y="2304969"/>
            <a:ext cx="290785" cy="386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Right Arrow 47">
            <a:extLst>
              <a:ext uri="{FF2B5EF4-FFF2-40B4-BE49-F238E27FC236}">
                <a16:creationId xmlns:a16="http://schemas.microsoft.com/office/drawing/2014/main" id="{AE310479-EA5E-9D48-7DA4-475CBE2B6D8F}"/>
              </a:ext>
            </a:extLst>
          </p:cNvPr>
          <p:cNvSpPr/>
          <p:nvPr/>
        </p:nvSpPr>
        <p:spPr>
          <a:xfrm>
            <a:off x="3941766" y="3362446"/>
            <a:ext cx="995423" cy="2434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1760618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6"/>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3"/>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13" grpId="0" animBg="1"/>
      <p:bldP spid="14" grpId="0" animBg="1"/>
      <p:bldP spid="17" grpId="0" animBg="1"/>
      <p:bldP spid="18" grpId="0" animBg="1"/>
      <p:bldP spid="22" grpId="0" animBg="1"/>
      <p:bldP spid="31" grpId="0" animBg="1"/>
      <p:bldP spid="32" grpId="0" animBg="1"/>
      <p:bldP spid="33" grpId="0" animBg="1"/>
      <p:bldP spid="38" grpId="0" animBg="1"/>
      <p:bldP spid="39" grpId="0" animBg="1"/>
      <p:bldP spid="42" grpId="0" animBg="1"/>
      <p:bldP spid="43" grpId="0" animBg="1"/>
      <p:bldP spid="4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34</a:t>
            </a:fld>
            <a:endParaRPr lang="en-US" dirty="0"/>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lang="en-US" dirty="0"/>
              <a:t>THAO TÁC CƠ BẢN</a:t>
            </a:r>
          </a:p>
        </p:txBody>
      </p:sp>
      <p:sp>
        <p:nvSpPr>
          <p:cNvPr id="3" name="TextBox 2">
            <a:extLst>
              <a:ext uri="{FF2B5EF4-FFF2-40B4-BE49-F238E27FC236}">
                <a16:creationId xmlns:a16="http://schemas.microsoft.com/office/drawing/2014/main" id="{FB2A445E-0F6E-815C-D17A-9F0A8135FE1E}"/>
              </a:ext>
            </a:extLst>
          </p:cNvPr>
          <p:cNvSpPr txBox="1"/>
          <p:nvPr/>
        </p:nvSpPr>
        <p:spPr>
          <a:xfrm>
            <a:off x="682906" y="729204"/>
            <a:ext cx="4780634" cy="707886"/>
          </a:xfrm>
          <a:prstGeom prst="rect">
            <a:avLst/>
          </a:prstGeom>
          <a:noFill/>
        </p:spPr>
        <p:txBody>
          <a:bodyPr wrap="square" rtlCol="0">
            <a:spAutoFit/>
          </a:bodyPr>
          <a:lstStyle/>
          <a:p>
            <a:r>
              <a:rPr lang="en-VN" sz="2000" b="1" dirty="0">
                <a:solidFill>
                  <a:schemeClr val="accent1">
                    <a:lumMod val="50000"/>
                  </a:schemeClr>
                </a:solidFill>
                <a:latin typeface="Lato" panose="020F0502020204030203" pitchFamily="34" charset="0"/>
                <a:ea typeface="Lato" panose="020F0502020204030203" pitchFamily="34" charset="0"/>
                <a:cs typeface="Lato" panose="020F0502020204030203" pitchFamily="34" charset="0"/>
              </a:rPr>
              <a:t>3. Deletion (Xoá node)</a:t>
            </a:r>
          </a:p>
          <a:p>
            <a:endParaRPr lang="en-VN" sz="2000" b="1" dirty="0">
              <a:solidFill>
                <a:schemeClr val="accent1">
                  <a:lumMod val="50000"/>
                </a:schemeClr>
              </a:solidFill>
            </a:endParaRPr>
          </a:p>
        </p:txBody>
      </p:sp>
      <p:sp>
        <p:nvSpPr>
          <p:cNvPr id="6" name="TextBox 5">
            <a:extLst>
              <a:ext uri="{FF2B5EF4-FFF2-40B4-BE49-F238E27FC236}">
                <a16:creationId xmlns:a16="http://schemas.microsoft.com/office/drawing/2014/main" id="{B46CB544-8221-AFF8-A9FF-48716A4D89C0}"/>
              </a:ext>
            </a:extLst>
          </p:cNvPr>
          <p:cNvSpPr txBox="1"/>
          <p:nvPr/>
        </p:nvSpPr>
        <p:spPr>
          <a:xfrm>
            <a:off x="556591" y="1298713"/>
            <a:ext cx="7765774" cy="707886"/>
          </a:xfrm>
          <a:prstGeom prst="rect">
            <a:avLst/>
          </a:prstGeom>
          <a:noFill/>
        </p:spPr>
        <p:txBody>
          <a:bodyPr wrap="square" rtlCol="0">
            <a:spAutoFit/>
          </a:bodyPr>
          <a:lstStyle/>
          <a:p>
            <a:r>
              <a:rPr lang="en-VN" sz="2000" dirty="0">
                <a:solidFill>
                  <a:srgbClr val="00B0F0"/>
                </a:solidFill>
                <a:latin typeface="Lato" panose="020F0502020204030203" pitchFamily="34" charset="0"/>
                <a:ea typeface="Lato" panose="020F0502020204030203" pitchFamily="34" charset="0"/>
                <a:cs typeface="Lato" panose="020F0502020204030203" pitchFamily="34" charset="0"/>
              </a:rPr>
              <a:t>X</a:t>
            </a:r>
            <a:r>
              <a:rPr lang="en-VN" sz="2000" dirty="0">
                <a:latin typeface="Lato" panose="020F0502020204030203" pitchFamily="34" charset="0"/>
                <a:ea typeface="Lato" panose="020F0502020204030203" pitchFamily="34" charset="0"/>
                <a:cs typeface="Lato" panose="020F0502020204030203" pitchFamily="34" charset="0"/>
              </a:rPr>
              <a:t> </a:t>
            </a:r>
            <a:r>
              <a:rPr lang="en-VN" sz="2000" dirty="0">
                <a:solidFill>
                  <a:srgbClr val="00B0F0"/>
                </a:solidFill>
                <a:latin typeface="Lato" panose="020F0502020204030203" pitchFamily="34" charset="0"/>
                <a:ea typeface="Lato" panose="020F0502020204030203" pitchFamily="34" charset="0"/>
                <a:cs typeface="Lato" panose="020F0502020204030203" pitchFamily="34" charset="0"/>
              </a:rPr>
              <a:t>là</a:t>
            </a:r>
            <a:r>
              <a:rPr lang="en-VN" sz="2000" dirty="0">
                <a:latin typeface="Lato" panose="020F0502020204030203" pitchFamily="34" charset="0"/>
                <a:ea typeface="Lato" panose="020F0502020204030203" pitchFamily="34" charset="0"/>
                <a:cs typeface="Lato" panose="020F0502020204030203" pitchFamily="34" charset="0"/>
              </a:rPr>
              <a:t> node đen </a:t>
            </a:r>
            <a:r>
              <a:rPr lang="en-VN" sz="2000" dirty="0">
                <a:solidFill>
                  <a:srgbClr val="00B0F0"/>
                </a:solidFill>
                <a:latin typeface="Lato" panose="020F0502020204030203" pitchFamily="34" charset="0"/>
                <a:ea typeface="Lato" panose="020F0502020204030203" pitchFamily="34" charset="0"/>
                <a:cs typeface="Lato" panose="020F0502020204030203" pitchFamily="34" charset="0"/>
              </a:rPr>
              <a:t>và có 1 </a:t>
            </a:r>
            <a:r>
              <a:rPr lang="en-VN" sz="2000" dirty="0">
                <a:solidFill>
                  <a:srgbClr val="FF0000"/>
                </a:solidFill>
                <a:latin typeface="Lato" panose="020F0502020204030203" pitchFamily="34" charset="0"/>
                <a:ea typeface="Lato" panose="020F0502020204030203" pitchFamily="34" charset="0"/>
                <a:cs typeface="Lato" panose="020F0502020204030203" pitchFamily="34" charset="0"/>
              </a:rPr>
              <a:t>con là nút đỏ</a:t>
            </a:r>
            <a:r>
              <a:rPr lang="en-VN" sz="2000" dirty="0">
                <a:solidFill>
                  <a:srgbClr val="00B0F0"/>
                </a:solidFill>
                <a:latin typeface="Lato" panose="020F0502020204030203" pitchFamily="34" charset="0"/>
                <a:ea typeface="Lato" panose="020F0502020204030203" pitchFamily="34" charset="0"/>
                <a:cs typeface="Lato" panose="020F0502020204030203" pitchFamily="34" charset="0"/>
              </a:rPr>
              <a:t>: Điều chỉnh màu của node con của X</a:t>
            </a:r>
            <a:r>
              <a:rPr lang="en-VN" sz="2000" dirty="0">
                <a:latin typeface="Lato" panose="020F0502020204030203" pitchFamily="34" charset="0"/>
                <a:ea typeface="Lato" panose="020F0502020204030203" pitchFamily="34" charset="0"/>
                <a:cs typeface="Lato" panose="020F0502020204030203" pitchFamily="34" charset="0"/>
              </a:rPr>
              <a:t> </a:t>
            </a:r>
            <a:r>
              <a:rPr lang="en-VN" sz="2000" dirty="0">
                <a:solidFill>
                  <a:srgbClr val="00B0F0"/>
                </a:solidFill>
                <a:latin typeface="Lato" panose="020F0502020204030203" pitchFamily="34" charset="0"/>
                <a:ea typeface="Lato" panose="020F0502020204030203" pitchFamily="34" charset="0"/>
                <a:cs typeface="Lato" panose="020F0502020204030203" pitchFamily="34" charset="0"/>
              </a:rPr>
              <a:t>thành</a:t>
            </a:r>
            <a:r>
              <a:rPr lang="en-VN" sz="2000" dirty="0">
                <a:latin typeface="Lato" panose="020F0502020204030203" pitchFamily="34" charset="0"/>
                <a:ea typeface="Lato" panose="020F0502020204030203" pitchFamily="34" charset="0"/>
                <a:cs typeface="Lato" panose="020F0502020204030203" pitchFamily="34" charset="0"/>
              </a:rPr>
              <a:t> màu đen. </a:t>
            </a:r>
          </a:p>
        </p:txBody>
      </p:sp>
      <p:sp>
        <p:nvSpPr>
          <p:cNvPr id="4" name="Oval 3">
            <a:extLst>
              <a:ext uri="{FF2B5EF4-FFF2-40B4-BE49-F238E27FC236}">
                <a16:creationId xmlns:a16="http://schemas.microsoft.com/office/drawing/2014/main" id="{5715CE84-DC33-18F3-4D27-74747E7703B1}"/>
              </a:ext>
            </a:extLst>
          </p:cNvPr>
          <p:cNvSpPr/>
          <p:nvPr/>
        </p:nvSpPr>
        <p:spPr>
          <a:xfrm>
            <a:off x="1849597" y="3342881"/>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X</a:t>
            </a:r>
          </a:p>
        </p:txBody>
      </p:sp>
      <p:sp>
        <p:nvSpPr>
          <p:cNvPr id="7" name="Triangle 6">
            <a:extLst>
              <a:ext uri="{FF2B5EF4-FFF2-40B4-BE49-F238E27FC236}">
                <a16:creationId xmlns:a16="http://schemas.microsoft.com/office/drawing/2014/main" id="{DFBFEB47-9322-8985-B7D2-82D205DFDC65}"/>
              </a:ext>
            </a:extLst>
          </p:cNvPr>
          <p:cNvSpPr/>
          <p:nvPr/>
        </p:nvSpPr>
        <p:spPr>
          <a:xfrm>
            <a:off x="2438450" y="3976733"/>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R2</a:t>
            </a:r>
          </a:p>
        </p:txBody>
      </p:sp>
      <p:sp>
        <p:nvSpPr>
          <p:cNvPr id="8" name="Triangle 7">
            <a:extLst>
              <a:ext uri="{FF2B5EF4-FFF2-40B4-BE49-F238E27FC236}">
                <a16:creationId xmlns:a16="http://schemas.microsoft.com/office/drawing/2014/main" id="{41688C17-9F20-BAA4-62DC-7CC06B9AA881}"/>
              </a:ext>
            </a:extLst>
          </p:cNvPr>
          <p:cNvSpPr/>
          <p:nvPr/>
        </p:nvSpPr>
        <p:spPr>
          <a:xfrm>
            <a:off x="1682895" y="3976733"/>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R1</a:t>
            </a:r>
          </a:p>
        </p:txBody>
      </p:sp>
      <p:cxnSp>
        <p:nvCxnSpPr>
          <p:cNvPr id="9" name="Straight Arrow Connector 8">
            <a:extLst>
              <a:ext uri="{FF2B5EF4-FFF2-40B4-BE49-F238E27FC236}">
                <a16:creationId xmlns:a16="http://schemas.microsoft.com/office/drawing/2014/main" id="{A71ED173-8166-9387-6028-0E7F943BCACB}"/>
              </a:ext>
            </a:extLst>
          </p:cNvPr>
          <p:cNvCxnSpPr>
            <a:cxnSpLocks/>
            <a:stCxn id="13" idx="4"/>
            <a:endCxn id="14" idx="0"/>
          </p:cNvCxnSpPr>
          <p:nvPr/>
        </p:nvCxnSpPr>
        <p:spPr>
          <a:xfrm>
            <a:off x="2458766" y="3091623"/>
            <a:ext cx="290786"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B8080E0-5948-D7DD-1E2C-1DED1E796125}"/>
              </a:ext>
            </a:extLst>
          </p:cNvPr>
          <p:cNvCxnSpPr>
            <a:cxnSpLocks/>
            <a:stCxn id="13" idx="4"/>
            <a:endCxn id="4" idx="0"/>
          </p:cNvCxnSpPr>
          <p:nvPr/>
        </p:nvCxnSpPr>
        <p:spPr>
          <a:xfrm flipH="1">
            <a:off x="2074586" y="3091623"/>
            <a:ext cx="384180"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C7B27B3-0879-16AE-8848-B5316EFB7793}"/>
              </a:ext>
            </a:extLst>
          </p:cNvPr>
          <p:cNvCxnSpPr>
            <a:cxnSpLocks/>
            <a:stCxn id="4" idx="4"/>
          </p:cNvCxnSpPr>
          <p:nvPr/>
        </p:nvCxnSpPr>
        <p:spPr>
          <a:xfrm flipH="1">
            <a:off x="1287963" y="3742991"/>
            <a:ext cx="786623"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CE2F1EE-BC03-E8E8-2C35-D1435560B33F}"/>
              </a:ext>
            </a:extLst>
          </p:cNvPr>
          <p:cNvCxnSpPr>
            <a:cxnSpLocks/>
            <a:stCxn id="4" idx="4"/>
            <a:endCxn id="8" idx="0"/>
          </p:cNvCxnSpPr>
          <p:nvPr/>
        </p:nvCxnSpPr>
        <p:spPr>
          <a:xfrm flipH="1">
            <a:off x="2022484" y="3742991"/>
            <a:ext cx="52102"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FE9D6D8-378C-107C-16DF-073E43889829}"/>
              </a:ext>
            </a:extLst>
          </p:cNvPr>
          <p:cNvSpPr/>
          <p:nvPr/>
        </p:nvSpPr>
        <p:spPr>
          <a:xfrm>
            <a:off x="2233777" y="2691513"/>
            <a:ext cx="449977" cy="400110"/>
          </a:xfrm>
          <a:prstGeom prst="ellipse">
            <a:avLst/>
          </a:prstGeom>
          <a:solidFill>
            <a:srgbClr val="BC05B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P</a:t>
            </a:r>
          </a:p>
        </p:txBody>
      </p:sp>
      <p:sp>
        <p:nvSpPr>
          <p:cNvPr id="14" name="Oval 13">
            <a:extLst>
              <a:ext uri="{FF2B5EF4-FFF2-40B4-BE49-F238E27FC236}">
                <a16:creationId xmlns:a16="http://schemas.microsoft.com/office/drawing/2014/main" id="{C503F241-2804-2761-C971-4535A5725279}"/>
              </a:ext>
            </a:extLst>
          </p:cNvPr>
          <p:cNvSpPr/>
          <p:nvPr/>
        </p:nvSpPr>
        <p:spPr>
          <a:xfrm>
            <a:off x="2524563" y="3342881"/>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S</a:t>
            </a:r>
          </a:p>
        </p:txBody>
      </p:sp>
      <p:cxnSp>
        <p:nvCxnSpPr>
          <p:cNvPr id="15" name="Straight Arrow Connector 14">
            <a:extLst>
              <a:ext uri="{FF2B5EF4-FFF2-40B4-BE49-F238E27FC236}">
                <a16:creationId xmlns:a16="http://schemas.microsoft.com/office/drawing/2014/main" id="{14E3B391-7E73-B844-8981-CC8463133B14}"/>
              </a:ext>
            </a:extLst>
          </p:cNvPr>
          <p:cNvCxnSpPr>
            <a:cxnSpLocks/>
            <a:stCxn id="14" idx="4"/>
            <a:endCxn id="7" idx="0"/>
          </p:cNvCxnSpPr>
          <p:nvPr/>
        </p:nvCxnSpPr>
        <p:spPr>
          <a:xfrm>
            <a:off x="2749552" y="3742991"/>
            <a:ext cx="28487"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D6A8923-4A24-4108-E0BC-D5C8F32C899E}"/>
              </a:ext>
            </a:extLst>
          </p:cNvPr>
          <p:cNvCxnSpPr>
            <a:cxnSpLocks/>
            <a:stCxn id="14" idx="4"/>
          </p:cNvCxnSpPr>
          <p:nvPr/>
        </p:nvCxnSpPr>
        <p:spPr>
          <a:xfrm>
            <a:off x="2749552" y="3742991"/>
            <a:ext cx="784042"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riangle 16">
            <a:extLst>
              <a:ext uri="{FF2B5EF4-FFF2-40B4-BE49-F238E27FC236}">
                <a16:creationId xmlns:a16="http://schemas.microsoft.com/office/drawing/2014/main" id="{0D2D046E-DFCC-9D55-E826-77233144CDBD}"/>
              </a:ext>
            </a:extLst>
          </p:cNvPr>
          <p:cNvSpPr/>
          <p:nvPr/>
        </p:nvSpPr>
        <p:spPr>
          <a:xfrm>
            <a:off x="1176351" y="4817150"/>
            <a:ext cx="679178"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R4</a:t>
            </a:r>
          </a:p>
        </p:txBody>
      </p:sp>
      <p:sp>
        <p:nvSpPr>
          <p:cNvPr id="18" name="Triangle 17">
            <a:extLst>
              <a:ext uri="{FF2B5EF4-FFF2-40B4-BE49-F238E27FC236}">
                <a16:creationId xmlns:a16="http://schemas.microsoft.com/office/drawing/2014/main" id="{304BAE5D-D23A-0541-FB73-186F4CE00206}"/>
              </a:ext>
            </a:extLst>
          </p:cNvPr>
          <p:cNvSpPr/>
          <p:nvPr/>
        </p:nvSpPr>
        <p:spPr>
          <a:xfrm>
            <a:off x="3194005" y="3974151"/>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R3</a:t>
            </a:r>
          </a:p>
        </p:txBody>
      </p:sp>
      <p:cxnSp>
        <p:nvCxnSpPr>
          <p:cNvPr id="19" name="Straight Arrow Connector 18">
            <a:extLst>
              <a:ext uri="{FF2B5EF4-FFF2-40B4-BE49-F238E27FC236}">
                <a16:creationId xmlns:a16="http://schemas.microsoft.com/office/drawing/2014/main" id="{F47606C7-F412-217B-CDD3-A934C27E1B50}"/>
              </a:ext>
            </a:extLst>
          </p:cNvPr>
          <p:cNvCxnSpPr>
            <a:cxnSpLocks/>
          </p:cNvCxnSpPr>
          <p:nvPr/>
        </p:nvCxnSpPr>
        <p:spPr>
          <a:xfrm>
            <a:off x="1266372" y="4415733"/>
            <a:ext cx="219057" cy="4014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109EC248-73B4-E5B0-9492-C29F79ABCB1E}"/>
              </a:ext>
            </a:extLst>
          </p:cNvPr>
          <p:cNvCxnSpPr>
            <a:cxnSpLocks/>
            <a:endCxn id="13" idx="0"/>
          </p:cNvCxnSpPr>
          <p:nvPr/>
        </p:nvCxnSpPr>
        <p:spPr>
          <a:xfrm flipH="1">
            <a:off x="2458766" y="2304969"/>
            <a:ext cx="290785" cy="386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51545B3E-B213-0AD6-5990-CCC002BDFC7D}"/>
              </a:ext>
            </a:extLst>
          </p:cNvPr>
          <p:cNvSpPr/>
          <p:nvPr/>
        </p:nvSpPr>
        <p:spPr>
          <a:xfrm>
            <a:off x="1035452" y="4013070"/>
            <a:ext cx="449977"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Y</a:t>
            </a:r>
          </a:p>
        </p:txBody>
      </p:sp>
      <p:sp>
        <p:nvSpPr>
          <p:cNvPr id="31" name="Oval 30">
            <a:extLst>
              <a:ext uri="{FF2B5EF4-FFF2-40B4-BE49-F238E27FC236}">
                <a16:creationId xmlns:a16="http://schemas.microsoft.com/office/drawing/2014/main" id="{3B3EF7A1-6E8E-1B4B-968A-B60E299057C6}"/>
              </a:ext>
            </a:extLst>
          </p:cNvPr>
          <p:cNvSpPr/>
          <p:nvPr/>
        </p:nvSpPr>
        <p:spPr>
          <a:xfrm>
            <a:off x="5990474" y="3342881"/>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Y</a:t>
            </a:r>
          </a:p>
        </p:txBody>
      </p:sp>
      <p:sp>
        <p:nvSpPr>
          <p:cNvPr id="32" name="Triangle 31">
            <a:extLst>
              <a:ext uri="{FF2B5EF4-FFF2-40B4-BE49-F238E27FC236}">
                <a16:creationId xmlns:a16="http://schemas.microsoft.com/office/drawing/2014/main" id="{88BA91AE-6D41-9C3E-F3B1-248E19220F4F}"/>
              </a:ext>
            </a:extLst>
          </p:cNvPr>
          <p:cNvSpPr/>
          <p:nvPr/>
        </p:nvSpPr>
        <p:spPr>
          <a:xfrm>
            <a:off x="6579327" y="3976733"/>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R2</a:t>
            </a:r>
          </a:p>
        </p:txBody>
      </p:sp>
      <p:sp>
        <p:nvSpPr>
          <p:cNvPr id="33" name="Triangle 32">
            <a:extLst>
              <a:ext uri="{FF2B5EF4-FFF2-40B4-BE49-F238E27FC236}">
                <a16:creationId xmlns:a16="http://schemas.microsoft.com/office/drawing/2014/main" id="{8EBC35E2-FCE2-3112-3144-B0E0CD6267D2}"/>
              </a:ext>
            </a:extLst>
          </p:cNvPr>
          <p:cNvSpPr/>
          <p:nvPr/>
        </p:nvSpPr>
        <p:spPr>
          <a:xfrm>
            <a:off x="5823772" y="3976733"/>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R1</a:t>
            </a:r>
          </a:p>
        </p:txBody>
      </p:sp>
      <p:cxnSp>
        <p:nvCxnSpPr>
          <p:cNvPr id="34" name="Straight Arrow Connector 33">
            <a:extLst>
              <a:ext uri="{FF2B5EF4-FFF2-40B4-BE49-F238E27FC236}">
                <a16:creationId xmlns:a16="http://schemas.microsoft.com/office/drawing/2014/main" id="{3F45B8B1-28AB-06C5-7C4A-C864A8897ED6}"/>
              </a:ext>
            </a:extLst>
          </p:cNvPr>
          <p:cNvCxnSpPr>
            <a:cxnSpLocks/>
            <a:stCxn id="38" idx="4"/>
            <a:endCxn id="39" idx="0"/>
          </p:cNvCxnSpPr>
          <p:nvPr/>
        </p:nvCxnSpPr>
        <p:spPr>
          <a:xfrm>
            <a:off x="6599643" y="3091623"/>
            <a:ext cx="290786"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BE8F001-E452-7E4C-44CE-D89385A11703}"/>
              </a:ext>
            </a:extLst>
          </p:cNvPr>
          <p:cNvCxnSpPr>
            <a:cxnSpLocks/>
            <a:stCxn id="38" idx="4"/>
            <a:endCxn id="31" idx="0"/>
          </p:cNvCxnSpPr>
          <p:nvPr/>
        </p:nvCxnSpPr>
        <p:spPr>
          <a:xfrm flipH="1">
            <a:off x="6215463" y="3091623"/>
            <a:ext cx="384180"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0C80445-FC81-94D8-31A0-A582D532BA99}"/>
              </a:ext>
            </a:extLst>
          </p:cNvPr>
          <p:cNvCxnSpPr>
            <a:cxnSpLocks/>
            <a:stCxn id="31" idx="4"/>
          </p:cNvCxnSpPr>
          <p:nvPr/>
        </p:nvCxnSpPr>
        <p:spPr>
          <a:xfrm flipH="1">
            <a:off x="5428840" y="3742991"/>
            <a:ext cx="786623"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1FC402C1-885D-5EDB-3E1D-E4665CCB5BCB}"/>
              </a:ext>
            </a:extLst>
          </p:cNvPr>
          <p:cNvCxnSpPr>
            <a:cxnSpLocks/>
            <a:stCxn id="31" idx="4"/>
            <a:endCxn id="33" idx="0"/>
          </p:cNvCxnSpPr>
          <p:nvPr/>
        </p:nvCxnSpPr>
        <p:spPr>
          <a:xfrm flipH="1">
            <a:off x="6163361" y="3742991"/>
            <a:ext cx="52102"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B3DF6658-ECFC-7F36-8194-986A92E4689E}"/>
              </a:ext>
            </a:extLst>
          </p:cNvPr>
          <p:cNvSpPr/>
          <p:nvPr/>
        </p:nvSpPr>
        <p:spPr>
          <a:xfrm>
            <a:off x="6374654" y="2691513"/>
            <a:ext cx="449977" cy="400110"/>
          </a:xfrm>
          <a:prstGeom prst="ellipse">
            <a:avLst/>
          </a:prstGeom>
          <a:solidFill>
            <a:srgbClr val="BC05B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P</a:t>
            </a:r>
          </a:p>
        </p:txBody>
      </p:sp>
      <p:sp>
        <p:nvSpPr>
          <p:cNvPr id="39" name="Oval 38">
            <a:extLst>
              <a:ext uri="{FF2B5EF4-FFF2-40B4-BE49-F238E27FC236}">
                <a16:creationId xmlns:a16="http://schemas.microsoft.com/office/drawing/2014/main" id="{F1C7AABD-B490-1DD8-339C-4D3134531392}"/>
              </a:ext>
            </a:extLst>
          </p:cNvPr>
          <p:cNvSpPr/>
          <p:nvPr/>
        </p:nvSpPr>
        <p:spPr>
          <a:xfrm>
            <a:off x="6665440" y="3342881"/>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S</a:t>
            </a:r>
          </a:p>
        </p:txBody>
      </p:sp>
      <p:cxnSp>
        <p:nvCxnSpPr>
          <p:cNvPr id="40" name="Straight Arrow Connector 39">
            <a:extLst>
              <a:ext uri="{FF2B5EF4-FFF2-40B4-BE49-F238E27FC236}">
                <a16:creationId xmlns:a16="http://schemas.microsoft.com/office/drawing/2014/main" id="{488822D0-8821-7139-DB13-422B9B790AEB}"/>
              </a:ext>
            </a:extLst>
          </p:cNvPr>
          <p:cNvCxnSpPr>
            <a:cxnSpLocks/>
            <a:stCxn id="39" idx="4"/>
            <a:endCxn id="32" idx="0"/>
          </p:cNvCxnSpPr>
          <p:nvPr/>
        </p:nvCxnSpPr>
        <p:spPr>
          <a:xfrm>
            <a:off x="6890429" y="3742991"/>
            <a:ext cx="28487"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5438347E-4F86-4911-2149-A67789058F14}"/>
              </a:ext>
            </a:extLst>
          </p:cNvPr>
          <p:cNvCxnSpPr>
            <a:cxnSpLocks/>
            <a:stCxn id="39" idx="4"/>
          </p:cNvCxnSpPr>
          <p:nvPr/>
        </p:nvCxnSpPr>
        <p:spPr>
          <a:xfrm>
            <a:off x="6890429" y="3742991"/>
            <a:ext cx="784042"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Triangle 41">
            <a:extLst>
              <a:ext uri="{FF2B5EF4-FFF2-40B4-BE49-F238E27FC236}">
                <a16:creationId xmlns:a16="http://schemas.microsoft.com/office/drawing/2014/main" id="{4C253AE5-810B-85B4-E62F-0BADC77AC0B5}"/>
              </a:ext>
            </a:extLst>
          </p:cNvPr>
          <p:cNvSpPr/>
          <p:nvPr/>
        </p:nvSpPr>
        <p:spPr>
          <a:xfrm>
            <a:off x="5068217" y="3974151"/>
            <a:ext cx="679178"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R4</a:t>
            </a:r>
          </a:p>
        </p:txBody>
      </p:sp>
      <p:sp>
        <p:nvSpPr>
          <p:cNvPr id="43" name="Triangle 42">
            <a:extLst>
              <a:ext uri="{FF2B5EF4-FFF2-40B4-BE49-F238E27FC236}">
                <a16:creationId xmlns:a16="http://schemas.microsoft.com/office/drawing/2014/main" id="{E714B5C2-E599-68E8-198E-C05AF7A5D381}"/>
              </a:ext>
            </a:extLst>
          </p:cNvPr>
          <p:cNvSpPr/>
          <p:nvPr/>
        </p:nvSpPr>
        <p:spPr>
          <a:xfrm>
            <a:off x="7334882" y="3974151"/>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R3</a:t>
            </a:r>
          </a:p>
        </p:txBody>
      </p:sp>
      <p:cxnSp>
        <p:nvCxnSpPr>
          <p:cNvPr id="45" name="Straight Arrow Connector 44">
            <a:extLst>
              <a:ext uri="{FF2B5EF4-FFF2-40B4-BE49-F238E27FC236}">
                <a16:creationId xmlns:a16="http://schemas.microsoft.com/office/drawing/2014/main" id="{DBFB526A-D207-697C-D087-4AF0C9ED8FF3}"/>
              </a:ext>
            </a:extLst>
          </p:cNvPr>
          <p:cNvCxnSpPr>
            <a:cxnSpLocks/>
            <a:endCxn id="38" idx="0"/>
          </p:cNvCxnSpPr>
          <p:nvPr/>
        </p:nvCxnSpPr>
        <p:spPr>
          <a:xfrm flipH="1">
            <a:off x="6599643" y="2304969"/>
            <a:ext cx="290785" cy="386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0" name="Graphic 19" descr="Add outline">
            <a:extLst>
              <a:ext uri="{FF2B5EF4-FFF2-40B4-BE49-F238E27FC236}">
                <a16:creationId xmlns:a16="http://schemas.microsoft.com/office/drawing/2014/main" id="{B46D76AC-6DF1-EF3D-868E-119FE159B82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9753631">
            <a:off x="1613485" y="3061115"/>
            <a:ext cx="914400" cy="914400"/>
          </a:xfrm>
          <a:prstGeom prst="rect">
            <a:avLst/>
          </a:prstGeom>
        </p:spPr>
      </p:pic>
      <p:sp>
        <p:nvSpPr>
          <p:cNvPr id="24" name="Right Arrow 23">
            <a:extLst>
              <a:ext uri="{FF2B5EF4-FFF2-40B4-BE49-F238E27FC236}">
                <a16:creationId xmlns:a16="http://schemas.microsoft.com/office/drawing/2014/main" id="{AFEF5C13-141F-61BC-8904-6E9C53A4FF7F}"/>
              </a:ext>
            </a:extLst>
          </p:cNvPr>
          <p:cNvSpPr/>
          <p:nvPr/>
        </p:nvSpPr>
        <p:spPr>
          <a:xfrm>
            <a:off x="3941766" y="3362446"/>
            <a:ext cx="995423" cy="2434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5" name="Triangle 24">
            <a:extLst>
              <a:ext uri="{FF2B5EF4-FFF2-40B4-BE49-F238E27FC236}">
                <a16:creationId xmlns:a16="http://schemas.microsoft.com/office/drawing/2014/main" id="{8FCEA14D-898D-551A-9170-92090517E273}"/>
              </a:ext>
            </a:extLst>
          </p:cNvPr>
          <p:cNvSpPr/>
          <p:nvPr/>
        </p:nvSpPr>
        <p:spPr>
          <a:xfrm>
            <a:off x="452163" y="4817150"/>
            <a:ext cx="679178"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R4</a:t>
            </a:r>
          </a:p>
        </p:txBody>
      </p:sp>
      <p:cxnSp>
        <p:nvCxnSpPr>
          <p:cNvPr id="26" name="Straight Arrow Connector 25">
            <a:extLst>
              <a:ext uri="{FF2B5EF4-FFF2-40B4-BE49-F238E27FC236}">
                <a16:creationId xmlns:a16="http://schemas.microsoft.com/office/drawing/2014/main" id="{EDEDE07E-459D-3CD7-F06D-B80434F3AB4A}"/>
              </a:ext>
            </a:extLst>
          </p:cNvPr>
          <p:cNvCxnSpPr>
            <a:cxnSpLocks/>
            <a:stCxn id="22" idx="4"/>
            <a:endCxn id="25" idx="0"/>
          </p:cNvCxnSpPr>
          <p:nvPr/>
        </p:nvCxnSpPr>
        <p:spPr>
          <a:xfrm flipH="1">
            <a:off x="791752" y="4413180"/>
            <a:ext cx="468689" cy="4039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3441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8" grpId="0" animBg="1"/>
      <p:bldP spid="39" grpId="0" animBg="1"/>
      <p:bldP spid="42" grpId="0" animBg="1"/>
      <p:bldP spid="43" grpId="0" animBg="1"/>
      <p:bldP spid="2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35</a:t>
            </a:fld>
            <a:endParaRPr lang="en-US" dirty="0"/>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lang="en-US" dirty="0"/>
              <a:t>THAO TÁC CƠ BẢN</a:t>
            </a:r>
          </a:p>
        </p:txBody>
      </p:sp>
      <p:sp>
        <p:nvSpPr>
          <p:cNvPr id="3" name="TextBox 2">
            <a:extLst>
              <a:ext uri="{FF2B5EF4-FFF2-40B4-BE49-F238E27FC236}">
                <a16:creationId xmlns:a16="http://schemas.microsoft.com/office/drawing/2014/main" id="{FB2A445E-0F6E-815C-D17A-9F0A8135FE1E}"/>
              </a:ext>
            </a:extLst>
          </p:cNvPr>
          <p:cNvSpPr txBox="1"/>
          <p:nvPr/>
        </p:nvSpPr>
        <p:spPr>
          <a:xfrm>
            <a:off x="682906" y="729204"/>
            <a:ext cx="4780634" cy="707886"/>
          </a:xfrm>
          <a:prstGeom prst="rect">
            <a:avLst/>
          </a:prstGeom>
          <a:noFill/>
        </p:spPr>
        <p:txBody>
          <a:bodyPr wrap="square" rtlCol="0">
            <a:spAutoFit/>
          </a:bodyPr>
          <a:lstStyle/>
          <a:p>
            <a:r>
              <a:rPr lang="en-VN" sz="2000" b="1" dirty="0">
                <a:solidFill>
                  <a:schemeClr val="accent1">
                    <a:lumMod val="50000"/>
                  </a:schemeClr>
                </a:solidFill>
                <a:latin typeface="Lato" panose="020F0502020204030203" pitchFamily="34" charset="0"/>
                <a:ea typeface="Lato" panose="020F0502020204030203" pitchFamily="34" charset="0"/>
                <a:cs typeface="Lato" panose="020F0502020204030203" pitchFamily="34" charset="0"/>
              </a:rPr>
              <a:t>3. Deletion (Xoá node)</a:t>
            </a:r>
          </a:p>
          <a:p>
            <a:endParaRPr lang="en-VN" sz="2000" b="1" dirty="0">
              <a:solidFill>
                <a:schemeClr val="accent1">
                  <a:lumMod val="50000"/>
                </a:schemeClr>
              </a:solidFill>
            </a:endParaRPr>
          </a:p>
        </p:txBody>
      </p:sp>
      <p:sp>
        <p:nvSpPr>
          <p:cNvPr id="6" name="TextBox 5">
            <a:extLst>
              <a:ext uri="{FF2B5EF4-FFF2-40B4-BE49-F238E27FC236}">
                <a16:creationId xmlns:a16="http://schemas.microsoft.com/office/drawing/2014/main" id="{B46CB544-8221-AFF8-A9FF-48716A4D89C0}"/>
              </a:ext>
            </a:extLst>
          </p:cNvPr>
          <p:cNvSpPr txBox="1"/>
          <p:nvPr/>
        </p:nvSpPr>
        <p:spPr>
          <a:xfrm>
            <a:off x="556591" y="1298713"/>
            <a:ext cx="7765774" cy="707886"/>
          </a:xfrm>
          <a:prstGeom prst="rect">
            <a:avLst/>
          </a:prstGeom>
          <a:noFill/>
        </p:spPr>
        <p:txBody>
          <a:bodyPr wrap="square" rtlCol="0">
            <a:spAutoFit/>
          </a:bodyPr>
          <a:lstStyle/>
          <a:p>
            <a:r>
              <a:rPr lang="en-VN" sz="2000" dirty="0">
                <a:solidFill>
                  <a:srgbClr val="00B0F0"/>
                </a:solidFill>
                <a:latin typeface="Lato" panose="020F0502020204030203" pitchFamily="34" charset="0"/>
                <a:ea typeface="Lato" panose="020F0502020204030203" pitchFamily="34" charset="0"/>
                <a:cs typeface="Lato" panose="020F0502020204030203" pitchFamily="34" charset="0"/>
              </a:rPr>
              <a:t>X</a:t>
            </a:r>
            <a:r>
              <a:rPr lang="en-VN" sz="2000" dirty="0">
                <a:latin typeface="Lato" panose="020F0502020204030203" pitchFamily="34" charset="0"/>
                <a:ea typeface="Lato" panose="020F0502020204030203" pitchFamily="34" charset="0"/>
                <a:cs typeface="Lato" panose="020F0502020204030203" pitchFamily="34" charset="0"/>
              </a:rPr>
              <a:t> </a:t>
            </a:r>
            <a:r>
              <a:rPr lang="en-VN" sz="2000" dirty="0">
                <a:solidFill>
                  <a:srgbClr val="00B0F0"/>
                </a:solidFill>
                <a:latin typeface="Lato" panose="020F0502020204030203" pitchFamily="34" charset="0"/>
                <a:ea typeface="Lato" panose="020F0502020204030203" pitchFamily="34" charset="0"/>
                <a:cs typeface="Lato" panose="020F0502020204030203" pitchFamily="34" charset="0"/>
              </a:rPr>
              <a:t>là</a:t>
            </a:r>
            <a:r>
              <a:rPr lang="en-VN" sz="2000" dirty="0">
                <a:latin typeface="Lato" panose="020F0502020204030203" pitchFamily="34" charset="0"/>
                <a:ea typeface="Lato" panose="020F0502020204030203" pitchFamily="34" charset="0"/>
                <a:cs typeface="Lato" panose="020F0502020204030203" pitchFamily="34" charset="0"/>
              </a:rPr>
              <a:t> node đen </a:t>
            </a:r>
            <a:r>
              <a:rPr lang="en-VN" sz="2000" dirty="0">
                <a:solidFill>
                  <a:srgbClr val="00B0F0"/>
                </a:solidFill>
                <a:latin typeface="Lato" panose="020F0502020204030203" pitchFamily="34" charset="0"/>
                <a:ea typeface="Lato" panose="020F0502020204030203" pitchFamily="34" charset="0"/>
                <a:cs typeface="Lato" panose="020F0502020204030203" pitchFamily="34" charset="0"/>
              </a:rPr>
              <a:t>và có </a:t>
            </a:r>
            <a:r>
              <a:rPr lang="en-VN" sz="2000" dirty="0">
                <a:latin typeface="Lato" panose="020F0502020204030203" pitchFamily="34" charset="0"/>
                <a:ea typeface="Lato" panose="020F0502020204030203" pitchFamily="34" charset="0"/>
                <a:cs typeface="Lato" panose="020F0502020204030203" pitchFamily="34" charset="0"/>
              </a:rPr>
              <a:t>2 con là nút đen</a:t>
            </a:r>
            <a:r>
              <a:rPr lang="en-VN" sz="2000" dirty="0">
                <a:solidFill>
                  <a:srgbClr val="00B0F0"/>
                </a:solidFill>
                <a:latin typeface="Lato" panose="020F0502020204030203" pitchFamily="34" charset="0"/>
                <a:ea typeface="Lato" panose="020F0502020204030203" pitchFamily="34" charset="0"/>
                <a:cs typeface="Lato" panose="020F0502020204030203" pitchFamily="34" charset="0"/>
              </a:rPr>
              <a:t>: Gọi S là node anh em của X, có 4 trường hợp xảy ra:</a:t>
            </a:r>
            <a:endParaRPr lang="en-VN" sz="2000" dirty="0">
              <a:latin typeface="Lato" panose="020F0502020204030203" pitchFamily="34" charset="0"/>
              <a:ea typeface="Lato" panose="020F0502020204030203" pitchFamily="34" charset="0"/>
              <a:cs typeface="Lato" panose="020F0502020204030203" pitchFamily="34" charset="0"/>
            </a:endParaRPr>
          </a:p>
        </p:txBody>
      </p:sp>
      <p:sp>
        <p:nvSpPr>
          <p:cNvPr id="4" name="Oval 3">
            <a:extLst>
              <a:ext uri="{FF2B5EF4-FFF2-40B4-BE49-F238E27FC236}">
                <a16:creationId xmlns:a16="http://schemas.microsoft.com/office/drawing/2014/main" id="{5715CE84-DC33-18F3-4D27-74747E7703B1}"/>
              </a:ext>
            </a:extLst>
          </p:cNvPr>
          <p:cNvSpPr/>
          <p:nvPr/>
        </p:nvSpPr>
        <p:spPr>
          <a:xfrm>
            <a:off x="6860974" y="3301620"/>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X</a:t>
            </a:r>
          </a:p>
        </p:txBody>
      </p:sp>
      <p:sp>
        <p:nvSpPr>
          <p:cNvPr id="7" name="Triangle 6">
            <a:extLst>
              <a:ext uri="{FF2B5EF4-FFF2-40B4-BE49-F238E27FC236}">
                <a16:creationId xmlns:a16="http://schemas.microsoft.com/office/drawing/2014/main" id="{DFBFEB47-9322-8985-B7D2-82D205DFDC65}"/>
              </a:ext>
            </a:extLst>
          </p:cNvPr>
          <p:cNvSpPr/>
          <p:nvPr/>
        </p:nvSpPr>
        <p:spPr>
          <a:xfrm>
            <a:off x="7449827" y="3935472"/>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R2</a:t>
            </a:r>
          </a:p>
        </p:txBody>
      </p:sp>
      <p:sp>
        <p:nvSpPr>
          <p:cNvPr id="8" name="Triangle 7">
            <a:extLst>
              <a:ext uri="{FF2B5EF4-FFF2-40B4-BE49-F238E27FC236}">
                <a16:creationId xmlns:a16="http://schemas.microsoft.com/office/drawing/2014/main" id="{41688C17-9F20-BAA4-62DC-7CC06B9AA881}"/>
              </a:ext>
            </a:extLst>
          </p:cNvPr>
          <p:cNvSpPr/>
          <p:nvPr/>
        </p:nvSpPr>
        <p:spPr>
          <a:xfrm>
            <a:off x="6694272" y="3935472"/>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R1</a:t>
            </a:r>
          </a:p>
        </p:txBody>
      </p:sp>
      <p:cxnSp>
        <p:nvCxnSpPr>
          <p:cNvPr id="9" name="Straight Arrow Connector 8">
            <a:extLst>
              <a:ext uri="{FF2B5EF4-FFF2-40B4-BE49-F238E27FC236}">
                <a16:creationId xmlns:a16="http://schemas.microsoft.com/office/drawing/2014/main" id="{A71ED173-8166-9387-6028-0E7F943BCACB}"/>
              </a:ext>
            </a:extLst>
          </p:cNvPr>
          <p:cNvCxnSpPr>
            <a:cxnSpLocks/>
            <a:stCxn id="13" idx="4"/>
            <a:endCxn id="14" idx="0"/>
          </p:cNvCxnSpPr>
          <p:nvPr/>
        </p:nvCxnSpPr>
        <p:spPr>
          <a:xfrm>
            <a:off x="7470143" y="3050362"/>
            <a:ext cx="290786"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B8080E0-5948-D7DD-1E2C-1DED1E796125}"/>
              </a:ext>
            </a:extLst>
          </p:cNvPr>
          <p:cNvCxnSpPr>
            <a:cxnSpLocks/>
            <a:stCxn id="13" idx="4"/>
            <a:endCxn id="4" idx="0"/>
          </p:cNvCxnSpPr>
          <p:nvPr/>
        </p:nvCxnSpPr>
        <p:spPr>
          <a:xfrm flipH="1">
            <a:off x="7085963" y="3050362"/>
            <a:ext cx="384180" cy="25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C7B27B3-0879-16AE-8848-B5316EFB7793}"/>
              </a:ext>
            </a:extLst>
          </p:cNvPr>
          <p:cNvCxnSpPr>
            <a:cxnSpLocks/>
            <a:stCxn id="4" idx="4"/>
          </p:cNvCxnSpPr>
          <p:nvPr/>
        </p:nvCxnSpPr>
        <p:spPr>
          <a:xfrm flipH="1">
            <a:off x="6299340" y="3701730"/>
            <a:ext cx="786623"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CE2F1EE-BC03-E8E8-2C35-D1435560B33F}"/>
              </a:ext>
            </a:extLst>
          </p:cNvPr>
          <p:cNvCxnSpPr>
            <a:cxnSpLocks/>
            <a:stCxn id="4" idx="4"/>
            <a:endCxn id="8" idx="0"/>
          </p:cNvCxnSpPr>
          <p:nvPr/>
        </p:nvCxnSpPr>
        <p:spPr>
          <a:xfrm flipH="1">
            <a:off x="7033861" y="3701730"/>
            <a:ext cx="52102"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FE9D6D8-378C-107C-16DF-073E43889829}"/>
              </a:ext>
            </a:extLst>
          </p:cNvPr>
          <p:cNvSpPr/>
          <p:nvPr/>
        </p:nvSpPr>
        <p:spPr>
          <a:xfrm>
            <a:off x="7245154" y="2650252"/>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P</a:t>
            </a:r>
          </a:p>
        </p:txBody>
      </p:sp>
      <p:sp>
        <p:nvSpPr>
          <p:cNvPr id="14" name="Oval 13">
            <a:extLst>
              <a:ext uri="{FF2B5EF4-FFF2-40B4-BE49-F238E27FC236}">
                <a16:creationId xmlns:a16="http://schemas.microsoft.com/office/drawing/2014/main" id="{C503F241-2804-2761-C971-4535A5725279}"/>
              </a:ext>
            </a:extLst>
          </p:cNvPr>
          <p:cNvSpPr/>
          <p:nvPr/>
        </p:nvSpPr>
        <p:spPr>
          <a:xfrm>
            <a:off x="7535940" y="3301620"/>
            <a:ext cx="449977"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S</a:t>
            </a:r>
          </a:p>
        </p:txBody>
      </p:sp>
      <p:cxnSp>
        <p:nvCxnSpPr>
          <p:cNvPr id="15" name="Straight Arrow Connector 14">
            <a:extLst>
              <a:ext uri="{FF2B5EF4-FFF2-40B4-BE49-F238E27FC236}">
                <a16:creationId xmlns:a16="http://schemas.microsoft.com/office/drawing/2014/main" id="{14E3B391-7E73-B844-8981-CC8463133B14}"/>
              </a:ext>
            </a:extLst>
          </p:cNvPr>
          <p:cNvCxnSpPr>
            <a:cxnSpLocks/>
            <a:stCxn id="14" idx="4"/>
            <a:endCxn id="7" idx="0"/>
          </p:cNvCxnSpPr>
          <p:nvPr/>
        </p:nvCxnSpPr>
        <p:spPr>
          <a:xfrm>
            <a:off x="7760929" y="3701730"/>
            <a:ext cx="28487"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D6A8923-4A24-4108-E0BC-D5C8F32C899E}"/>
              </a:ext>
            </a:extLst>
          </p:cNvPr>
          <p:cNvCxnSpPr>
            <a:cxnSpLocks/>
            <a:stCxn id="14" idx="4"/>
          </p:cNvCxnSpPr>
          <p:nvPr/>
        </p:nvCxnSpPr>
        <p:spPr>
          <a:xfrm>
            <a:off x="7760929" y="3701730"/>
            <a:ext cx="784042" cy="23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riangle 16">
            <a:extLst>
              <a:ext uri="{FF2B5EF4-FFF2-40B4-BE49-F238E27FC236}">
                <a16:creationId xmlns:a16="http://schemas.microsoft.com/office/drawing/2014/main" id="{0D2D046E-DFCC-9D55-E826-77233144CDBD}"/>
              </a:ext>
            </a:extLst>
          </p:cNvPr>
          <p:cNvSpPr/>
          <p:nvPr/>
        </p:nvSpPr>
        <p:spPr>
          <a:xfrm>
            <a:off x="6187728" y="4775889"/>
            <a:ext cx="679178"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R4</a:t>
            </a:r>
          </a:p>
        </p:txBody>
      </p:sp>
      <p:sp>
        <p:nvSpPr>
          <p:cNvPr id="18" name="Triangle 17">
            <a:extLst>
              <a:ext uri="{FF2B5EF4-FFF2-40B4-BE49-F238E27FC236}">
                <a16:creationId xmlns:a16="http://schemas.microsoft.com/office/drawing/2014/main" id="{304BAE5D-D23A-0541-FB73-186F4CE00206}"/>
              </a:ext>
            </a:extLst>
          </p:cNvPr>
          <p:cNvSpPr/>
          <p:nvPr/>
        </p:nvSpPr>
        <p:spPr>
          <a:xfrm>
            <a:off x="8205382" y="3932890"/>
            <a:ext cx="679177"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R3</a:t>
            </a:r>
          </a:p>
        </p:txBody>
      </p:sp>
      <p:cxnSp>
        <p:nvCxnSpPr>
          <p:cNvPr id="19" name="Straight Arrow Connector 18">
            <a:extLst>
              <a:ext uri="{FF2B5EF4-FFF2-40B4-BE49-F238E27FC236}">
                <a16:creationId xmlns:a16="http://schemas.microsoft.com/office/drawing/2014/main" id="{F47606C7-F412-217B-CDD3-A934C27E1B50}"/>
              </a:ext>
            </a:extLst>
          </p:cNvPr>
          <p:cNvCxnSpPr>
            <a:cxnSpLocks/>
          </p:cNvCxnSpPr>
          <p:nvPr/>
        </p:nvCxnSpPr>
        <p:spPr>
          <a:xfrm>
            <a:off x="6277749" y="4374472"/>
            <a:ext cx="219057" cy="4014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109EC248-73B4-E5B0-9492-C29F79ABCB1E}"/>
              </a:ext>
            </a:extLst>
          </p:cNvPr>
          <p:cNvCxnSpPr>
            <a:cxnSpLocks/>
            <a:endCxn id="13" idx="0"/>
          </p:cNvCxnSpPr>
          <p:nvPr/>
        </p:nvCxnSpPr>
        <p:spPr>
          <a:xfrm flipH="1">
            <a:off x="7470143" y="2263708"/>
            <a:ext cx="290785" cy="386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51545B3E-B213-0AD6-5990-CCC002BDFC7D}"/>
              </a:ext>
            </a:extLst>
          </p:cNvPr>
          <p:cNvSpPr/>
          <p:nvPr/>
        </p:nvSpPr>
        <p:spPr>
          <a:xfrm>
            <a:off x="6046829" y="3971809"/>
            <a:ext cx="449977"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Y</a:t>
            </a:r>
          </a:p>
        </p:txBody>
      </p:sp>
      <p:sp>
        <p:nvSpPr>
          <p:cNvPr id="25" name="Triangle 24">
            <a:extLst>
              <a:ext uri="{FF2B5EF4-FFF2-40B4-BE49-F238E27FC236}">
                <a16:creationId xmlns:a16="http://schemas.microsoft.com/office/drawing/2014/main" id="{8FCEA14D-898D-551A-9170-92090517E273}"/>
              </a:ext>
            </a:extLst>
          </p:cNvPr>
          <p:cNvSpPr/>
          <p:nvPr/>
        </p:nvSpPr>
        <p:spPr>
          <a:xfrm>
            <a:off x="5463540" y="4775889"/>
            <a:ext cx="679178" cy="400110"/>
          </a:xfrm>
          <a:prstGeom prst="triangl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VN" sz="1000" dirty="0">
                <a:latin typeface="Lato" panose="020F0502020204030203" pitchFamily="34" charset="0"/>
                <a:ea typeface="Lato" panose="020F0502020204030203" pitchFamily="34" charset="0"/>
                <a:cs typeface="Lato" panose="020F0502020204030203" pitchFamily="34" charset="0"/>
              </a:rPr>
              <a:t>R4</a:t>
            </a:r>
          </a:p>
        </p:txBody>
      </p:sp>
      <p:cxnSp>
        <p:nvCxnSpPr>
          <p:cNvPr id="26" name="Straight Arrow Connector 25">
            <a:extLst>
              <a:ext uri="{FF2B5EF4-FFF2-40B4-BE49-F238E27FC236}">
                <a16:creationId xmlns:a16="http://schemas.microsoft.com/office/drawing/2014/main" id="{EDEDE07E-459D-3CD7-F06D-B80434F3AB4A}"/>
              </a:ext>
            </a:extLst>
          </p:cNvPr>
          <p:cNvCxnSpPr>
            <a:cxnSpLocks/>
            <a:stCxn id="22" idx="4"/>
            <a:endCxn id="25" idx="0"/>
          </p:cNvCxnSpPr>
          <p:nvPr/>
        </p:nvCxnSpPr>
        <p:spPr>
          <a:xfrm flipH="1">
            <a:off x="5803129" y="4371919"/>
            <a:ext cx="468689" cy="4039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DF239881-8CAE-9A86-E7C3-1DB69926E5F7}"/>
              </a:ext>
            </a:extLst>
          </p:cNvPr>
          <p:cNvSpPr txBox="1"/>
          <p:nvPr/>
        </p:nvSpPr>
        <p:spPr>
          <a:xfrm>
            <a:off x="7033861" y="4537276"/>
            <a:ext cx="1095143" cy="461665"/>
          </a:xfrm>
          <a:prstGeom prst="rect">
            <a:avLst/>
          </a:prstGeom>
          <a:noFill/>
        </p:spPr>
        <p:txBody>
          <a:bodyPr wrap="square" rtlCol="0">
            <a:spAutoFit/>
          </a:bodyPr>
          <a:lstStyle/>
          <a:p>
            <a:r>
              <a:rPr lang="en-VN" sz="1200" i="1" dirty="0">
                <a:latin typeface="Lato" panose="020F0502020204030203" pitchFamily="34" charset="0"/>
                <a:ea typeface="Lato" panose="020F0502020204030203" pitchFamily="34" charset="0"/>
                <a:cs typeface="Lato" panose="020F0502020204030203" pitchFamily="34" charset="0"/>
              </a:rPr>
              <a:t>Y có thể là NIL(rỗng)</a:t>
            </a:r>
          </a:p>
        </p:txBody>
      </p:sp>
      <p:cxnSp>
        <p:nvCxnSpPr>
          <p:cNvPr id="28" name="Curved Connector 27">
            <a:extLst>
              <a:ext uri="{FF2B5EF4-FFF2-40B4-BE49-F238E27FC236}">
                <a16:creationId xmlns:a16="http://schemas.microsoft.com/office/drawing/2014/main" id="{B6569264-D6CC-4CB2-496D-C02FF5253350}"/>
              </a:ext>
            </a:extLst>
          </p:cNvPr>
          <p:cNvCxnSpPr>
            <a:cxnSpLocks/>
            <a:stCxn id="23" idx="1"/>
          </p:cNvCxnSpPr>
          <p:nvPr/>
        </p:nvCxnSpPr>
        <p:spPr>
          <a:xfrm rot="10800000">
            <a:off x="6496809" y="4333001"/>
            <a:ext cx="537053" cy="435109"/>
          </a:xfrm>
          <a:prstGeom prst="curvedConnector3">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46" name="Graphic 45" descr="Add outline">
            <a:extLst>
              <a:ext uri="{FF2B5EF4-FFF2-40B4-BE49-F238E27FC236}">
                <a16:creationId xmlns:a16="http://schemas.microsoft.com/office/drawing/2014/main" id="{7C8639D9-AB61-0F11-6479-AF36457E6AE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9753631">
            <a:off x="6628762" y="3039798"/>
            <a:ext cx="914400" cy="914400"/>
          </a:xfrm>
          <a:prstGeom prst="rect">
            <a:avLst/>
          </a:prstGeom>
        </p:spPr>
      </p:pic>
      <p:sp>
        <p:nvSpPr>
          <p:cNvPr id="48" name="Arc 47">
            <a:extLst>
              <a:ext uri="{FF2B5EF4-FFF2-40B4-BE49-F238E27FC236}">
                <a16:creationId xmlns:a16="http://schemas.microsoft.com/office/drawing/2014/main" id="{19D36CAB-841B-4FEA-E7C2-9853385CA723}"/>
              </a:ext>
            </a:extLst>
          </p:cNvPr>
          <p:cNvSpPr/>
          <p:nvPr/>
        </p:nvSpPr>
        <p:spPr>
          <a:xfrm rot="19941277">
            <a:off x="6003908" y="2653496"/>
            <a:ext cx="1847411" cy="1914939"/>
          </a:xfrm>
          <a:prstGeom prst="arc">
            <a:avLst>
              <a:gd name="adj1" fmla="val 11272417"/>
              <a:gd name="adj2" fmla="val 18755576"/>
            </a:avLst>
          </a:prstGeom>
          <a:ln w="2857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VN"/>
          </a:p>
        </p:txBody>
      </p:sp>
      <p:sp>
        <p:nvSpPr>
          <p:cNvPr id="49" name="TextBox 48">
            <a:extLst>
              <a:ext uri="{FF2B5EF4-FFF2-40B4-BE49-F238E27FC236}">
                <a16:creationId xmlns:a16="http://schemas.microsoft.com/office/drawing/2014/main" id="{5897FCE5-7DEA-C050-BEDC-39E5B414EEFB}"/>
              </a:ext>
            </a:extLst>
          </p:cNvPr>
          <p:cNvSpPr txBox="1"/>
          <p:nvPr/>
        </p:nvSpPr>
        <p:spPr>
          <a:xfrm rot="18727063">
            <a:off x="5905385" y="2679107"/>
            <a:ext cx="449977" cy="307777"/>
          </a:xfrm>
          <a:prstGeom prst="rect">
            <a:avLst/>
          </a:prstGeom>
          <a:noFill/>
        </p:spPr>
        <p:txBody>
          <a:bodyPr wrap="square" rtlCol="0">
            <a:spAutoFit/>
          </a:bodyPr>
          <a:lstStyle/>
          <a:p>
            <a:r>
              <a:rPr lang="en-VN" sz="1400" i="1" dirty="0">
                <a:latin typeface="Lato" panose="020F0502020204030203" pitchFamily="34" charset="0"/>
                <a:ea typeface="Lato" panose="020F0502020204030203" pitchFamily="34" charset="0"/>
                <a:cs typeface="Lato" panose="020F0502020204030203" pitchFamily="34" charset="0"/>
              </a:rPr>
              <a:t>nối</a:t>
            </a:r>
          </a:p>
        </p:txBody>
      </p:sp>
      <p:sp>
        <p:nvSpPr>
          <p:cNvPr id="50" name="TextBox 49">
            <a:extLst>
              <a:ext uri="{FF2B5EF4-FFF2-40B4-BE49-F238E27FC236}">
                <a16:creationId xmlns:a16="http://schemas.microsoft.com/office/drawing/2014/main" id="{0A677183-DF1D-E9DC-A618-91FC02683E6D}"/>
              </a:ext>
            </a:extLst>
          </p:cNvPr>
          <p:cNvSpPr txBox="1"/>
          <p:nvPr/>
        </p:nvSpPr>
        <p:spPr>
          <a:xfrm>
            <a:off x="798653" y="2650252"/>
            <a:ext cx="4371445" cy="1699568"/>
          </a:xfrm>
          <a:prstGeom prst="rect">
            <a:avLst/>
          </a:prstGeom>
          <a:noFill/>
        </p:spPr>
        <p:txBody>
          <a:bodyPr wrap="square" rtlCol="0">
            <a:spAutoFit/>
          </a:bodyPr>
          <a:lstStyle/>
          <a:p>
            <a:pPr marL="342900" indent="-342900">
              <a:lnSpc>
                <a:spcPct val="150000"/>
              </a:lnSpc>
              <a:buClr>
                <a:schemeClr val="tx1"/>
              </a:buClr>
              <a:buFont typeface="+mj-lt"/>
              <a:buAutoNum type="arabicParenR"/>
            </a:pPr>
            <a:r>
              <a:rPr lang="en-VN" dirty="0">
                <a:latin typeface="Lato" panose="020F0502020204030203" pitchFamily="34" charset="0"/>
                <a:ea typeface="Lato" panose="020F0502020204030203" pitchFamily="34" charset="0"/>
                <a:cs typeface="Lato" panose="020F0502020204030203" pitchFamily="34" charset="0"/>
              </a:rPr>
              <a:t>S màu đen và 2 con của S màu đen.</a:t>
            </a:r>
          </a:p>
          <a:p>
            <a:pPr marL="342900" indent="-342900">
              <a:lnSpc>
                <a:spcPct val="150000"/>
              </a:lnSpc>
              <a:buClr>
                <a:schemeClr val="tx1"/>
              </a:buClr>
              <a:buFont typeface="+mj-lt"/>
              <a:buAutoNum type="arabicParenR"/>
            </a:pPr>
            <a:r>
              <a:rPr lang="en-VN" dirty="0">
                <a:latin typeface="Lato" panose="020F0502020204030203" pitchFamily="34" charset="0"/>
                <a:ea typeface="Lato" panose="020F0502020204030203" pitchFamily="34" charset="0"/>
                <a:cs typeface="Lato" panose="020F0502020204030203" pitchFamily="34" charset="0"/>
              </a:rPr>
              <a:t>S màu đen và con trái của S màu đỏ.</a:t>
            </a:r>
          </a:p>
          <a:p>
            <a:pPr marL="342900" indent="-342900">
              <a:lnSpc>
                <a:spcPct val="150000"/>
              </a:lnSpc>
              <a:buClr>
                <a:schemeClr val="tx1"/>
              </a:buClr>
              <a:buFont typeface="+mj-lt"/>
              <a:buAutoNum type="arabicParenR"/>
            </a:pPr>
            <a:r>
              <a:rPr lang="en-VN" dirty="0">
                <a:latin typeface="Lato" panose="020F0502020204030203" pitchFamily="34" charset="0"/>
                <a:ea typeface="Lato" panose="020F0502020204030203" pitchFamily="34" charset="0"/>
                <a:cs typeface="Lato" panose="020F0502020204030203" pitchFamily="34" charset="0"/>
              </a:rPr>
              <a:t>S màu đen và con phải của S màu đỏ.</a:t>
            </a:r>
          </a:p>
          <a:p>
            <a:pPr marL="342900" indent="-342900">
              <a:lnSpc>
                <a:spcPct val="150000"/>
              </a:lnSpc>
              <a:buClr>
                <a:schemeClr val="tx1"/>
              </a:buClr>
              <a:buFont typeface="+mj-lt"/>
              <a:buAutoNum type="arabicParenR"/>
            </a:pPr>
            <a:r>
              <a:rPr lang="en-VN" dirty="0">
                <a:latin typeface="Lato" panose="020F0502020204030203" pitchFamily="34" charset="0"/>
                <a:ea typeface="Lato" panose="020F0502020204030203" pitchFamily="34" charset="0"/>
                <a:cs typeface="Lato" panose="020F0502020204030203" pitchFamily="34" charset="0"/>
              </a:rPr>
              <a:t>S màu đỏ</a:t>
            </a:r>
          </a:p>
        </p:txBody>
      </p:sp>
    </p:spTree>
    <p:extLst>
      <p:ext uri="{BB962C8B-B14F-4D97-AF65-F5344CB8AC3E}">
        <p14:creationId xmlns:p14="http://schemas.microsoft.com/office/powerpoint/2010/main" val="1724180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13" grpId="0" animBg="1"/>
      <p:bldP spid="14" grpId="0" animBg="1"/>
      <p:bldP spid="17" grpId="0" animBg="1"/>
      <p:bldP spid="18" grpId="0" animBg="1"/>
      <p:bldP spid="22" grpId="0" animBg="1"/>
      <p:bldP spid="25" grpId="0" animBg="1"/>
      <p:bldP spid="23" grpId="0"/>
      <p:bldP spid="48" grpId="0" animBg="1"/>
      <p:bldP spid="49" grpId="0"/>
      <p:bldP spid="5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36</a:t>
            </a:fld>
            <a:endParaRPr lang="en-US" dirty="0"/>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lang="en-US" dirty="0"/>
              <a:t>THAO TÁC CƠ BẢN</a:t>
            </a:r>
          </a:p>
        </p:txBody>
      </p:sp>
      <p:sp>
        <p:nvSpPr>
          <p:cNvPr id="3" name="TextBox 2">
            <a:extLst>
              <a:ext uri="{FF2B5EF4-FFF2-40B4-BE49-F238E27FC236}">
                <a16:creationId xmlns:a16="http://schemas.microsoft.com/office/drawing/2014/main" id="{FB2A445E-0F6E-815C-D17A-9F0A8135FE1E}"/>
              </a:ext>
            </a:extLst>
          </p:cNvPr>
          <p:cNvSpPr txBox="1"/>
          <p:nvPr/>
        </p:nvSpPr>
        <p:spPr>
          <a:xfrm>
            <a:off x="682906" y="729204"/>
            <a:ext cx="4780634" cy="707886"/>
          </a:xfrm>
          <a:prstGeom prst="rect">
            <a:avLst/>
          </a:prstGeom>
          <a:noFill/>
        </p:spPr>
        <p:txBody>
          <a:bodyPr wrap="square" rtlCol="0">
            <a:spAutoFit/>
          </a:bodyPr>
          <a:lstStyle/>
          <a:p>
            <a:r>
              <a:rPr lang="en-VN" sz="2000" b="1" dirty="0">
                <a:solidFill>
                  <a:schemeClr val="accent1">
                    <a:lumMod val="50000"/>
                  </a:schemeClr>
                </a:solidFill>
                <a:latin typeface="Lato" panose="020F0502020204030203" pitchFamily="34" charset="0"/>
                <a:ea typeface="Lato" panose="020F0502020204030203" pitchFamily="34" charset="0"/>
                <a:cs typeface="Lato" panose="020F0502020204030203" pitchFamily="34" charset="0"/>
              </a:rPr>
              <a:t>3. Deletion (Xoá node)</a:t>
            </a:r>
          </a:p>
          <a:p>
            <a:endParaRPr lang="en-VN" sz="2000" b="1" dirty="0">
              <a:solidFill>
                <a:schemeClr val="accent1">
                  <a:lumMod val="50000"/>
                </a:schemeClr>
              </a:solidFill>
            </a:endParaRPr>
          </a:p>
        </p:txBody>
      </p:sp>
      <p:sp>
        <p:nvSpPr>
          <p:cNvPr id="6" name="TextBox 5">
            <a:extLst>
              <a:ext uri="{FF2B5EF4-FFF2-40B4-BE49-F238E27FC236}">
                <a16:creationId xmlns:a16="http://schemas.microsoft.com/office/drawing/2014/main" id="{B46CB544-8221-AFF8-A9FF-48716A4D89C0}"/>
              </a:ext>
            </a:extLst>
          </p:cNvPr>
          <p:cNvSpPr txBox="1"/>
          <p:nvPr/>
        </p:nvSpPr>
        <p:spPr>
          <a:xfrm>
            <a:off x="556591" y="1298713"/>
            <a:ext cx="7765774" cy="400110"/>
          </a:xfrm>
          <a:prstGeom prst="rect">
            <a:avLst/>
          </a:prstGeom>
          <a:noFill/>
        </p:spPr>
        <p:txBody>
          <a:bodyPr wrap="square" rtlCol="0">
            <a:spAutoFit/>
          </a:bodyPr>
          <a:lstStyle/>
          <a:p>
            <a:r>
              <a:rPr lang="en-VN" sz="2000" dirty="0">
                <a:solidFill>
                  <a:srgbClr val="FF0000"/>
                </a:solidFill>
                <a:latin typeface="Lato" panose="020F0502020204030203" pitchFamily="34" charset="0"/>
                <a:ea typeface="Lato" panose="020F0502020204030203" pitchFamily="34" charset="0"/>
                <a:cs typeface="Lato" panose="020F0502020204030203" pitchFamily="34" charset="0"/>
              </a:rPr>
              <a:t>Vd: </a:t>
            </a:r>
            <a:r>
              <a:rPr lang="en-VN" sz="2000" dirty="0">
                <a:solidFill>
                  <a:srgbClr val="00B0F0"/>
                </a:solidFill>
                <a:latin typeface="Lato" panose="020F0502020204030203" pitchFamily="34" charset="0"/>
                <a:ea typeface="Lato" panose="020F0502020204030203" pitchFamily="34" charset="0"/>
                <a:cs typeface="Lato" panose="020F0502020204030203" pitchFamily="34" charset="0"/>
              </a:rPr>
              <a:t>Xoá node 110, 105</a:t>
            </a:r>
          </a:p>
        </p:txBody>
      </p:sp>
      <p:sp>
        <p:nvSpPr>
          <p:cNvPr id="20" name="Oval 19">
            <a:extLst>
              <a:ext uri="{FF2B5EF4-FFF2-40B4-BE49-F238E27FC236}">
                <a16:creationId xmlns:a16="http://schemas.microsoft.com/office/drawing/2014/main" id="{47446F1C-27CA-F78C-1A26-ED3C07B7833C}"/>
              </a:ext>
            </a:extLst>
          </p:cNvPr>
          <p:cNvSpPr/>
          <p:nvPr/>
        </p:nvSpPr>
        <p:spPr>
          <a:xfrm>
            <a:off x="1051151" y="3413418"/>
            <a:ext cx="499902"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25</a:t>
            </a:r>
          </a:p>
        </p:txBody>
      </p:sp>
      <p:cxnSp>
        <p:nvCxnSpPr>
          <p:cNvPr id="24" name="Straight Arrow Connector 23">
            <a:extLst>
              <a:ext uri="{FF2B5EF4-FFF2-40B4-BE49-F238E27FC236}">
                <a16:creationId xmlns:a16="http://schemas.microsoft.com/office/drawing/2014/main" id="{A7993302-951D-F418-C53E-FD98F7A5D23F}"/>
              </a:ext>
            </a:extLst>
          </p:cNvPr>
          <p:cNvCxnSpPr>
            <a:cxnSpLocks/>
            <a:stCxn id="29" idx="4"/>
            <a:endCxn id="30" idx="0"/>
          </p:cNvCxnSpPr>
          <p:nvPr/>
        </p:nvCxnSpPr>
        <p:spPr>
          <a:xfrm>
            <a:off x="2179101" y="2867294"/>
            <a:ext cx="777643" cy="546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AC65903-F257-48FC-EF30-120CEF981802}"/>
              </a:ext>
            </a:extLst>
          </p:cNvPr>
          <p:cNvCxnSpPr>
            <a:cxnSpLocks/>
            <a:stCxn id="29" idx="4"/>
            <a:endCxn id="20" idx="0"/>
          </p:cNvCxnSpPr>
          <p:nvPr/>
        </p:nvCxnSpPr>
        <p:spPr>
          <a:xfrm flipH="1">
            <a:off x="1301102" y="2867294"/>
            <a:ext cx="877999" cy="546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58A64F58-E135-473F-F0C9-E38275779E51}"/>
              </a:ext>
            </a:extLst>
          </p:cNvPr>
          <p:cNvSpPr/>
          <p:nvPr/>
        </p:nvSpPr>
        <p:spPr>
          <a:xfrm>
            <a:off x="1929149" y="2467184"/>
            <a:ext cx="499903"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50</a:t>
            </a:r>
          </a:p>
        </p:txBody>
      </p:sp>
      <p:sp>
        <p:nvSpPr>
          <p:cNvPr id="30" name="Oval 29">
            <a:extLst>
              <a:ext uri="{FF2B5EF4-FFF2-40B4-BE49-F238E27FC236}">
                <a16:creationId xmlns:a16="http://schemas.microsoft.com/office/drawing/2014/main" id="{E4B72DB9-4940-7A78-97E3-DDBE52657725}"/>
              </a:ext>
            </a:extLst>
          </p:cNvPr>
          <p:cNvSpPr/>
          <p:nvPr/>
        </p:nvSpPr>
        <p:spPr>
          <a:xfrm>
            <a:off x="2706792" y="3413418"/>
            <a:ext cx="499903"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80</a:t>
            </a:r>
          </a:p>
        </p:txBody>
      </p:sp>
      <p:cxnSp>
        <p:nvCxnSpPr>
          <p:cNvPr id="31" name="Straight Arrow Connector 30">
            <a:extLst>
              <a:ext uri="{FF2B5EF4-FFF2-40B4-BE49-F238E27FC236}">
                <a16:creationId xmlns:a16="http://schemas.microsoft.com/office/drawing/2014/main" id="{43C8A823-B84C-E51B-8B03-9151A16473FA}"/>
              </a:ext>
            </a:extLst>
          </p:cNvPr>
          <p:cNvCxnSpPr>
            <a:cxnSpLocks/>
            <a:endCxn id="32" idx="0"/>
          </p:cNvCxnSpPr>
          <p:nvPr/>
        </p:nvCxnSpPr>
        <p:spPr>
          <a:xfrm>
            <a:off x="2956743" y="3796316"/>
            <a:ext cx="684974" cy="4559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ECF7D081-627D-EFE3-7F5A-8D9342CE6742}"/>
              </a:ext>
            </a:extLst>
          </p:cNvPr>
          <p:cNvSpPr/>
          <p:nvPr/>
        </p:nvSpPr>
        <p:spPr>
          <a:xfrm>
            <a:off x="3336369" y="4252276"/>
            <a:ext cx="610696"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105</a:t>
            </a:r>
          </a:p>
        </p:txBody>
      </p:sp>
      <p:sp>
        <p:nvSpPr>
          <p:cNvPr id="33" name="Oval 32">
            <a:extLst>
              <a:ext uri="{FF2B5EF4-FFF2-40B4-BE49-F238E27FC236}">
                <a16:creationId xmlns:a16="http://schemas.microsoft.com/office/drawing/2014/main" id="{AFE92E0C-B186-B3F9-1EB0-D882F978C92A}"/>
              </a:ext>
            </a:extLst>
          </p:cNvPr>
          <p:cNvSpPr/>
          <p:nvPr/>
        </p:nvSpPr>
        <p:spPr>
          <a:xfrm>
            <a:off x="2317970" y="4252276"/>
            <a:ext cx="499903"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75</a:t>
            </a:r>
          </a:p>
        </p:txBody>
      </p:sp>
      <p:cxnSp>
        <p:nvCxnSpPr>
          <p:cNvPr id="34" name="Straight Arrow Connector 33">
            <a:extLst>
              <a:ext uri="{FF2B5EF4-FFF2-40B4-BE49-F238E27FC236}">
                <a16:creationId xmlns:a16="http://schemas.microsoft.com/office/drawing/2014/main" id="{28E6F8BA-AA0B-F634-0065-76637E366420}"/>
              </a:ext>
            </a:extLst>
          </p:cNvPr>
          <p:cNvCxnSpPr>
            <a:cxnSpLocks/>
            <a:stCxn id="30" idx="4"/>
            <a:endCxn id="33" idx="0"/>
          </p:cNvCxnSpPr>
          <p:nvPr/>
        </p:nvCxnSpPr>
        <p:spPr>
          <a:xfrm flipH="1">
            <a:off x="2567922" y="3813528"/>
            <a:ext cx="388822" cy="4387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0A68FB54-0AB2-D01F-7542-4FE52F5AF7BF}"/>
              </a:ext>
            </a:extLst>
          </p:cNvPr>
          <p:cNvSpPr/>
          <p:nvPr/>
        </p:nvSpPr>
        <p:spPr>
          <a:xfrm>
            <a:off x="2995545" y="5108346"/>
            <a:ext cx="606180"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100</a:t>
            </a:r>
          </a:p>
        </p:txBody>
      </p:sp>
      <p:cxnSp>
        <p:nvCxnSpPr>
          <p:cNvPr id="40" name="Straight Arrow Connector 39">
            <a:extLst>
              <a:ext uri="{FF2B5EF4-FFF2-40B4-BE49-F238E27FC236}">
                <a16:creationId xmlns:a16="http://schemas.microsoft.com/office/drawing/2014/main" id="{58623EAA-AC47-D115-FC56-7B64777802DA}"/>
              </a:ext>
            </a:extLst>
          </p:cNvPr>
          <p:cNvCxnSpPr>
            <a:cxnSpLocks/>
            <a:stCxn id="32" idx="4"/>
            <a:endCxn id="39" idx="0"/>
          </p:cNvCxnSpPr>
          <p:nvPr/>
        </p:nvCxnSpPr>
        <p:spPr>
          <a:xfrm flipH="1">
            <a:off x="3298635" y="4652386"/>
            <a:ext cx="343082" cy="4559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D2A9ABAB-2505-FF1A-2526-500F443D8A4F}"/>
              </a:ext>
            </a:extLst>
          </p:cNvPr>
          <p:cNvCxnSpPr>
            <a:cxnSpLocks/>
            <a:stCxn id="32" idx="4"/>
            <a:endCxn id="42" idx="0"/>
          </p:cNvCxnSpPr>
          <p:nvPr/>
        </p:nvCxnSpPr>
        <p:spPr>
          <a:xfrm>
            <a:off x="3641717" y="4652386"/>
            <a:ext cx="515307" cy="4387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762B9955-D422-665A-7B9A-9BE0D745D7B8}"/>
              </a:ext>
            </a:extLst>
          </p:cNvPr>
          <p:cNvSpPr/>
          <p:nvPr/>
        </p:nvSpPr>
        <p:spPr>
          <a:xfrm>
            <a:off x="3851676" y="5091134"/>
            <a:ext cx="610696"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110</a:t>
            </a:r>
          </a:p>
        </p:txBody>
      </p:sp>
      <p:sp>
        <p:nvSpPr>
          <p:cNvPr id="47" name="Oval 46">
            <a:extLst>
              <a:ext uri="{FF2B5EF4-FFF2-40B4-BE49-F238E27FC236}">
                <a16:creationId xmlns:a16="http://schemas.microsoft.com/office/drawing/2014/main" id="{587D8A5E-1CE2-37A7-D96E-D1ED4259FAF6}"/>
              </a:ext>
            </a:extLst>
          </p:cNvPr>
          <p:cNvSpPr/>
          <p:nvPr/>
        </p:nvSpPr>
        <p:spPr>
          <a:xfrm>
            <a:off x="436233" y="4252276"/>
            <a:ext cx="499902"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10</a:t>
            </a:r>
          </a:p>
        </p:txBody>
      </p:sp>
      <p:cxnSp>
        <p:nvCxnSpPr>
          <p:cNvPr id="51" name="Straight Arrow Connector 50">
            <a:extLst>
              <a:ext uri="{FF2B5EF4-FFF2-40B4-BE49-F238E27FC236}">
                <a16:creationId xmlns:a16="http://schemas.microsoft.com/office/drawing/2014/main" id="{D87ECB3D-00B2-0AA4-0BA6-8F24B9DFF0E6}"/>
              </a:ext>
            </a:extLst>
          </p:cNvPr>
          <p:cNvCxnSpPr>
            <a:cxnSpLocks/>
            <a:stCxn id="20" idx="4"/>
            <a:endCxn id="47" idx="0"/>
          </p:cNvCxnSpPr>
          <p:nvPr/>
        </p:nvCxnSpPr>
        <p:spPr>
          <a:xfrm flipH="1">
            <a:off x="686184" y="3813528"/>
            <a:ext cx="614918" cy="4387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36C1EDBA-ECFE-C090-3ABA-FFCAC0EE2B24}"/>
              </a:ext>
            </a:extLst>
          </p:cNvPr>
          <p:cNvSpPr/>
          <p:nvPr/>
        </p:nvSpPr>
        <p:spPr>
          <a:xfrm>
            <a:off x="1490149" y="4248767"/>
            <a:ext cx="499903"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30</a:t>
            </a:r>
          </a:p>
        </p:txBody>
      </p:sp>
      <p:cxnSp>
        <p:nvCxnSpPr>
          <p:cNvPr id="54" name="Straight Arrow Connector 53">
            <a:extLst>
              <a:ext uri="{FF2B5EF4-FFF2-40B4-BE49-F238E27FC236}">
                <a16:creationId xmlns:a16="http://schemas.microsoft.com/office/drawing/2014/main" id="{3FEB5D2F-04FB-C5EA-3B51-3C555AA9B42D}"/>
              </a:ext>
            </a:extLst>
          </p:cNvPr>
          <p:cNvCxnSpPr>
            <a:cxnSpLocks/>
            <a:endCxn id="53" idx="0"/>
          </p:cNvCxnSpPr>
          <p:nvPr/>
        </p:nvCxnSpPr>
        <p:spPr>
          <a:xfrm>
            <a:off x="1304618" y="3813528"/>
            <a:ext cx="435483" cy="4352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E2D32711-7F79-7B90-4B68-6FB3565CD96A}"/>
              </a:ext>
            </a:extLst>
          </p:cNvPr>
          <p:cNvSpPr/>
          <p:nvPr/>
        </p:nvSpPr>
        <p:spPr>
          <a:xfrm>
            <a:off x="1873752" y="5133467"/>
            <a:ext cx="499903"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45</a:t>
            </a:r>
          </a:p>
        </p:txBody>
      </p:sp>
      <p:cxnSp>
        <p:nvCxnSpPr>
          <p:cNvPr id="57" name="Straight Arrow Connector 56">
            <a:extLst>
              <a:ext uri="{FF2B5EF4-FFF2-40B4-BE49-F238E27FC236}">
                <a16:creationId xmlns:a16="http://schemas.microsoft.com/office/drawing/2014/main" id="{F438F781-6E81-982A-FC37-CFEC74102A53}"/>
              </a:ext>
            </a:extLst>
          </p:cNvPr>
          <p:cNvCxnSpPr>
            <a:cxnSpLocks/>
            <a:endCxn id="56" idx="0"/>
          </p:cNvCxnSpPr>
          <p:nvPr/>
        </p:nvCxnSpPr>
        <p:spPr>
          <a:xfrm>
            <a:off x="1732398" y="4652386"/>
            <a:ext cx="391306" cy="4810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F97DD990-2409-28EA-696C-CB1F816B26AF}"/>
              </a:ext>
            </a:extLst>
          </p:cNvPr>
          <p:cNvSpPr txBox="1"/>
          <p:nvPr/>
        </p:nvSpPr>
        <p:spPr>
          <a:xfrm>
            <a:off x="972273" y="1828800"/>
            <a:ext cx="877999" cy="307777"/>
          </a:xfrm>
          <a:prstGeom prst="rect">
            <a:avLst/>
          </a:prstGeom>
          <a:noFill/>
        </p:spPr>
        <p:txBody>
          <a:bodyPr wrap="square" rtlCol="0">
            <a:spAutoFit/>
          </a:bodyPr>
          <a:lstStyle/>
          <a:p>
            <a:r>
              <a:rPr lang="en-US" sz="1400" dirty="0">
                <a:solidFill>
                  <a:srgbClr val="BC05B7"/>
                </a:solidFill>
                <a:latin typeface="Lato" panose="020F0502020204030203" pitchFamily="34" charset="0"/>
                <a:ea typeface="Lato" panose="020F0502020204030203" pitchFamily="34" charset="0"/>
                <a:cs typeface="Lato" panose="020F0502020204030203" pitchFamily="34" charset="0"/>
              </a:rPr>
              <a:t>X</a:t>
            </a:r>
            <a:r>
              <a:rPr lang="en-VN" sz="1400" dirty="0">
                <a:solidFill>
                  <a:srgbClr val="BC05B7"/>
                </a:solidFill>
                <a:latin typeface="Lato" panose="020F0502020204030203" pitchFamily="34" charset="0"/>
                <a:ea typeface="Lato" panose="020F0502020204030203" pitchFamily="34" charset="0"/>
                <a:cs typeface="Lato" panose="020F0502020204030203" pitchFamily="34" charset="0"/>
              </a:rPr>
              <a:t>oá 110</a:t>
            </a:r>
          </a:p>
        </p:txBody>
      </p:sp>
      <p:pic>
        <p:nvPicPr>
          <p:cNvPr id="62" name="Graphic 61" descr="Add outline">
            <a:extLst>
              <a:ext uri="{FF2B5EF4-FFF2-40B4-BE49-F238E27FC236}">
                <a16:creationId xmlns:a16="http://schemas.microsoft.com/office/drawing/2014/main" id="{0F3AAF66-C9A7-4002-E5C1-F51CC9F6F1D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9753631">
            <a:off x="3692709" y="4821318"/>
            <a:ext cx="914400" cy="914400"/>
          </a:xfrm>
          <a:prstGeom prst="rect">
            <a:avLst/>
          </a:prstGeom>
        </p:spPr>
      </p:pic>
      <p:sp>
        <p:nvSpPr>
          <p:cNvPr id="63" name="TextBox 62">
            <a:extLst>
              <a:ext uri="{FF2B5EF4-FFF2-40B4-BE49-F238E27FC236}">
                <a16:creationId xmlns:a16="http://schemas.microsoft.com/office/drawing/2014/main" id="{AF6CD02E-0BF0-9652-1970-AF74EE73458C}"/>
              </a:ext>
            </a:extLst>
          </p:cNvPr>
          <p:cNvSpPr txBox="1"/>
          <p:nvPr/>
        </p:nvSpPr>
        <p:spPr>
          <a:xfrm>
            <a:off x="3437895" y="5597489"/>
            <a:ext cx="1643605" cy="307777"/>
          </a:xfrm>
          <a:prstGeom prst="rect">
            <a:avLst/>
          </a:prstGeom>
          <a:noFill/>
        </p:spPr>
        <p:txBody>
          <a:bodyPr wrap="square" rtlCol="0">
            <a:spAutoFit/>
          </a:bodyPr>
          <a:lstStyle/>
          <a:p>
            <a:r>
              <a:rPr lang="en-US" sz="1400" dirty="0">
                <a:solidFill>
                  <a:srgbClr val="BC05B7"/>
                </a:solidFill>
                <a:latin typeface="Lato" panose="020F0502020204030203" pitchFamily="34" charset="0"/>
                <a:ea typeface="Lato" panose="020F0502020204030203" pitchFamily="34" charset="0"/>
                <a:cs typeface="Lato" panose="020F0502020204030203" pitchFamily="34" charset="0"/>
              </a:rPr>
              <a:t>K</a:t>
            </a:r>
            <a:r>
              <a:rPr lang="en-VN" sz="1400" dirty="0">
                <a:solidFill>
                  <a:srgbClr val="BC05B7"/>
                </a:solidFill>
                <a:latin typeface="Lato" panose="020F0502020204030203" pitchFamily="34" charset="0"/>
                <a:ea typeface="Lato" panose="020F0502020204030203" pitchFamily="34" charset="0"/>
                <a:cs typeface="Lato" panose="020F0502020204030203" pitchFamily="34" charset="0"/>
              </a:rPr>
              <a:t>hông ảnh hưởng</a:t>
            </a:r>
          </a:p>
        </p:txBody>
      </p:sp>
      <p:pic>
        <p:nvPicPr>
          <p:cNvPr id="64" name="Graphic 63" descr="Add outline">
            <a:extLst>
              <a:ext uri="{FF2B5EF4-FFF2-40B4-BE49-F238E27FC236}">
                <a16:creationId xmlns:a16="http://schemas.microsoft.com/office/drawing/2014/main" id="{A18D3060-C3E6-228A-A2B6-839E8029926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9753631">
            <a:off x="3211557" y="3983076"/>
            <a:ext cx="914400" cy="914400"/>
          </a:xfrm>
          <a:prstGeom prst="rect">
            <a:avLst/>
          </a:prstGeom>
        </p:spPr>
      </p:pic>
      <p:sp>
        <p:nvSpPr>
          <p:cNvPr id="65" name="Arc 64">
            <a:extLst>
              <a:ext uri="{FF2B5EF4-FFF2-40B4-BE49-F238E27FC236}">
                <a16:creationId xmlns:a16="http://schemas.microsoft.com/office/drawing/2014/main" id="{D599482A-15ED-3C08-E096-4FE6D2B2099F}"/>
              </a:ext>
            </a:extLst>
          </p:cNvPr>
          <p:cNvSpPr/>
          <p:nvPr/>
        </p:nvSpPr>
        <p:spPr>
          <a:xfrm rot="5891549">
            <a:off x="2158109" y="3457352"/>
            <a:ext cx="1847411" cy="1914939"/>
          </a:xfrm>
          <a:prstGeom prst="arc">
            <a:avLst>
              <a:gd name="adj1" fmla="val 11272417"/>
              <a:gd name="adj2" fmla="val 18755576"/>
            </a:avLst>
          </a:prstGeom>
          <a:ln w="2857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VN" dirty="0"/>
          </a:p>
        </p:txBody>
      </p:sp>
      <p:sp>
        <p:nvSpPr>
          <p:cNvPr id="66" name="TextBox 65">
            <a:extLst>
              <a:ext uri="{FF2B5EF4-FFF2-40B4-BE49-F238E27FC236}">
                <a16:creationId xmlns:a16="http://schemas.microsoft.com/office/drawing/2014/main" id="{DCEB242F-2E60-7377-1BA1-5D4BFF255889}"/>
              </a:ext>
            </a:extLst>
          </p:cNvPr>
          <p:cNvSpPr txBox="1"/>
          <p:nvPr/>
        </p:nvSpPr>
        <p:spPr>
          <a:xfrm rot="4382871">
            <a:off x="3942978" y="3933201"/>
            <a:ext cx="449977" cy="307777"/>
          </a:xfrm>
          <a:prstGeom prst="rect">
            <a:avLst/>
          </a:prstGeom>
          <a:noFill/>
        </p:spPr>
        <p:txBody>
          <a:bodyPr wrap="square" rtlCol="0">
            <a:spAutoFit/>
          </a:bodyPr>
          <a:lstStyle/>
          <a:p>
            <a:r>
              <a:rPr lang="en-VN" sz="1400" i="1" dirty="0">
                <a:latin typeface="Lato" panose="020F0502020204030203" pitchFamily="34" charset="0"/>
                <a:ea typeface="Lato" panose="020F0502020204030203" pitchFamily="34" charset="0"/>
                <a:cs typeface="Lato" panose="020F0502020204030203" pitchFamily="34" charset="0"/>
              </a:rPr>
              <a:t>nối</a:t>
            </a:r>
          </a:p>
        </p:txBody>
      </p:sp>
      <p:sp>
        <p:nvSpPr>
          <p:cNvPr id="67" name="TextBox 66">
            <a:extLst>
              <a:ext uri="{FF2B5EF4-FFF2-40B4-BE49-F238E27FC236}">
                <a16:creationId xmlns:a16="http://schemas.microsoft.com/office/drawing/2014/main" id="{EBDE323F-A650-AB71-9FAB-24EFE4B141F0}"/>
              </a:ext>
            </a:extLst>
          </p:cNvPr>
          <p:cNvSpPr txBox="1"/>
          <p:nvPr/>
        </p:nvSpPr>
        <p:spPr>
          <a:xfrm>
            <a:off x="5661282" y="1828799"/>
            <a:ext cx="877999" cy="307777"/>
          </a:xfrm>
          <a:prstGeom prst="rect">
            <a:avLst/>
          </a:prstGeom>
          <a:noFill/>
        </p:spPr>
        <p:txBody>
          <a:bodyPr wrap="square" rtlCol="0">
            <a:spAutoFit/>
          </a:bodyPr>
          <a:lstStyle/>
          <a:p>
            <a:r>
              <a:rPr lang="en-US" sz="1400" dirty="0">
                <a:solidFill>
                  <a:srgbClr val="BC05B7"/>
                </a:solidFill>
                <a:latin typeface="Lato" panose="020F0502020204030203" pitchFamily="34" charset="0"/>
                <a:ea typeface="Lato" panose="020F0502020204030203" pitchFamily="34" charset="0"/>
                <a:cs typeface="Lato" panose="020F0502020204030203" pitchFamily="34" charset="0"/>
              </a:rPr>
              <a:t>X</a:t>
            </a:r>
            <a:r>
              <a:rPr lang="en-VN" sz="1400" dirty="0">
                <a:solidFill>
                  <a:srgbClr val="BC05B7"/>
                </a:solidFill>
                <a:latin typeface="Lato" panose="020F0502020204030203" pitchFamily="34" charset="0"/>
                <a:ea typeface="Lato" panose="020F0502020204030203" pitchFamily="34" charset="0"/>
                <a:cs typeface="Lato" panose="020F0502020204030203" pitchFamily="34" charset="0"/>
              </a:rPr>
              <a:t>oá 105</a:t>
            </a:r>
          </a:p>
        </p:txBody>
      </p:sp>
      <p:sp>
        <p:nvSpPr>
          <p:cNvPr id="68" name="Oval 67">
            <a:extLst>
              <a:ext uri="{FF2B5EF4-FFF2-40B4-BE49-F238E27FC236}">
                <a16:creationId xmlns:a16="http://schemas.microsoft.com/office/drawing/2014/main" id="{33990C09-1DE4-5F99-DA93-C69D347F7180}"/>
              </a:ext>
            </a:extLst>
          </p:cNvPr>
          <p:cNvSpPr/>
          <p:nvPr/>
        </p:nvSpPr>
        <p:spPr>
          <a:xfrm>
            <a:off x="5423796" y="3447447"/>
            <a:ext cx="499902"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25</a:t>
            </a:r>
          </a:p>
        </p:txBody>
      </p:sp>
      <p:cxnSp>
        <p:nvCxnSpPr>
          <p:cNvPr id="69" name="Straight Arrow Connector 68">
            <a:extLst>
              <a:ext uri="{FF2B5EF4-FFF2-40B4-BE49-F238E27FC236}">
                <a16:creationId xmlns:a16="http://schemas.microsoft.com/office/drawing/2014/main" id="{11E37FDE-ECFE-2F9C-5368-423F53FB29AC}"/>
              </a:ext>
            </a:extLst>
          </p:cNvPr>
          <p:cNvCxnSpPr>
            <a:cxnSpLocks/>
            <a:stCxn id="71" idx="4"/>
            <a:endCxn id="72" idx="0"/>
          </p:cNvCxnSpPr>
          <p:nvPr/>
        </p:nvCxnSpPr>
        <p:spPr>
          <a:xfrm>
            <a:off x="6551746" y="2901323"/>
            <a:ext cx="777643" cy="546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7E571F25-40AA-3C8D-7AF0-A08C0A87FB92}"/>
              </a:ext>
            </a:extLst>
          </p:cNvPr>
          <p:cNvCxnSpPr>
            <a:cxnSpLocks/>
            <a:stCxn id="71" idx="4"/>
            <a:endCxn id="68" idx="0"/>
          </p:cNvCxnSpPr>
          <p:nvPr/>
        </p:nvCxnSpPr>
        <p:spPr>
          <a:xfrm flipH="1">
            <a:off x="5673747" y="2901323"/>
            <a:ext cx="877999" cy="546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E3CA8CEA-A608-48F1-39C6-902A3A68813F}"/>
              </a:ext>
            </a:extLst>
          </p:cNvPr>
          <p:cNvSpPr/>
          <p:nvPr/>
        </p:nvSpPr>
        <p:spPr>
          <a:xfrm>
            <a:off x="6301794" y="2501213"/>
            <a:ext cx="499903"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50</a:t>
            </a:r>
          </a:p>
        </p:txBody>
      </p:sp>
      <p:sp>
        <p:nvSpPr>
          <p:cNvPr id="72" name="Oval 71">
            <a:extLst>
              <a:ext uri="{FF2B5EF4-FFF2-40B4-BE49-F238E27FC236}">
                <a16:creationId xmlns:a16="http://schemas.microsoft.com/office/drawing/2014/main" id="{B4CFE973-D3FA-1C9D-2E55-659C4A782461}"/>
              </a:ext>
            </a:extLst>
          </p:cNvPr>
          <p:cNvSpPr/>
          <p:nvPr/>
        </p:nvSpPr>
        <p:spPr>
          <a:xfrm>
            <a:off x="7079437" y="3447447"/>
            <a:ext cx="499903"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80</a:t>
            </a:r>
          </a:p>
        </p:txBody>
      </p:sp>
      <p:cxnSp>
        <p:nvCxnSpPr>
          <p:cNvPr id="73" name="Straight Arrow Connector 72">
            <a:extLst>
              <a:ext uri="{FF2B5EF4-FFF2-40B4-BE49-F238E27FC236}">
                <a16:creationId xmlns:a16="http://schemas.microsoft.com/office/drawing/2014/main" id="{F7DDD4D7-DB42-2746-D7F4-0A7205C0EC97}"/>
              </a:ext>
            </a:extLst>
          </p:cNvPr>
          <p:cNvCxnSpPr>
            <a:cxnSpLocks/>
            <a:endCxn id="74" idx="0"/>
          </p:cNvCxnSpPr>
          <p:nvPr/>
        </p:nvCxnSpPr>
        <p:spPr>
          <a:xfrm>
            <a:off x="7329388" y="3830345"/>
            <a:ext cx="684974" cy="4559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27030B86-BD7A-3BCC-7AC3-254F45B268E7}"/>
              </a:ext>
            </a:extLst>
          </p:cNvPr>
          <p:cNvSpPr/>
          <p:nvPr/>
        </p:nvSpPr>
        <p:spPr>
          <a:xfrm>
            <a:off x="7709014" y="4286305"/>
            <a:ext cx="610696"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100</a:t>
            </a:r>
          </a:p>
        </p:txBody>
      </p:sp>
      <p:sp>
        <p:nvSpPr>
          <p:cNvPr id="75" name="Oval 74">
            <a:extLst>
              <a:ext uri="{FF2B5EF4-FFF2-40B4-BE49-F238E27FC236}">
                <a16:creationId xmlns:a16="http://schemas.microsoft.com/office/drawing/2014/main" id="{03D55740-CF90-2C74-77B0-A375A09554C8}"/>
              </a:ext>
            </a:extLst>
          </p:cNvPr>
          <p:cNvSpPr/>
          <p:nvPr/>
        </p:nvSpPr>
        <p:spPr>
          <a:xfrm>
            <a:off x="6690615" y="4286305"/>
            <a:ext cx="499903"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75</a:t>
            </a:r>
          </a:p>
        </p:txBody>
      </p:sp>
      <p:cxnSp>
        <p:nvCxnSpPr>
          <p:cNvPr id="76" name="Straight Arrow Connector 75">
            <a:extLst>
              <a:ext uri="{FF2B5EF4-FFF2-40B4-BE49-F238E27FC236}">
                <a16:creationId xmlns:a16="http://schemas.microsoft.com/office/drawing/2014/main" id="{B51CE6E3-4ECD-830A-2C5D-0574E70ACA16}"/>
              </a:ext>
            </a:extLst>
          </p:cNvPr>
          <p:cNvCxnSpPr>
            <a:cxnSpLocks/>
            <a:stCxn id="72" idx="4"/>
            <a:endCxn id="75" idx="0"/>
          </p:cNvCxnSpPr>
          <p:nvPr/>
        </p:nvCxnSpPr>
        <p:spPr>
          <a:xfrm flipH="1">
            <a:off x="6940567" y="3847557"/>
            <a:ext cx="388822" cy="4387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Oval 80">
            <a:extLst>
              <a:ext uri="{FF2B5EF4-FFF2-40B4-BE49-F238E27FC236}">
                <a16:creationId xmlns:a16="http://schemas.microsoft.com/office/drawing/2014/main" id="{A242520D-2978-7461-5635-E09D672EA633}"/>
              </a:ext>
            </a:extLst>
          </p:cNvPr>
          <p:cNvSpPr/>
          <p:nvPr/>
        </p:nvSpPr>
        <p:spPr>
          <a:xfrm>
            <a:off x="4808878" y="4286305"/>
            <a:ext cx="499902"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10</a:t>
            </a:r>
          </a:p>
        </p:txBody>
      </p:sp>
      <p:cxnSp>
        <p:nvCxnSpPr>
          <p:cNvPr id="82" name="Straight Arrow Connector 81">
            <a:extLst>
              <a:ext uri="{FF2B5EF4-FFF2-40B4-BE49-F238E27FC236}">
                <a16:creationId xmlns:a16="http://schemas.microsoft.com/office/drawing/2014/main" id="{2B16E05F-8ADC-F3A5-AC1F-74BCFAFC1F09}"/>
              </a:ext>
            </a:extLst>
          </p:cNvPr>
          <p:cNvCxnSpPr>
            <a:cxnSpLocks/>
            <a:stCxn id="68" idx="4"/>
            <a:endCxn id="81" idx="0"/>
          </p:cNvCxnSpPr>
          <p:nvPr/>
        </p:nvCxnSpPr>
        <p:spPr>
          <a:xfrm flipH="1">
            <a:off x="5058829" y="3847557"/>
            <a:ext cx="614918" cy="4387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3" name="Oval 82">
            <a:extLst>
              <a:ext uri="{FF2B5EF4-FFF2-40B4-BE49-F238E27FC236}">
                <a16:creationId xmlns:a16="http://schemas.microsoft.com/office/drawing/2014/main" id="{8E2A8A76-64F1-D7DB-1899-AFD900E6ADE9}"/>
              </a:ext>
            </a:extLst>
          </p:cNvPr>
          <p:cNvSpPr/>
          <p:nvPr/>
        </p:nvSpPr>
        <p:spPr>
          <a:xfrm>
            <a:off x="5862794" y="4282796"/>
            <a:ext cx="499903" cy="40011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30</a:t>
            </a:r>
          </a:p>
        </p:txBody>
      </p:sp>
      <p:cxnSp>
        <p:nvCxnSpPr>
          <p:cNvPr id="84" name="Straight Arrow Connector 83">
            <a:extLst>
              <a:ext uri="{FF2B5EF4-FFF2-40B4-BE49-F238E27FC236}">
                <a16:creationId xmlns:a16="http://schemas.microsoft.com/office/drawing/2014/main" id="{0F2B091F-E3EF-D5AD-E193-DB025B60227F}"/>
              </a:ext>
            </a:extLst>
          </p:cNvPr>
          <p:cNvCxnSpPr>
            <a:cxnSpLocks/>
            <a:endCxn id="83" idx="0"/>
          </p:cNvCxnSpPr>
          <p:nvPr/>
        </p:nvCxnSpPr>
        <p:spPr>
          <a:xfrm>
            <a:off x="5677263" y="3847557"/>
            <a:ext cx="435483" cy="4352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724C86B6-E5A6-6E37-D7CE-934B5D6D75A5}"/>
              </a:ext>
            </a:extLst>
          </p:cNvPr>
          <p:cNvSpPr/>
          <p:nvPr/>
        </p:nvSpPr>
        <p:spPr>
          <a:xfrm>
            <a:off x="6246397" y="5167496"/>
            <a:ext cx="499903" cy="40011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t>45</a:t>
            </a:r>
          </a:p>
        </p:txBody>
      </p:sp>
      <p:cxnSp>
        <p:nvCxnSpPr>
          <p:cNvPr id="86" name="Straight Arrow Connector 85">
            <a:extLst>
              <a:ext uri="{FF2B5EF4-FFF2-40B4-BE49-F238E27FC236}">
                <a16:creationId xmlns:a16="http://schemas.microsoft.com/office/drawing/2014/main" id="{1D399AF6-D4A1-A1CF-F409-E4CF9B0A422B}"/>
              </a:ext>
            </a:extLst>
          </p:cNvPr>
          <p:cNvCxnSpPr>
            <a:cxnSpLocks/>
            <a:endCxn id="85" idx="0"/>
          </p:cNvCxnSpPr>
          <p:nvPr/>
        </p:nvCxnSpPr>
        <p:spPr>
          <a:xfrm>
            <a:off x="6105043" y="4686415"/>
            <a:ext cx="391306" cy="4810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F3889ACE-89F4-3E26-3CEB-EDAEC8FCE429}"/>
              </a:ext>
            </a:extLst>
          </p:cNvPr>
          <p:cNvSpPr txBox="1"/>
          <p:nvPr/>
        </p:nvSpPr>
        <p:spPr>
          <a:xfrm>
            <a:off x="6112745" y="5783410"/>
            <a:ext cx="2423353" cy="307777"/>
          </a:xfrm>
          <a:prstGeom prst="rect">
            <a:avLst/>
          </a:prstGeom>
          <a:noFill/>
        </p:spPr>
        <p:txBody>
          <a:bodyPr wrap="square" rtlCol="0">
            <a:spAutoFit/>
          </a:bodyPr>
          <a:lstStyle/>
          <a:p>
            <a:r>
              <a:rPr lang="en-US" sz="1400" dirty="0">
                <a:solidFill>
                  <a:srgbClr val="BC05B7"/>
                </a:solidFill>
                <a:latin typeface="Lato" panose="020F0502020204030203" pitchFamily="34" charset="0"/>
                <a:ea typeface="Lato" panose="020F0502020204030203" pitchFamily="34" charset="0"/>
                <a:cs typeface="Lato" panose="020F0502020204030203" pitchFamily="34" charset="0"/>
              </a:rPr>
              <a:t>-&gt; </a:t>
            </a:r>
            <a:r>
              <a:rPr lang="en-US" sz="1400" dirty="0" err="1">
                <a:solidFill>
                  <a:srgbClr val="BC05B7"/>
                </a:solidFill>
                <a:latin typeface="Lato" panose="020F0502020204030203" pitchFamily="34" charset="0"/>
                <a:ea typeface="Lato" panose="020F0502020204030203" pitchFamily="34" charset="0"/>
                <a:cs typeface="Lato" panose="020F0502020204030203" pitchFamily="34" charset="0"/>
              </a:rPr>
              <a:t>Đổi</a:t>
            </a:r>
            <a:r>
              <a:rPr lang="en-US" sz="1400" dirty="0">
                <a:solidFill>
                  <a:srgbClr val="BC05B7"/>
                </a:solidFill>
                <a:latin typeface="Lato" panose="020F0502020204030203" pitchFamily="34" charset="0"/>
                <a:ea typeface="Lato" panose="020F0502020204030203" pitchFamily="34" charset="0"/>
                <a:cs typeface="Lato" panose="020F0502020204030203" pitchFamily="34" charset="0"/>
              </a:rPr>
              <a:t> 100 </a:t>
            </a:r>
            <a:r>
              <a:rPr lang="en-US" sz="1400" dirty="0" err="1">
                <a:solidFill>
                  <a:srgbClr val="BC05B7"/>
                </a:solidFill>
                <a:latin typeface="Lato" panose="020F0502020204030203" pitchFamily="34" charset="0"/>
                <a:ea typeface="Lato" panose="020F0502020204030203" pitchFamily="34" charset="0"/>
                <a:cs typeface="Lato" panose="020F0502020204030203" pitchFamily="34" charset="0"/>
              </a:rPr>
              <a:t>từ</a:t>
            </a:r>
            <a:r>
              <a:rPr lang="en-US" sz="1400" dirty="0">
                <a:solidFill>
                  <a:srgbClr val="BC05B7"/>
                </a:solidFill>
                <a:latin typeface="Lato" panose="020F0502020204030203" pitchFamily="34" charset="0"/>
                <a:ea typeface="Lato" panose="020F0502020204030203" pitchFamily="34" charset="0"/>
                <a:cs typeface="Lato" panose="020F0502020204030203" pitchFamily="34" charset="0"/>
              </a:rPr>
              <a:t> </a:t>
            </a:r>
            <a:r>
              <a:rPr lang="en-US" sz="1400" dirty="0" err="1">
                <a:solidFill>
                  <a:srgbClr val="FF0000"/>
                </a:solidFill>
                <a:latin typeface="Lato" panose="020F0502020204030203" pitchFamily="34" charset="0"/>
                <a:ea typeface="Lato" panose="020F0502020204030203" pitchFamily="34" charset="0"/>
                <a:cs typeface="Lato" panose="020F0502020204030203" pitchFamily="34" charset="0"/>
              </a:rPr>
              <a:t>đỏ</a:t>
            </a:r>
            <a:r>
              <a:rPr lang="en-US" sz="1400" dirty="0">
                <a:solidFill>
                  <a:srgbClr val="BC05B7"/>
                </a:solidFill>
                <a:latin typeface="Lato" panose="020F0502020204030203" pitchFamily="34" charset="0"/>
                <a:ea typeface="Lato" panose="020F0502020204030203" pitchFamily="34" charset="0"/>
                <a:cs typeface="Lato" panose="020F0502020204030203" pitchFamily="34" charset="0"/>
              </a:rPr>
              <a:t> </a:t>
            </a:r>
            <a:r>
              <a:rPr lang="en-US" sz="1400" dirty="0" err="1">
                <a:solidFill>
                  <a:srgbClr val="BC05B7"/>
                </a:solidFill>
                <a:latin typeface="Lato" panose="020F0502020204030203" pitchFamily="34" charset="0"/>
                <a:ea typeface="Lato" panose="020F0502020204030203" pitchFamily="34" charset="0"/>
                <a:cs typeface="Lato" panose="020F0502020204030203" pitchFamily="34" charset="0"/>
              </a:rPr>
              <a:t>thành</a:t>
            </a:r>
            <a:r>
              <a:rPr lang="en-US" sz="1400" dirty="0">
                <a:solidFill>
                  <a:srgbClr val="BC05B7"/>
                </a:solidFill>
                <a:latin typeface="Lato" panose="020F0502020204030203" pitchFamily="34" charset="0"/>
                <a:ea typeface="Lato" panose="020F0502020204030203" pitchFamily="34" charset="0"/>
                <a:cs typeface="Lato" panose="020F0502020204030203" pitchFamily="34" charset="0"/>
              </a:rPr>
              <a:t> </a:t>
            </a:r>
            <a:r>
              <a:rPr lang="en-US" sz="1400" dirty="0" err="1">
                <a:latin typeface="Lato" panose="020F0502020204030203" pitchFamily="34" charset="0"/>
                <a:ea typeface="Lato" panose="020F0502020204030203" pitchFamily="34" charset="0"/>
                <a:cs typeface="Lato" panose="020F0502020204030203" pitchFamily="34" charset="0"/>
              </a:rPr>
              <a:t>đen</a:t>
            </a:r>
            <a:endParaRPr lang="en-VN" sz="1400"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68831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xit" presetSubtype="21" fill="hold" grpId="1" nodeType="clickEffect">
                                  <p:stCondLst>
                                    <p:cond delay="0"/>
                                  </p:stCondLst>
                                  <p:childTnLst>
                                    <p:animEffect transition="out" filter="barn(inVertical)">
                                      <p:cBhvr>
                                        <p:cTn id="14" dur="30"/>
                                        <p:tgtEl>
                                          <p:spTgt spid="63"/>
                                        </p:tgtEl>
                                      </p:cBhvr>
                                    </p:animEffect>
                                    <p:set>
                                      <p:cBhvr>
                                        <p:cTn id="15" dur="1" fill="hold">
                                          <p:stCondLst>
                                            <p:cond delay="29"/>
                                          </p:stCondLst>
                                        </p:cTn>
                                        <p:tgtEl>
                                          <p:spTgt spid="63"/>
                                        </p:tgtEl>
                                        <p:attrNameLst>
                                          <p:attrName>style.visibility</p:attrName>
                                        </p:attrNameLst>
                                      </p:cBhvr>
                                      <p:to>
                                        <p:strVal val="hidden"/>
                                      </p:to>
                                    </p:set>
                                  </p:childTnLst>
                                </p:cTn>
                              </p:par>
                              <p:par>
                                <p:cTn id="16" presetID="16" presetClass="exit" presetSubtype="21" fill="hold" grpId="0" nodeType="withEffect">
                                  <p:stCondLst>
                                    <p:cond delay="0"/>
                                  </p:stCondLst>
                                  <p:childTnLst>
                                    <p:animEffect transition="out" filter="barn(inVertical)">
                                      <p:cBhvr>
                                        <p:cTn id="17" dur="30"/>
                                        <p:tgtEl>
                                          <p:spTgt spid="42"/>
                                        </p:tgtEl>
                                      </p:cBhvr>
                                    </p:animEffect>
                                    <p:set>
                                      <p:cBhvr>
                                        <p:cTn id="18" dur="1" fill="hold">
                                          <p:stCondLst>
                                            <p:cond delay="29"/>
                                          </p:stCondLst>
                                        </p:cTn>
                                        <p:tgtEl>
                                          <p:spTgt spid="42"/>
                                        </p:tgtEl>
                                        <p:attrNameLst>
                                          <p:attrName>style.visibility</p:attrName>
                                        </p:attrNameLst>
                                      </p:cBhvr>
                                      <p:to>
                                        <p:strVal val="hidden"/>
                                      </p:to>
                                    </p:set>
                                  </p:childTnLst>
                                </p:cTn>
                              </p:par>
                              <p:par>
                                <p:cTn id="19" presetID="16" presetClass="exit" presetSubtype="21" fill="hold" nodeType="withEffect">
                                  <p:stCondLst>
                                    <p:cond delay="0"/>
                                  </p:stCondLst>
                                  <p:childTnLst>
                                    <p:animEffect transition="out" filter="barn(inVertical)">
                                      <p:cBhvr>
                                        <p:cTn id="20" dur="30"/>
                                        <p:tgtEl>
                                          <p:spTgt spid="41"/>
                                        </p:tgtEl>
                                      </p:cBhvr>
                                    </p:animEffect>
                                    <p:set>
                                      <p:cBhvr>
                                        <p:cTn id="21" dur="1" fill="hold">
                                          <p:stCondLst>
                                            <p:cond delay="29"/>
                                          </p:stCondLst>
                                        </p:cTn>
                                        <p:tgtEl>
                                          <p:spTgt spid="41"/>
                                        </p:tgtEl>
                                        <p:attrNameLst>
                                          <p:attrName>style.visibility</p:attrName>
                                        </p:attrNameLst>
                                      </p:cBhvr>
                                      <p:to>
                                        <p:strVal val="hidden"/>
                                      </p:to>
                                    </p:set>
                                  </p:childTnLst>
                                </p:cTn>
                              </p:par>
                              <p:par>
                                <p:cTn id="22" presetID="16" presetClass="exit" presetSubtype="21" fill="hold" nodeType="withEffect">
                                  <p:stCondLst>
                                    <p:cond delay="0"/>
                                  </p:stCondLst>
                                  <p:childTnLst>
                                    <p:animEffect transition="out" filter="barn(inVertical)">
                                      <p:cBhvr>
                                        <p:cTn id="23" dur="30"/>
                                        <p:tgtEl>
                                          <p:spTgt spid="62"/>
                                        </p:tgtEl>
                                      </p:cBhvr>
                                    </p:animEffect>
                                    <p:set>
                                      <p:cBhvr>
                                        <p:cTn id="24" dur="1" fill="hold">
                                          <p:stCondLst>
                                            <p:cond delay="29"/>
                                          </p:stCondLst>
                                        </p:cTn>
                                        <p:tgtEl>
                                          <p:spTgt spid="62"/>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73"/>
                                        </p:tgtEl>
                                        <p:attrNameLst>
                                          <p:attrName>style.visibility</p:attrName>
                                        </p:attrNameLst>
                                      </p:cBhvr>
                                      <p:to>
                                        <p:strVal val="visible"/>
                                      </p:to>
                                    </p:set>
                                  </p:childTnLst>
                                </p:cTn>
                              </p:par>
                              <p:par>
                                <p:cTn id="51" presetID="1" presetClass="entr" presetSubtype="0" fill="hold" grpId="0" nodeType="withEffect">
                                  <p:stCondLst>
                                    <p:cond delay="0"/>
                                  </p:stCondLst>
                                  <p:iterate type="lt">
                                    <p:tmAbs val="0"/>
                                  </p:iterate>
                                  <p:childTnLst>
                                    <p:set>
                                      <p:cBhvr>
                                        <p:cTn id="52" dur="1" fill="hold">
                                          <p:stCondLst>
                                            <p:cond delay="0"/>
                                          </p:stCondLst>
                                        </p:cTn>
                                        <p:tgtEl>
                                          <p:spTgt spid="7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1"/>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8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3"/>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8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5"/>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8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92"/>
                                        </p:tgtEl>
                                        <p:attrNameLst>
                                          <p:attrName>style.visibility</p:attrName>
                                        </p:attrNameLst>
                                      </p:cBhvr>
                                      <p:to>
                                        <p:strVal val="visible"/>
                                      </p:to>
                                    </p:set>
                                  </p:childTnLst>
                                </p:cTn>
                              </p:par>
                              <p:par>
                                <p:cTn id="73" presetID="16" presetClass="emph" presetSubtype="0" fill="hold" grpId="1" nodeType="withEffect">
                                  <p:stCondLst>
                                    <p:cond delay="0"/>
                                  </p:stCondLst>
                                  <p:iterate type="lt">
                                    <p:tmPct val="4000"/>
                                  </p:iterate>
                                  <p:childTnLst>
                                    <p:set>
                                      <p:cBhvr override="childStyle">
                                        <p:cTn id="74" dur="500" fill="hold"/>
                                        <p:tgtEl>
                                          <p:spTgt spid="74"/>
                                        </p:tgtEl>
                                        <p:attrNameLst>
                                          <p:attrName>style.color</p:attrName>
                                        </p:attrNameLst>
                                      </p:cBhvr>
                                      <p:to>
                                        <p:clrVal>
                                          <a:schemeClr val="tx1"/>
                                        </p:clrVal>
                                      </p:to>
                                    </p:set>
                                    <p:set>
                                      <p:cBhvr>
                                        <p:cTn id="75" dur="500" fill="hold"/>
                                        <p:tgtEl>
                                          <p:spTgt spid="74"/>
                                        </p:tgtEl>
                                        <p:attrNameLst>
                                          <p:attrName>fillcolor</p:attrName>
                                        </p:attrNameLst>
                                      </p:cBhvr>
                                      <p:to>
                                        <p:clrVal>
                                          <a:schemeClr val="tx1"/>
                                        </p:clrVal>
                                      </p:to>
                                    </p:set>
                                    <p:set>
                                      <p:cBhvr>
                                        <p:cTn id="76" dur="500" fill="hold"/>
                                        <p:tgtEl>
                                          <p:spTgt spid="74"/>
                                        </p:tgtEl>
                                        <p:attrNameLst>
                                          <p:attrName>fill.type</p:attrName>
                                        </p:attrNameLst>
                                      </p:cBhvr>
                                      <p:to>
                                        <p:strVal val="solid"/>
                                      </p:to>
                                    </p:set>
                                  </p:childTnLst>
                                </p:cTn>
                              </p:par>
                            </p:childTnLst>
                          </p:cTn>
                        </p:par>
                      </p:childTnLst>
                    </p:cTn>
                  </p:par>
                  <p:par>
                    <p:cTn id="77" fill="hold">
                      <p:stCondLst>
                        <p:cond delay="indefinite"/>
                      </p:stCondLst>
                      <p:childTnLst>
                        <p:par>
                          <p:cTn id="78" fill="hold">
                            <p:stCondLst>
                              <p:cond delay="0"/>
                            </p:stCondLst>
                            <p:childTnLst>
                              <p:par>
                                <p:cTn id="79" presetID="3" presetClass="emph" presetSubtype="2" fill="hold" nodeType="clickEffect">
                                  <p:stCondLst>
                                    <p:cond delay="0"/>
                                  </p:stCondLst>
                                  <p:childTnLst>
                                    <p:animClr clrSpc="rgb" dir="cw">
                                      <p:cBhvr override="childStyle">
                                        <p:cTn id="80" dur="2000" fill="hold"/>
                                        <p:tgtEl>
                                          <p:spTgt spid="74">
                                            <p:txEl>
                                              <p:pRg st="0" end="0"/>
                                            </p:txEl>
                                          </p:spTgt>
                                        </p:tgtEl>
                                        <p:attrNameLst>
                                          <p:attrName>style.color</p:attrName>
                                        </p:attrNameLst>
                                      </p:cBhvr>
                                      <p:to>
                                        <a:schemeClr val="bg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61" grpId="0"/>
      <p:bldP spid="63" grpId="0"/>
      <p:bldP spid="63" grpId="1"/>
      <p:bldP spid="65" grpId="0" animBg="1"/>
      <p:bldP spid="66" grpId="0"/>
      <p:bldP spid="67" grpId="0"/>
      <p:bldP spid="68" grpId="0" animBg="1"/>
      <p:bldP spid="71" grpId="0" animBg="1"/>
      <p:bldP spid="72" grpId="0" animBg="1"/>
      <p:bldP spid="74" grpId="0" animBg="1"/>
      <p:bldP spid="74" grpId="1" animBg="1"/>
      <p:bldP spid="75" grpId="0" animBg="1"/>
      <p:bldP spid="81" grpId="0" animBg="1"/>
      <p:bldP spid="83" grpId="0" animBg="1"/>
      <p:bldP spid="85" grpId="0" animBg="1"/>
      <p:bldP spid="9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E207-A869-B342-B6D9-77005A268D98}"/>
              </a:ext>
            </a:extLst>
          </p:cNvPr>
          <p:cNvSpPr>
            <a:spLocks noGrp="1"/>
          </p:cNvSpPr>
          <p:nvPr>
            <p:ph type="title"/>
          </p:nvPr>
        </p:nvSpPr>
        <p:spPr/>
        <p:txBody>
          <a:bodyPr/>
          <a:lstStyle/>
          <a:p>
            <a:r>
              <a:rPr lang="en-US" dirty="0"/>
              <a:t>ỨNG DỤNG THỰC TẾ</a:t>
            </a:r>
          </a:p>
        </p:txBody>
      </p:sp>
      <p:sp>
        <p:nvSpPr>
          <p:cNvPr id="5" name="Slide Number Placeholder 4">
            <a:extLst>
              <a:ext uri="{FF2B5EF4-FFF2-40B4-BE49-F238E27FC236}">
                <a16:creationId xmlns:a16="http://schemas.microsoft.com/office/drawing/2014/main" id="{853CF161-A6C1-F8C7-C9A5-5CD5BD5C176E}"/>
              </a:ext>
            </a:extLst>
          </p:cNvPr>
          <p:cNvSpPr>
            <a:spLocks noGrp="1"/>
          </p:cNvSpPr>
          <p:nvPr>
            <p:ph type="sldNum" sz="quarter" idx="12"/>
          </p:nvPr>
        </p:nvSpPr>
        <p:spPr/>
        <p:txBody>
          <a:bodyPr/>
          <a:lstStyle/>
          <a:p>
            <a:fld id="{9EA0BE3B-158A-4EDF-80DC-E394A0D1600F}" type="slidenum">
              <a:rPr lang="en-US" smtClean="0"/>
              <a:pPr/>
              <a:t>37</a:t>
            </a:fld>
            <a:endParaRPr lang="en-US" dirty="0"/>
          </a:p>
        </p:txBody>
      </p:sp>
      <p:sp>
        <p:nvSpPr>
          <p:cNvPr id="3" name="TextBox 2">
            <a:extLst>
              <a:ext uri="{FF2B5EF4-FFF2-40B4-BE49-F238E27FC236}">
                <a16:creationId xmlns:a16="http://schemas.microsoft.com/office/drawing/2014/main" id="{F759C263-C8B9-0AA8-986D-9B8A6A7F6325}"/>
              </a:ext>
            </a:extLst>
          </p:cNvPr>
          <p:cNvSpPr txBox="1"/>
          <p:nvPr/>
        </p:nvSpPr>
        <p:spPr>
          <a:xfrm>
            <a:off x="354330" y="1156587"/>
            <a:ext cx="8435340" cy="1015663"/>
          </a:xfrm>
          <a:prstGeom prst="rect">
            <a:avLst/>
          </a:prstGeom>
          <a:noFill/>
        </p:spPr>
        <p:txBody>
          <a:bodyPr wrap="square" rtlCol="0">
            <a:spAutoFit/>
          </a:bodyPr>
          <a:lstStyle/>
          <a:p>
            <a:r>
              <a:rPr lang="vi-VN" sz="2000" b="0" i="0" dirty="0">
                <a:solidFill>
                  <a:srgbClr val="FF0000"/>
                </a:solidFill>
                <a:effectLst/>
                <a:latin typeface="Lato" panose="020F0502020204030203" pitchFamily="34" charset="0"/>
                <a:ea typeface="Lato" panose="020F0502020204030203" pitchFamily="34" charset="0"/>
                <a:cs typeface="Lato" panose="020F0502020204030203" pitchFamily="34" charset="0"/>
              </a:rPr>
              <a:t>Cây Đỏ-Đen </a:t>
            </a:r>
            <a:r>
              <a:rPr lang="vi-VN" sz="2000" b="0" i="0" dirty="0">
                <a:effectLst/>
                <a:latin typeface="Lato" panose="020F0502020204030203" pitchFamily="34" charset="0"/>
                <a:ea typeface="Lato" panose="020F0502020204030203" pitchFamily="34" charset="0"/>
                <a:cs typeface="Lato" panose="020F0502020204030203" pitchFamily="34" charset="0"/>
              </a:rPr>
              <a:t>vẫn là một cấu trúc dữ liệu thực tế quan trọng vì chúng đảm bảo thời gian xử lý trường hợp xấu nhất O(log n) cho các thao tác chèn, xóa và tra cứu, đồng thời tương đối đơn giản và hiệu quả khi triển khai. </a:t>
            </a:r>
          </a:p>
        </p:txBody>
      </p:sp>
      <p:sp>
        <p:nvSpPr>
          <p:cNvPr id="4" name="TextBox 3">
            <a:extLst>
              <a:ext uri="{FF2B5EF4-FFF2-40B4-BE49-F238E27FC236}">
                <a16:creationId xmlns:a16="http://schemas.microsoft.com/office/drawing/2014/main" id="{D857B26E-CDD9-EC46-643A-7540A6E01817}"/>
              </a:ext>
            </a:extLst>
          </p:cNvPr>
          <p:cNvSpPr txBox="1"/>
          <p:nvPr/>
        </p:nvSpPr>
        <p:spPr>
          <a:xfrm>
            <a:off x="354330" y="832783"/>
            <a:ext cx="4880610" cy="400110"/>
          </a:xfrm>
          <a:prstGeom prst="rect">
            <a:avLst/>
          </a:prstGeom>
          <a:noFill/>
        </p:spPr>
        <p:txBody>
          <a:bodyPr wrap="square" rtlCol="0">
            <a:spAutoFit/>
          </a:bodyPr>
          <a:lstStyle/>
          <a:p>
            <a:r>
              <a:rPr lang="vi-VN" sz="2000" b="0" i="0" dirty="0">
                <a:solidFill>
                  <a:srgbClr val="7030A0"/>
                </a:solidFill>
                <a:effectLst/>
                <a:latin typeface="Lato" panose="020F0502020204030203" pitchFamily="34" charset="0"/>
                <a:ea typeface="Lato" panose="020F0502020204030203" pitchFamily="34" charset="0"/>
                <a:cs typeface="Lato" panose="020F0502020204030203" pitchFamily="34" charset="0"/>
              </a:rPr>
              <a:t>Các ứng dụng thực tế ngày nay bao gồm:</a:t>
            </a:r>
            <a:endParaRPr lang="en-VN" sz="2000" dirty="0">
              <a:solidFill>
                <a:srgbClr val="7030A0"/>
              </a:solidFill>
              <a:latin typeface="Lato" panose="020F0502020204030203" pitchFamily="34" charset="0"/>
              <a:ea typeface="Lato" panose="020F0502020204030203" pitchFamily="34" charset="0"/>
              <a:cs typeface="Lato" panose="020F0502020204030203" pitchFamily="34" charset="0"/>
            </a:endParaRPr>
          </a:p>
        </p:txBody>
      </p:sp>
      <p:pic>
        <p:nvPicPr>
          <p:cNvPr id="8" name="Picture 7" descr="A screen shot of a computer program&#10;&#10;Description automatically generated">
            <a:extLst>
              <a:ext uri="{FF2B5EF4-FFF2-40B4-BE49-F238E27FC236}">
                <a16:creationId xmlns:a16="http://schemas.microsoft.com/office/drawing/2014/main" id="{145ECCF7-ED42-DD42-99BF-7856279F03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30439" y="1664418"/>
            <a:ext cx="5511800" cy="3136900"/>
          </a:xfrm>
          <a:prstGeom prst="rect">
            <a:avLst/>
          </a:prstGeom>
        </p:spPr>
      </p:pic>
    </p:spTree>
    <p:extLst>
      <p:ext uri="{BB962C8B-B14F-4D97-AF65-F5344CB8AC3E}">
        <p14:creationId xmlns:p14="http://schemas.microsoft.com/office/powerpoint/2010/main" val="3651498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xit" presetSubtype="0" fill="hold" grpId="0" nodeType="clickEffect">
                                  <p:stCondLst>
                                    <p:cond delay="0"/>
                                  </p:stCondLst>
                                  <p:childTnLst>
                                    <p:animEffect transition="out" filter="fade">
                                      <p:cBhvr>
                                        <p:cTn id="6" dur="500"/>
                                        <p:tgtEl>
                                          <p:spTgt spid="3"/>
                                        </p:tgtEl>
                                      </p:cBhvr>
                                    </p:animEffect>
                                    <p:anim calcmode="lin" valueType="num">
                                      <p:cBhvr>
                                        <p:cTn id="7" dur="500"/>
                                        <p:tgtEl>
                                          <p:spTgt spid="3"/>
                                        </p:tgtEl>
                                        <p:attrNameLst>
                                          <p:attrName>ppt_x</p:attrName>
                                        </p:attrNameLst>
                                      </p:cBhvr>
                                      <p:tavLst>
                                        <p:tav tm="0">
                                          <p:val>
                                            <p:strVal val="ppt_x"/>
                                          </p:val>
                                        </p:tav>
                                        <p:tav tm="100000">
                                          <p:val>
                                            <p:strVal val="ppt_x"/>
                                          </p:val>
                                        </p:tav>
                                      </p:tavLst>
                                    </p:anim>
                                    <p:anim calcmode="lin" valueType="num">
                                      <p:cBhvr>
                                        <p:cTn id="8" dur="500"/>
                                        <p:tgtEl>
                                          <p:spTgt spid="3"/>
                                        </p:tgtEl>
                                        <p:attrNameLst>
                                          <p:attrName>ppt_y</p:attrName>
                                        </p:attrNameLst>
                                      </p:cBhvr>
                                      <p:tavLst>
                                        <p:tav tm="0">
                                          <p:val>
                                            <p:strVal val="ppt_y"/>
                                          </p:val>
                                        </p:tav>
                                        <p:tav tm="100000">
                                          <p:val>
                                            <p:strVal val="ppt_y-.1"/>
                                          </p:val>
                                        </p:tav>
                                      </p:tavLst>
                                    </p:anim>
                                    <p:set>
                                      <p:cBhvr>
                                        <p:cTn id="9" dur="1" fill="hold">
                                          <p:stCondLst>
                                            <p:cond delay="499"/>
                                          </p:stCondLst>
                                        </p:cTn>
                                        <p:tgtEl>
                                          <p:spTgt spid="3"/>
                                        </p:tgtEl>
                                        <p:attrNameLst>
                                          <p:attrName>style.visibility</p:attrName>
                                        </p:attrNameLst>
                                      </p:cBhvr>
                                      <p:to>
                                        <p:strVal val="hidden"/>
                                      </p:to>
                                    </p:set>
                                  </p:childTnLst>
                                </p:cTn>
                              </p:par>
                              <p:par>
                                <p:cTn id="10" presetID="37"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900" decel="100000" fill="hold"/>
                                        <p:tgtEl>
                                          <p:spTgt spid="4"/>
                                        </p:tgtEl>
                                        <p:attrNameLst>
                                          <p:attrName>ppt_y</p:attrName>
                                        </p:attrNameLst>
                                      </p:cBhvr>
                                      <p:tavLst>
                                        <p:tav tm="0">
                                          <p:val>
                                            <p:strVal val="#ppt_y+1"/>
                                          </p:val>
                                        </p:tav>
                                        <p:tav tm="100000">
                                          <p:val>
                                            <p:strVal val="#ppt_y-.03"/>
                                          </p:val>
                                        </p:tav>
                                      </p:tavLst>
                                    </p:anim>
                                    <p:anim calcmode="lin" valueType="num">
                                      <p:cBhvr>
                                        <p:cTn id="15"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E207-A869-B342-B6D9-77005A268D98}"/>
              </a:ext>
            </a:extLst>
          </p:cNvPr>
          <p:cNvSpPr>
            <a:spLocks noGrp="1"/>
          </p:cNvSpPr>
          <p:nvPr>
            <p:ph type="title"/>
          </p:nvPr>
        </p:nvSpPr>
        <p:spPr/>
        <p:txBody>
          <a:bodyPr/>
          <a:lstStyle/>
          <a:p>
            <a:r>
              <a:rPr lang="en-US" dirty="0"/>
              <a:t>ỨNG DỤNG THỰC TẾ</a:t>
            </a:r>
          </a:p>
        </p:txBody>
      </p:sp>
      <p:sp>
        <p:nvSpPr>
          <p:cNvPr id="5" name="Slide Number Placeholder 4">
            <a:extLst>
              <a:ext uri="{FF2B5EF4-FFF2-40B4-BE49-F238E27FC236}">
                <a16:creationId xmlns:a16="http://schemas.microsoft.com/office/drawing/2014/main" id="{853CF161-A6C1-F8C7-C9A5-5CD5BD5C176E}"/>
              </a:ext>
            </a:extLst>
          </p:cNvPr>
          <p:cNvSpPr>
            <a:spLocks noGrp="1"/>
          </p:cNvSpPr>
          <p:nvPr>
            <p:ph type="sldNum" sz="quarter" idx="12"/>
          </p:nvPr>
        </p:nvSpPr>
        <p:spPr/>
        <p:txBody>
          <a:bodyPr/>
          <a:lstStyle/>
          <a:p>
            <a:fld id="{9EA0BE3B-158A-4EDF-80DC-E394A0D1600F}" type="slidenum">
              <a:rPr lang="en-US" smtClean="0"/>
              <a:pPr/>
              <a:t>38</a:t>
            </a:fld>
            <a:endParaRPr lang="en-US" dirty="0"/>
          </a:p>
        </p:txBody>
      </p:sp>
      <p:sp>
        <p:nvSpPr>
          <p:cNvPr id="4" name="TextBox 3">
            <a:extLst>
              <a:ext uri="{FF2B5EF4-FFF2-40B4-BE49-F238E27FC236}">
                <a16:creationId xmlns:a16="http://schemas.microsoft.com/office/drawing/2014/main" id="{D857B26E-CDD9-EC46-643A-7540A6E01817}"/>
              </a:ext>
            </a:extLst>
          </p:cNvPr>
          <p:cNvSpPr txBox="1"/>
          <p:nvPr/>
        </p:nvSpPr>
        <p:spPr>
          <a:xfrm>
            <a:off x="354330" y="832783"/>
            <a:ext cx="4880610" cy="400110"/>
          </a:xfrm>
          <a:prstGeom prst="rect">
            <a:avLst/>
          </a:prstGeom>
          <a:noFill/>
        </p:spPr>
        <p:txBody>
          <a:bodyPr wrap="square" rtlCol="0">
            <a:spAutoFit/>
          </a:bodyPr>
          <a:lstStyle/>
          <a:p>
            <a:r>
              <a:rPr lang="vi-VN" sz="2000" b="0" i="0" dirty="0">
                <a:solidFill>
                  <a:srgbClr val="7030A0"/>
                </a:solidFill>
                <a:effectLst/>
                <a:latin typeface="Lato" panose="020F0502020204030203" pitchFamily="34" charset="0"/>
                <a:ea typeface="Lato" panose="020F0502020204030203" pitchFamily="34" charset="0"/>
                <a:cs typeface="Lato" panose="020F0502020204030203" pitchFamily="34" charset="0"/>
              </a:rPr>
              <a:t>Các ứng dụng thực tế ngày nay bao gồm:</a:t>
            </a:r>
            <a:endParaRPr lang="en-VN" sz="2000" dirty="0">
              <a:solidFill>
                <a:srgbClr val="7030A0"/>
              </a:solidFill>
              <a:latin typeface="Lato" panose="020F0502020204030203" pitchFamily="34" charset="0"/>
              <a:ea typeface="Lato" panose="020F0502020204030203" pitchFamily="34" charset="0"/>
              <a:cs typeface="Lato" panose="020F0502020204030203" pitchFamily="34" charset="0"/>
            </a:endParaRPr>
          </a:p>
        </p:txBody>
      </p:sp>
      <p:sp>
        <p:nvSpPr>
          <p:cNvPr id="6" name="TextBox 5">
            <a:extLst>
              <a:ext uri="{FF2B5EF4-FFF2-40B4-BE49-F238E27FC236}">
                <a16:creationId xmlns:a16="http://schemas.microsoft.com/office/drawing/2014/main" id="{0A0C6A31-8A29-4C76-FE69-27C02296F26E}"/>
              </a:ext>
            </a:extLst>
          </p:cNvPr>
          <p:cNvSpPr txBox="1"/>
          <p:nvPr/>
        </p:nvSpPr>
        <p:spPr>
          <a:xfrm>
            <a:off x="779929" y="1232893"/>
            <a:ext cx="4787153" cy="369332"/>
          </a:xfrm>
          <a:prstGeom prst="rect">
            <a:avLst/>
          </a:prstGeom>
          <a:noFill/>
        </p:spPr>
        <p:txBody>
          <a:bodyPr wrap="square" rtlCol="0">
            <a:spAutoFit/>
          </a:bodyPr>
          <a:lstStyle/>
          <a:p>
            <a:r>
              <a:rPr lang="en-VN" i="1" dirty="0">
                <a:latin typeface="Lato" panose="020F0502020204030203" pitchFamily="34" charset="0"/>
                <a:ea typeface="Lato" panose="020F0502020204030203" pitchFamily="34" charset="0"/>
                <a:cs typeface="Lato" panose="020F0502020204030203" pitchFamily="34" charset="0"/>
              </a:rPr>
              <a:t>- Thư viện cốt lõi và thời gian chạy ngôn ngữ</a:t>
            </a:r>
          </a:p>
        </p:txBody>
      </p:sp>
      <p:pic>
        <p:nvPicPr>
          <p:cNvPr id="8" name="Picture 7" descr="A screen shot of a computer program&#10;&#10;Description automatically generated">
            <a:extLst>
              <a:ext uri="{FF2B5EF4-FFF2-40B4-BE49-F238E27FC236}">
                <a16:creationId xmlns:a16="http://schemas.microsoft.com/office/drawing/2014/main" id="{8859E023-4369-87C4-7056-B1122EEE6D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6100" y="1745133"/>
            <a:ext cx="5511800" cy="3136900"/>
          </a:xfrm>
          <a:prstGeom prst="rect">
            <a:avLst/>
          </a:prstGeom>
        </p:spPr>
      </p:pic>
      <p:sp>
        <p:nvSpPr>
          <p:cNvPr id="9" name="TextBox 8">
            <a:extLst>
              <a:ext uri="{FF2B5EF4-FFF2-40B4-BE49-F238E27FC236}">
                <a16:creationId xmlns:a16="http://schemas.microsoft.com/office/drawing/2014/main" id="{CE268922-6078-0EDD-E7FC-E8988574F3A0}"/>
              </a:ext>
            </a:extLst>
          </p:cNvPr>
          <p:cNvSpPr txBox="1"/>
          <p:nvPr/>
        </p:nvSpPr>
        <p:spPr>
          <a:xfrm>
            <a:off x="450724" y="5024942"/>
            <a:ext cx="8458199" cy="1200329"/>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std::map </a:t>
            </a:r>
            <a:r>
              <a:rPr lang="en-US" dirty="0" err="1">
                <a:latin typeface="Lato" panose="020F0502020204030203" pitchFamily="34" charset="0"/>
                <a:ea typeface="Lato" panose="020F0502020204030203" pitchFamily="34" charset="0"/>
                <a:cs typeface="Lato" panose="020F0502020204030203" pitchFamily="34" charset="0"/>
              </a:rPr>
              <a:t>tự</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động</a:t>
            </a:r>
            <a:r>
              <a:rPr lang="en-US" dirty="0">
                <a:latin typeface="Lato" panose="020F0502020204030203" pitchFamily="34" charset="0"/>
                <a:ea typeface="Lato" panose="020F0502020204030203" pitchFamily="34" charset="0"/>
                <a:cs typeface="Lato" panose="020F0502020204030203" pitchFamily="34" charset="0"/>
              </a:rPr>
              <a:t> </a:t>
            </a:r>
            <a:r>
              <a:rPr lang="en-US" b="1" dirty="0" err="1">
                <a:latin typeface="Lato" panose="020F0502020204030203" pitchFamily="34" charset="0"/>
                <a:ea typeface="Lato" panose="020F0502020204030203" pitchFamily="34" charset="0"/>
                <a:cs typeface="Lato" panose="020F0502020204030203" pitchFamily="34" charset="0"/>
              </a:rPr>
              <a:t>duy</a:t>
            </a:r>
            <a:r>
              <a:rPr lang="en-US" b="1" dirty="0">
                <a:latin typeface="Lato" panose="020F0502020204030203" pitchFamily="34" charset="0"/>
                <a:ea typeface="Lato" panose="020F0502020204030203" pitchFamily="34" charset="0"/>
                <a:cs typeface="Lato" panose="020F0502020204030203" pitchFamily="34" charset="0"/>
              </a:rPr>
              <a:t> </a:t>
            </a:r>
            <a:r>
              <a:rPr lang="en-US" b="1" dirty="0" err="1">
                <a:latin typeface="Lato" panose="020F0502020204030203" pitchFamily="34" charset="0"/>
                <a:ea typeface="Lato" panose="020F0502020204030203" pitchFamily="34" charset="0"/>
                <a:cs typeface="Lato" panose="020F0502020204030203" pitchFamily="34" charset="0"/>
              </a:rPr>
              <a:t>trì</a:t>
            </a:r>
            <a:r>
              <a:rPr lang="en-US" b="1" dirty="0">
                <a:latin typeface="Lato" panose="020F0502020204030203" pitchFamily="34" charset="0"/>
                <a:ea typeface="Lato" panose="020F0502020204030203" pitchFamily="34" charset="0"/>
                <a:cs typeface="Lato" panose="020F0502020204030203" pitchFamily="34" charset="0"/>
              </a:rPr>
              <a:t> </a:t>
            </a:r>
            <a:r>
              <a:rPr lang="en-US" b="1" dirty="0" err="1">
                <a:latin typeface="Lato" panose="020F0502020204030203" pitchFamily="34" charset="0"/>
                <a:ea typeface="Lato" panose="020F0502020204030203" pitchFamily="34" charset="0"/>
                <a:cs typeface="Lato" panose="020F0502020204030203" pitchFamily="34" charset="0"/>
              </a:rPr>
              <a:t>thứ</a:t>
            </a:r>
            <a:r>
              <a:rPr lang="en-US" b="1" dirty="0">
                <a:latin typeface="Lato" panose="020F0502020204030203" pitchFamily="34" charset="0"/>
                <a:ea typeface="Lato" panose="020F0502020204030203" pitchFamily="34" charset="0"/>
                <a:cs typeface="Lato" panose="020F0502020204030203" pitchFamily="34" charset="0"/>
              </a:rPr>
              <a:t> </a:t>
            </a:r>
            <a:r>
              <a:rPr lang="en-US" b="1" dirty="0" err="1">
                <a:latin typeface="Lato" panose="020F0502020204030203" pitchFamily="34" charset="0"/>
                <a:ea typeface="Lato" panose="020F0502020204030203" pitchFamily="34" charset="0"/>
                <a:cs typeface="Lato" panose="020F0502020204030203" pitchFamily="34" charset="0"/>
              </a:rPr>
              <a:t>tự</a:t>
            </a:r>
            <a:r>
              <a:rPr lang="en-US" b="1" dirty="0">
                <a:latin typeface="Lato" panose="020F0502020204030203" pitchFamily="34" charset="0"/>
                <a:ea typeface="Lato" panose="020F0502020204030203" pitchFamily="34" charset="0"/>
                <a:cs typeface="Lato" panose="020F0502020204030203" pitchFamily="34" charset="0"/>
              </a:rPr>
              <a:t> </a:t>
            </a:r>
            <a:r>
              <a:rPr lang="en-US" b="1" dirty="0" err="1">
                <a:latin typeface="Lato" panose="020F0502020204030203" pitchFamily="34" charset="0"/>
                <a:ea typeface="Lato" panose="020F0502020204030203" pitchFamily="34" charset="0"/>
                <a:cs typeface="Lato" panose="020F0502020204030203" pitchFamily="34" charset="0"/>
              </a:rPr>
              <a:t>tăng</a:t>
            </a:r>
            <a:r>
              <a:rPr lang="en-US" b="1" dirty="0">
                <a:latin typeface="Lato" panose="020F0502020204030203" pitchFamily="34" charset="0"/>
                <a:ea typeface="Lato" panose="020F0502020204030203" pitchFamily="34" charset="0"/>
                <a:cs typeface="Lato" panose="020F0502020204030203" pitchFamily="34" charset="0"/>
              </a:rPr>
              <a:t> </a:t>
            </a:r>
            <a:r>
              <a:rPr lang="en-US" b="1" dirty="0" err="1">
                <a:latin typeface="Lato" panose="020F0502020204030203" pitchFamily="34" charset="0"/>
                <a:ea typeface="Lato" panose="020F0502020204030203" pitchFamily="34" charset="0"/>
                <a:cs typeface="Lato" panose="020F0502020204030203" pitchFamily="34" charset="0"/>
              </a:rPr>
              <a:t>dần</a:t>
            </a:r>
            <a:r>
              <a:rPr lang="en-US" b="1" dirty="0">
                <a:latin typeface="Lato" panose="020F0502020204030203" pitchFamily="34" charset="0"/>
                <a:ea typeface="Lato" panose="020F0502020204030203" pitchFamily="34" charset="0"/>
                <a:cs typeface="Lato" panose="020F0502020204030203" pitchFamily="34" charset="0"/>
              </a:rPr>
              <a:t> </a:t>
            </a:r>
            <a:r>
              <a:rPr lang="en-US" b="1" dirty="0" err="1">
                <a:latin typeface="Lato" panose="020F0502020204030203" pitchFamily="34" charset="0"/>
                <a:ea typeface="Lato" panose="020F0502020204030203" pitchFamily="34" charset="0"/>
                <a:cs typeface="Lato" panose="020F0502020204030203" pitchFamily="34" charset="0"/>
              </a:rPr>
              <a:t>của</a:t>
            </a:r>
            <a:r>
              <a:rPr lang="en-US" b="1" dirty="0">
                <a:latin typeface="Lato" panose="020F0502020204030203" pitchFamily="34" charset="0"/>
                <a:ea typeface="Lato" panose="020F0502020204030203" pitchFamily="34" charset="0"/>
                <a:cs typeface="Lato" panose="020F0502020204030203" pitchFamily="34" charset="0"/>
              </a:rPr>
              <a:t> key</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nhờ</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cấu</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trúc</a:t>
            </a:r>
            <a:r>
              <a:rPr lang="en-US" dirty="0">
                <a:latin typeface="Lato" panose="020F0502020204030203" pitchFamily="34" charset="0"/>
                <a:ea typeface="Lato" panose="020F0502020204030203" pitchFamily="34" charset="0"/>
                <a:cs typeface="Lato" panose="020F0502020204030203" pitchFamily="34" charset="0"/>
              </a:rPr>
              <a:t> Red-Black Tree.</a:t>
            </a:r>
          </a:p>
          <a:p>
            <a:pPr marL="285750" indent="-285750">
              <a:buFont typeface="Arial" panose="020B0604020202020204" pitchFamily="34" charset="0"/>
              <a:buChar char="•"/>
            </a:pPr>
            <a:r>
              <a:rPr lang="vi-VN" dirty="0">
                <a:latin typeface="Lato" panose="020F0502020204030203" pitchFamily="34" charset="0"/>
                <a:ea typeface="Lato" panose="020F0502020204030203" pitchFamily="34" charset="0"/>
                <a:cs typeface="Lato" panose="020F0502020204030203" pitchFamily="34" charset="0"/>
              </a:rPr>
              <a:t>C++: std::map và std::set thường được triển khai dưới dạng cây cân bằng có thứ tự (thường là cây Đỏ-Đen), cung cấp các vùng chứa liên kết có thứ tự với các phép toán logarit.</a:t>
            </a:r>
          </a:p>
        </p:txBody>
      </p:sp>
      <p:pic>
        <p:nvPicPr>
          <p:cNvPr id="7" name="Picture 6">
            <a:extLst>
              <a:ext uri="{FF2B5EF4-FFF2-40B4-BE49-F238E27FC236}">
                <a16:creationId xmlns:a16="http://schemas.microsoft.com/office/drawing/2014/main" id="{ACFED486-D4CD-1CEE-772A-A63BF3C2F13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960100" y="2252266"/>
            <a:ext cx="5511800" cy="2353467"/>
          </a:xfrm>
          <a:prstGeom prst="rect">
            <a:avLst/>
          </a:prstGeom>
        </p:spPr>
      </p:pic>
      <p:sp>
        <p:nvSpPr>
          <p:cNvPr id="10" name="TextBox 9">
            <a:extLst>
              <a:ext uri="{FF2B5EF4-FFF2-40B4-BE49-F238E27FC236}">
                <a16:creationId xmlns:a16="http://schemas.microsoft.com/office/drawing/2014/main" id="{D0866E11-071E-E539-BF7D-4BDAD89A1F81}"/>
              </a:ext>
            </a:extLst>
          </p:cNvPr>
          <p:cNvSpPr txBox="1"/>
          <p:nvPr/>
        </p:nvSpPr>
        <p:spPr>
          <a:xfrm>
            <a:off x="6187929" y="1417558"/>
            <a:ext cx="796835" cy="369332"/>
          </a:xfrm>
          <a:prstGeom prst="rect">
            <a:avLst/>
          </a:prstGeom>
          <a:noFill/>
        </p:spPr>
        <p:txBody>
          <a:bodyPr wrap="square" rtlCol="0">
            <a:spAutoFit/>
          </a:bodyPr>
          <a:lstStyle/>
          <a:p>
            <a:r>
              <a:rPr lang="en-VN" dirty="0">
                <a:solidFill>
                  <a:srgbClr val="C00000"/>
                </a:solidFill>
                <a:latin typeface="Lato" panose="020F0502020204030203" pitchFamily="34" charset="0"/>
                <a:ea typeface="Lato" panose="020F0502020204030203" pitchFamily="34" charset="0"/>
                <a:cs typeface="Lato" panose="020F0502020204030203" pitchFamily="34" charset="0"/>
              </a:rPr>
              <a:t>C++</a:t>
            </a:r>
          </a:p>
        </p:txBody>
      </p:sp>
    </p:spTree>
    <p:extLst>
      <p:ext uri="{BB962C8B-B14F-4D97-AF65-F5344CB8AC3E}">
        <p14:creationId xmlns:p14="http://schemas.microsoft.com/office/powerpoint/2010/main" val="22201723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E207-A869-B342-B6D9-77005A268D98}"/>
              </a:ext>
            </a:extLst>
          </p:cNvPr>
          <p:cNvSpPr>
            <a:spLocks noGrp="1"/>
          </p:cNvSpPr>
          <p:nvPr>
            <p:ph type="title"/>
          </p:nvPr>
        </p:nvSpPr>
        <p:spPr/>
        <p:txBody>
          <a:bodyPr/>
          <a:lstStyle/>
          <a:p>
            <a:r>
              <a:rPr lang="en-US" dirty="0"/>
              <a:t>ỨNG DỤNG THỰC TẾ</a:t>
            </a:r>
          </a:p>
        </p:txBody>
      </p:sp>
      <p:sp>
        <p:nvSpPr>
          <p:cNvPr id="5" name="Slide Number Placeholder 4">
            <a:extLst>
              <a:ext uri="{FF2B5EF4-FFF2-40B4-BE49-F238E27FC236}">
                <a16:creationId xmlns:a16="http://schemas.microsoft.com/office/drawing/2014/main" id="{853CF161-A6C1-F8C7-C9A5-5CD5BD5C176E}"/>
              </a:ext>
            </a:extLst>
          </p:cNvPr>
          <p:cNvSpPr>
            <a:spLocks noGrp="1"/>
          </p:cNvSpPr>
          <p:nvPr>
            <p:ph type="sldNum" sz="quarter" idx="12"/>
          </p:nvPr>
        </p:nvSpPr>
        <p:spPr/>
        <p:txBody>
          <a:bodyPr/>
          <a:lstStyle/>
          <a:p>
            <a:fld id="{9EA0BE3B-158A-4EDF-80DC-E394A0D1600F}" type="slidenum">
              <a:rPr lang="en-US" smtClean="0"/>
              <a:pPr/>
              <a:t>39</a:t>
            </a:fld>
            <a:endParaRPr lang="en-US" dirty="0"/>
          </a:p>
        </p:txBody>
      </p:sp>
      <p:sp>
        <p:nvSpPr>
          <p:cNvPr id="4" name="TextBox 3">
            <a:extLst>
              <a:ext uri="{FF2B5EF4-FFF2-40B4-BE49-F238E27FC236}">
                <a16:creationId xmlns:a16="http://schemas.microsoft.com/office/drawing/2014/main" id="{D857B26E-CDD9-EC46-643A-7540A6E01817}"/>
              </a:ext>
            </a:extLst>
          </p:cNvPr>
          <p:cNvSpPr txBox="1"/>
          <p:nvPr/>
        </p:nvSpPr>
        <p:spPr>
          <a:xfrm>
            <a:off x="354330" y="832783"/>
            <a:ext cx="4880610" cy="400110"/>
          </a:xfrm>
          <a:prstGeom prst="rect">
            <a:avLst/>
          </a:prstGeom>
          <a:noFill/>
        </p:spPr>
        <p:txBody>
          <a:bodyPr wrap="square" rtlCol="0">
            <a:spAutoFit/>
          </a:bodyPr>
          <a:lstStyle/>
          <a:p>
            <a:r>
              <a:rPr lang="vi-VN" sz="2000" b="0" i="0" dirty="0">
                <a:solidFill>
                  <a:srgbClr val="7030A0"/>
                </a:solidFill>
                <a:effectLst/>
                <a:latin typeface="Lato" panose="020F0502020204030203" pitchFamily="34" charset="0"/>
                <a:ea typeface="Lato" panose="020F0502020204030203" pitchFamily="34" charset="0"/>
                <a:cs typeface="Lato" panose="020F0502020204030203" pitchFamily="34" charset="0"/>
              </a:rPr>
              <a:t>Các ứng dụng thực tế ngày nay bao gồm:</a:t>
            </a:r>
            <a:endParaRPr lang="en-VN" sz="2000" dirty="0">
              <a:solidFill>
                <a:srgbClr val="7030A0"/>
              </a:solidFill>
              <a:latin typeface="Lato" panose="020F0502020204030203" pitchFamily="34" charset="0"/>
              <a:ea typeface="Lato" panose="020F0502020204030203" pitchFamily="34" charset="0"/>
              <a:cs typeface="Lato" panose="020F0502020204030203" pitchFamily="34" charset="0"/>
            </a:endParaRPr>
          </a:p>
        </p:txBody>
      </p:sp>
      <p:sp>
        <p:nvSpPr>
          <p:cNvPr id="6" name="TextBox 5">
            <a:extLst>
              <a:ext uri="{FF2B5EF4-FFF2-40B4-BE49-F238E27FC236}">
                <a16:creationId xmlns:a16="http://schemas.microsoft.com/office/drawing/2014/main" id="{0A0C6A31-8A29-4C76-FE69-27C02296F26E}"/>
              </a:ext>
            </a:extLst>
          </p:cNvPr>
          <p:cNvSpPr txBox="1"/>
          <p:nvPr/>
        </p:nvSpPr>
        <p:spPr>
          <a:xfrm>
            <a:off x="779929" y="1232893"/>
            <a:ext cx="4787153" cy="369332"/>
          </a:xfrm>
          <a:prstGeom prst="rect">
            <a:avLst/>
          </a:prstGeom>
          <a:noFill/>
        </p:spPr>
        <p:txBody>
          <a:bodyPr wrap="square" rtlCol="0">
            <a:spAutoFit/>
          </a:bodyPr>
          <a:lstStyle/>
          <a:p>
            <a:r>
              <a:rPr lang="en-VN" i="1" dirty="0">
                <a:latin typeface="Lato" panose="020F0502020204030203" pitchFamily="34" charset="0"/>
                <a:ea typeface="Lato" panose="020F0502020204030203" pitchFamily="34" charset="0"/>
                <a:cs typeface="Lato" panose="020F0502020204030203" pitchFamily="34" charset="0"/>
              </a:rPr>
              <a:t>- Thư viện cốt lõi và thời gian chạy ngôn ngữ</a:t>
            </a:r>
          </a:p>
        </p:txBody>
      </p:sp>
      <p:pic>
        <p:nvPicPr>
          <p:cNvPr id="8" name="Picture 7">
            <a:extLst>
              <a:ext uri="{FF2B5EF4-FFF2-40B4-BE49-F238E27FC236}">
                <a16:creationId xmlns:a16="http://schemas.microsoft.com/office/drawing/2014/main" id="{8859E023-4369-87C4-7056-B1122EEE6D1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816100" y="2136849"/>
            <a:ext cx="5511800" cy="2353467"/>
          </a:xfrm>
          <a:prstGeom prst="rect">
            <a:avLst/>
          </a:prstGeom>
        </p:spPr>
      </p:pic>
      <p:sp>
        <p:nvSpPr>
          <p:cNvPr id="9" name="TextBox 8">
            <a:extLst>
              <a:ext uri="{FF2B5EF4-FFF2-40B4-BE49-F238E27FC236}">
                <a16:creationId xmlns:a16="http://schemas.microsoft.com/office/drawing/2014/main" id="{CE268922-6078-0EDD-E7FC-E8988574F3A0}"/>
              </a:ext>
            </a:extLst>
          </p:cNvPr>
          <p:cNvSpPr txBox="1"/>
          <p:nvPr/>
        </p:nvSpPr>
        <p:spPr>
          <a:xfrm>
            <a:off x="235077" y="5086495"/>
            <a:ext cx="8898712" cy="923330"/>
          </a:xfrm>
          <a:prstGeom prst="rect">
            <a:avLst/>
          </a:prstGeom>
          <a:noFill/>
        </p:spPr>
        <p:txBody>
          <a:bodyPr wrap="square" rtlCol="0">
            <a:spAutoFit/>
          </a:bodyPr>
          <a:lstStyle/>
          <a:p>
            <a:pPr marL="285750" indent="-285750">
              <a:buFont typeface="Arial" panose="020B0604020202020204" pitchFamily="34" charset="0"/>
              <a:buChar char="•"/>
            </a:pPr>
            <a:r>
              <a:rPr lang="vi-VN" dirty="0">
                <a:latin typeface="Lato" panose="020F0502020204030203" pitchFamily="34" charset="0"/>
                <a:ea typeface="Lato" panose="020F0502020204030203" pitchFamily="34" charset="0"/>
                <a:cs typeface="Lato" panose="020F0502020204030203" pitchFamily="34" charset="0"/>
              </a:rPr>
              <a:t>TreeMap và TreeSet trong Java cũng dùng </a:t>
            </a:r>
            <a:r>
              <a:rPr lang="vi-VN" b="1" dirty="0">
                <a:latin typeface="Lato" panose="020F0502020204030203" pitchFamily="34" charset="0"/>
                <a:ea typeface="Lato" panose="020F0502020204030203" pitchFamily="34" charset="0"/>
                <a:cs typeface="Lato" panose="020F0502020204030203" pitchFamily="34" charset="0"/>
              </a:rPr>
              <a:t>Red-Black Tree</a:t>
            </a:r>
            <a:r>
              <a:rPr lang="vi-VN" dirty="0">
                <a:latin typeface="Lato" panose="020F0502020204030203" pitchFamily="34" charset="0"/>
                <a:ea typeface="Lato" panose="020F0502020204030203" pitchFamily="34" charset="0"/>
                <a:cs typeface="Lato" panose="020F0502020204030203" pitchFamily="34" charset="0"/>
              </a:rPr>
              <a:t> làm cấu trúc dữ liệu nền.</a:t>
            </a:r>
          </a:p>
          <a:p>
            <a:pPr marL="285750" indent="-285750">
              <a:buFont typeface="Arial" panose="020B0604020202020204" pitchFamily="34" charset="0"/>
              <a:buChar char="•"/>
            </a:pPr>
            <a:r>
              <a:rPr lang="vi-VN" dirty="0">
                <a:latin typeface="Lato" panose="020F0502020204030203" pitchFamily="34" charset="0"/>
                <a:ea typeface="Lato" panose="020F0502020204030203" pitchFamily="34" charset="0"/>
                <a:cs typeface="Lato" panose="020F0502020204030203" pitchFamily="34" charset="0"/>
              </a:rPr>
              <a:t>Đảm bảo các phần tử </a:t>
            </a:r>
            <a:r>
              <a:rPr lang="vi-VN" b="1" dirty="0">
                <a:latin typeface="Lato" panose="020F0502020204030203" pitchFamily="34" charset="0"/>
                <a:ea typeface="Lato" panose="020F0502020204030203" pitchFamily="34" charset="0"/>
                <a:cs typeface="Lato" panose="020F0502020204030203" pitchFamily="34" charset="0"/>
              </a:rPr>
              <a:t>luôn được sắp xếp tăng dần</a:t>
            </a:r>
            <a:r>
              <a:rPr lang="vi-VN" dirty="0">
                <a:latin typeface="Lato" panose="020F0502020204030203" pitchFamily="34" charset="0"/>
                <a:ea typeface="Lato" panose="020F0502020204030203" pitchFamily="34" charset="0"/>
                <a:cs typeface="Lato" panose="020F0502020204030203" pitchFamily="34" charset="0"/>
              </a:rPr>
              <a:t>, và mọi thao tác (</a:t>
            </a:r>
            <a:r>
              <a:rPr lang="vi-VN" i="1" dirty="0">
                <a:latin typeface="Lato" panose="020F0502020204030203" pitchFamily="34" charset="0"/>
                <a:ea typeface="Lato" panose="020F0502020204030203" pitchFamily="34" charset="0"/>
                <a:cs typeface="Lato" panose="020F0502020204030203" pitchFamily="34" charset="0"/>
              </a:rPr>
              <a:t>put, remove, get</a:t>
            </a:r>
            <a:r>
              <a:rPr lang="vi-VN" dirty="0">
                <a:latin typeface="Lato" panose="020F0502020204030203" pitchFamily="34" charset="0"/>
                <a:ea typeface="Lato" panose="020F0502020204030203" pitchFamily="34" charset="0"/>
                <a:cs typeface="Lato" panose="020F0502020204030203" pitchFamily="34" charset="0"/>
              </a:rPr>
              <a:t>) đều chạy trong </a:t>
            </a:r>
            <a:r>
              <a:rPr lang="vi-VN" b="1" dirty="0">
                <a:latin typeface="Lato" panose="020F0502020204030203" pitchFamily="34" charset="0"/>
                <a:ea typeface="Lato" panose="020F0502020204030203" pitchFamily="34" charset="0"/>
                <a:cs typeface="Lato" panose="020F0502020204030203" pitchFamily="34" charset="0"/>
              </a:rPr>
              <a:t>O(log n)</a:t>
            </a:r>
            <a:r>
              <a:rPr lang="vi-VN" dirty="0">
                <a:latin typeface="Lato" panose="020F0502020204030203" pitchFamily="34" charset="0"/>
                <a:ea typeface="Lato" panose="020F0502020204030203" pitchFamily="34" charset="0"/>
                <a:cs typeface="Lato" panose="020F0502020204030203" pitchFamily="34" charset="0"/>
              </a:rPr>
              <a:t>.</a:t>
            </a:r>
          </a:p>
        </p:txBody>
      </p:sp>
      <p:pic>
        <p:nvPicPr>
          <p:cNvPr id="3" name="Picture 2" descr="A screen shot of a computer program&#10;&#10;Description automatically generated">
            <a:extLst>
              <a:ext uri="{FF2B5EF4-FFF2-40B4-BE49-F238E27FC236}">
                <a16:creationId xmlns:a16="http://schemas.microsoft.com/office/drawing/2014/main" id="{A0CBD315-8CE2-C477-6C00-84A3BB0AF7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80299" y="1745133"/>
            <a:ext cx="5511800" cy="3136900"/>
          </a:xfrm>
          <a:prstGeom prst="rect">
            <a:avLst/>
          </a:prstGeom>
        </p:spPr>
      </p:pic>
      <p:sp>
        <p:nvSpPr>
          <p:cNvPr id="7" name="TextBox 6">
            <a:extLst>
              <a:ext uri="{FF2B5EF4-FFF2-40B4-BE49-F238E27FC236}">
                <a16:creationId xmlns:a16="http://schemas.microsoft.com/office/drawing/2014/main" id="{A102AB1A-63AF-D17D-6D9F-0430A8471C33}"/>
              </a:ext>
            </a:extLst>
          </p:cNvPr>
          <p:cNvSpPr txBox="1"/>
          <p:nvPr/>
        </p:nvSpPr>
        <p:spPr>
          <a:xfrm>
            <a:off x="6187929" y="1417558"/>
            <a:ext cx="796835" cy="369332"/>
          </a:xfrm>
          <a:prstGeom prst="rect">
            <a:avLst/>
          </a:prstGeom>
          <a:noFill/>
        </p:spPr>
        <p:txBody>
          <a:bodyPr wrap="square" rtlCol="0">
            <a:spAutoFit/>
          </a:bodyPr>
          <a:lstStyle/>
          <a:p>
            <a:r>
              <a:rPr lang="en-VN" dirty="0">
                <a:solidFill>
                  <a:srgbClr val="C00000"/>
                </a:solidFill>
                <a:latin typeface="Lato" panose="020F0502020204030203" pitchFamily="34" charset="0"/>
                <a:ea typeface="Lato" panose="020F0502020204030203" pitchFamily="34" charset="0"/>
                <a:cs typeface="Lato" panose="020F0502020204030203" pitchFamily="34" charset="0"/>
              </a:rPr>
              <a:t>Java</a:t>
            </a:r>
          </a:p>
        </p:txBody>
      </p:sp>
      <p:pic>
        <p:nvPicPr>
          <p:cNvPr id="11" name="Picture 10" descr="A screen shot of a computer program&#10;&#10;Description automatically generated">
            <a:extLst>
              <a:ext uri="{FF2B5EF4-FFF2-40B4-BE49-F238E27FC236}">
                <a16:creationId xmlns:a16="http://schemas.microsoft.com/office/drawing/2014/main" id="{4625598F-CC5E-06D7-5C6B-6D2139C3AD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12499" y="2291232"/>
            <a:ext cx="4330700" cy="2044700"/>
          </a:xfrm>
          <a:prstGeom prst="rect">
            <a:avLst/>
          </a:prstGeom>
        </p:spPr>
      </p:pic>
    </p:spTree>
    <p:extLst>
      <p:ext uri="{BB962C8B-B14F-4D97-AF65-F5344CB8AC3E}">
        <p14:creationId xmlns:p14="http://schemas.microsoft.com/office/powerpoint/2010/main" val="1754790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E207-A869-B342-B6D9-77005A268D98}"/>
              </a:ext>
            </a:extLst>
          </p:cNvPr>
          <p:cNvSpPr>
            <a:spLocks noGrp="1"/>
          </p:cNvSpPr>
          <p:nvPr>
            <p:ph type="title"/>
          </p:nvPr>
        </p:nvSpPr>
        <p:spPr/>
        <p:txBody>
          <a:bodyPr/>
          <a:lstStyle/>
          <a:p>
            <a:r>
              <a:rPr lang="en-US" dirty="0"/>
              <a:t>ỨNG DỤNG THỰC TẾ</a:t>
            </a:r>
          </a:p>
        </p:txBody>
      </p:sp>
      <p:sp>
        <p:nvSpPr>
          <p:cNvPr id="5" name="Slide Number Placeholder 4">
            <a:extLst>
              <a:ext uri="{FF2B5EF4-FFF2-40B4-BE49-F238E27FC236}">
                <a16:creationId xmlns:a16="http://schemas.microsoft.com/office/drawing/2014/main" id="{853CF161-A6C1-F8C7-C9A5-5CD5BD5C176E}"/>
              </a:ext>
            </a:extLst>
          </p:cNvPr>
          <p:cNvSpPr>
            <a:spLocks noGrp="1"/>
          </p:cNvSpPr>
          <p:nvPr>
            <p:ph type="sldNum" sz="quarter" idx="12"/>
          </p:nvPr>
        </p:nvSpPr>
        <p:spPr/>
        <p:txBody>
          <a:bodyPr/>
          <a:lstStyle/>
          <a:p>
            <a:fld id="{9EA0BE3B-158A-4EDF-80DC-E394A0D1600F}" type="slidenum">
              <a:rPr lang="en-US" smtClean="0"/>
              <a:pPr/>
              <a:t>40</a:t>
            </a:fld>
            <a:endParaRPr lang="en-US" dirty="0"/>
          </a:p>
        </p:txBody>
      </p:sp>
      <p:sp>
        <p:nvSpPr>
          <p:cNvPr id="4" name="TextBox 3">
            <a:extLst>
              <a:ext uri="{FF2B5EF4-FFF2-40B4-BE49-F238E27FC236}">
                <a16:creationId xmlns:a16="http://schemas.microsoft.com/office/drawing/2014/main" id="{D857B26E-CDD9-EC46-643A-7540A6E01817}"/>
              </a:ext>
            </a:extLst>
          </p:cNvPr>
          <p:cNvSpPr txBox="1"/>
          <p:nvPr/>
        </p:nvSpPr>
        <p:spPr>
          <a:xfrm>
            <a:off x="354330" y="832783"/>
            <a:ext cx="4880610" cy="400110"/>
          </a:xfrm>
          <a:prstGeom prst="rect">
            <a:avLst/>
          </a:prstGeom>
          <a:noFill/>
        </p:spPr>
        <p:txBody>
          <a:bodyPr wrap="square" rtlCol="0">
            <a:spAutoFit/>
          </a:bodyPr>
          <a:lstStyle/>
          <a:p>
            <a:r>
              <a:rPr lang="vi-VN" sz="2000" b="0" i="0" dirty="0">
                <a:solidFill>
                  <a:srgbClr val="7030A0"/>
                </a:solidFill>
                <a:effectLst/>
                <a:latin typeface="Lato" panose="020F0502020204030203" pitchFamily="34" charset="0"/>
                <a:ea typeface="Lato" panose="020F0502020204030203" pitchFamily="34" charset="0"/>
                <a:cs typeface="Lato" panose="020F0502020204030203" pitchFamily="34" charset="0"/>
              </a:rPr>
              <a:t>Các ứng dụng thực tế ngày nay bao gồm:</a:t>
            </a:r>
            <a:endParaRPr lang="en-VN" sz="2000" dirty="0">
              <a:solidFill>
                <a:srgbClr val="7030A0"/>
              </a:solidFill>
              <a:latin typeface="Lato" panose="020F0502020204030203" pitchFamily="34" charset="0"/>
              <a:ea typeface="Lato" panose="020F0502020204030203" pitchFamily="34" charset="0"/>
              <a:cs typeface="Lato" panose="020F0502020204030203" pitchFamily="34" charset="0"/>
            </a:endParaRPr>
          </a:p>
        </p:txBody>
      </p:sp>
      <p:sp>
        <p:nvSpPr>
          <p:cNvPr id="6" name="TextBox 5">
            <a:extLst>
              <a:ext uri="{FF2B5EF4-FFF2-40B4-BE49-F238E27FC236}">
                <a16:creationId xmlns:a16="http://schemas.microsoft.com/office/drawing/2014/main" id="{0A0C6A31-8A29-4C76-FE69-27C02296F26E}"/>
              </a:ext>
            </a:extLst>
          </p:cNvPr>
          <p:cNvSpPr txBox="1"/>
          <p:nvPr/>
        </p:nvSpPr>
        <p:spPr>
          <a:xfrm>
            <a:off x="779929" y="1232893"/>
            <a:ext cx="4787153" cy="369332"/>
          </a:xfrm>
          <a:prstGeom prst="rect">
            <a:avLst/>
          </a:prstGeom>
          <a:noFill/>
        </p:spPr>
        <p:txBody>
          <a:bodyPr wrap="square" rtlCol="0">
            <a:spAutoFit/>
          </a:bodyPr>
          <a:lstStyle/>
          <a:p>
            <a:r>
              <a:rPr lang="en-VN" i="1" dirty="0">
                <a:latin typeface="Lato" panose="020F0502020204030203" pitchFamily="34" charset="0"/>
                <a:ea typeface="Lato" panose="020F0502020204030203" pitchFamily="34" charset="0"/>
                <a:cs typeface="Lato" panose="020F0502020204030203" pitchFamily="34" charset="0"/>
              </a:rPr>
              <a:t>- Thư viện cốt lõi và thời gian chạy ngôn ngữ</a:t>
            </a:r>
          </a:p>
        </p:txBody>
      </p:sp>
      <p:pic>
        <p:nvPicPr>
          <p:cNvPr id="8" name="Picture 7">
            <a:extLst>
              <a:ext uri="{FF2B5EF4-FFF2-40B4-BE49-F238E27FC236}">
                <a16:creationId xmlns:a16="http://schemas.microsoft.com/office/drawing/2014/main" id="{8859E023-4369-87C4-7056-B1122EEE6D1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079664" y="2136849"/>
            <a:ext cx="4984672" cy="2353467"/>
          </a:xfrm>
          <a:prstGeom prst="rect">
            <a:avLst/>
          </a:prstGeom>
        </p:spPr>
      </p:pic>
      <p:sp>
        <p:nvSpPr>
          <p:cNvPr id="9" name="TextBox 8">
            <a:extLst>
              <a:ext uri="{FF2B5EF4-FFF2-40B4-BE49-F238E27FC236}">
                <a16:creationId xmlns:a16="http://schemas.microsoft.com/office/drawing/2014/main" id="{CE268922-6078-0EDD-E7FC-E8988574F3A0}"/>
              </a:ext>
            </a:extLst>
          </p:cNvPr>
          <p:cNvSpPr txBox="1"/>
          <p:nvPr/>
        </p:nvSpPr>
        <p:spPr>
          <a:xfrm>
            <a:off x="235077" y="5069556"/>
            <a:ext cx="8898712" cy="923330"/>
          </a:xfrm>
          <a:prstGeom prst="rect">
            <a:avLst/>
          </a:prstGeom>
          <a:noFill/>
        </p:spPr>
        <p:txBody>
          <a:bodyPr wrap="square" rtlCol="0">
            <a:spAutoFit/>
          </a:bodyPr>
          <a:lstStyle/>
          <a:p>
            <a:pPr marL="285750" indent="-285750">
              <a:buFont typeface="Arial" panose="020B0604020202020204" pitchFamily="34" charset="0"/>
              <a:buChar char="•"/>
            </a:pPr>
            <a:r>
              <a:rPr lang="vi-VN" dirty="0">
                <a:latin typeface="Lato" panose="020F0502020204030203" pitchFamily="34" charset="0"/>
                <a:ea typeface="Lato" panose="020F0502020204030203" pitchFamily="34" charset="0"/>
                <a:cs typeface="Lato" panose="020F0502020204030203" pitchFamily="34" charset="0"/>
              </a:rPr>
              <a:t>Python bản chuẩn không có Red-Black Tree trong dict, nhưng thư viện </a:t>
            </a:r>
            <a:r>
              <a:rPr lang="vi-VN" b="1" i="1" dirty="0">
                <a:latin typeface="Lato" panose="020F0502020204030203" pitchFamily="34" charset="0"/>
                <a:ea typeface="Lato" panose="020F0502020204030203" pitchFamily="34" charset="0"/>
                <a:cs typeface="Lato" panose="020F0502020204030203" pitchFamily="34" charset="0"/>
              </a:rPr>
              <a:t>sortedcontainers</a:t>
            </a:r>
            <a:r>
              <a:rPr lang="vi-VN" dirty="0">
                <a:latin typeface="Lato" panose="020F0502020204030203" pitchFamily="34" charset="0"/>
                <a:ea typeface="Lato" panose="020F0502020204030203" pitchFamily="34" charset="0"/>
                <a:cs typeface="Lato" panose="020F0502020204030203" pitchFamily="34" charset="0"/>
              </a:rPr>
              <a:t> sử dụng Red-Black Tree logic để duy trì thứ tự.</a:t>
            </a:r>
          </a:p>
          <a:p>
            <a:pPr marL="285750" indent="-285750">
              <a:buFont typeface="Arial" panose="020B0604020202020204" pitchFamily="34" charset="0"/>
              <a:buChar char="•"/>
            </a:pPr>
            <a:r>
              <a:rPr lang="vi-VN" dirty="0">
                <a:latin typeface="Lato" panose="020F0502020204030203" pitchFamily="34" charset="0"/>
                <a:ea typeface="Lato" panose="020F0502020204030203" pitchFamily="34" charset="0"/>
                <a:cs typeface="Lato" panose="020F0502020204030203" pitchFamily="34" charset="0"/>
              </a:rPr>
              <a:t>Các phần tử luôn được duy trì thứ tự tăng dần nhờ cấu trúc cây đỏ-đen bên trong</a:t>
            </a:r>
          </a:p>
        </p:txBody>
      </p:sp>
      <p:pic>
        <p:nvPicPr>
          <p:cNvPr id="3" name="Picture 2">
            <a:extLst>
              <a:ext uri="{FF2B5EF4-FFF2-40B4-BE49-F238E27FC236}">
                <a16:creationId xmlns:a16="http://schemas.microsoft.com/office/drawing/2014/main" id="{A0CBD315-8CE2-C477-6C00-84A3BB0AF7C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480299" y="2136849"/>
            <a:ext cx="5511800" cy="2353467"/>
          </a:xfrm>
          <a:prstGeom prst="rect">
            <a:avLst/>
          </a:prstGeom>
        </p:spPr>
      </p:pic>
      <p:sp>
        <p:nvSpPr>
          <p:cNvPr id="7" name="TextBox 6">
            <a:extLst>
              <a:ext uri="{FF2B5EF4-FFF2-40B4-BE49-F238E27FC236}">
                <a16:creationId xmlns:a16="http://schemas.microsoft.com/office/drawing/2014/main" id="{A102AB1A-63AF-D17D-6D9F-0430A8471C33}"/>
              </a:ext>
            </a:extLst>
          </p:cNvPr>
          <p:cNvSpPr txBox="1"/>
          <p:nvPr/>
        </p:nvSpPr>
        <p:spPr>
          <a:xfrm>
            <a:off x="6187929" y="1417558"/>
            <a:ext cx="976546" cy="369332"/>
          </a:xfrm>
          <a:prstGeom prst="rect">
            <a:avLst/>
          </a:prstGeom>
          <a:noFill/>
        </p:spPr>
        <p:txBody>
          <a:bodyPr wrap="square" rtlCol="0">
            <a:spAutoFit/>
          </a:bodyPr>
          <a:lstStyle/>
          <a:p>
            <a:r>
              <a:rPr lang="en-VN" dirty="0">
                <a:solidFill>
                  <a:srgbClr val="C00000"/>
                </a:solidFill>
                <a:latin typeface="Lato" panose="020F0502020204030203" pitchFamily="34" charset="0"/>
                <a:ea typeface="Lato" panose="020F0502020204030203" pitchFamily="34" charset="0"/>
                <a:cs typeface="Lato" panose="020F0502020204030203" pitchFamily="34" charset="0"/>
              </a:rPr>
              <a:t>Python</a:t>
            </a:r>
          </a:p>
        </p:txBody>
      </p:sp>
      <p:pic>
        <p:nvPicPr>
          <p:cNvPr id="11" name="Picture 10" descr="A diagram of a penguin&#10;&#10;Description automatically generated">
            <a:extLst>
              <a:ext uri="{FF2B5EF4-FFF2-40B4-BE49-F238E27FC236}">
                <a16:creationId xmlns:a16="http://schemas.microsoft.com/office/drawing/2014/main" id="{5D165B76-91DB-44E9-423F-187306D8EF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28598" y="1967382"/>
            <a:ext cx="3784401" cy="2522934"/>
          </a:xfrm>
          <a:prstGeom prst="rect">
            <a:avLst/>
          </a:prstGeom>
        </p:spPr>
      </p:pic>
    </p:spTree>
    <p:extLst>
      <p:ext uri="{BB962C8B-B14F-4D97-AF65-F5344CB8AC3E}">
        <p14:creationId xmlns:p14="http://schemas.microsoft.com/office/powerpoint/2010/main" val="28270399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E207-A869-B342-B6D9-77005A268D98}"/>
              </a:ext>
            </a:extLst>
          </p:cNvPr>
          <p:cNvSpPr>
            <a:spLocks noGrp="1"/>
          </p:cNvSpPr>
          <p:nvPr>
            <p:ph type="title"/>
          </p:nvPr>
        </p:nvSpPr>
        <p:spPr/>
        <p:txBody>
          <a:bodyPr/>
          <a:lstStyle/>
          <a:p>
            <a:r>
              <a:rPr lang="en-US" dirty="0"/>
              <a:t>ỨNG DỤNG THỰC TẾ</a:t>
            </a:r>
          </a:p>
        </p:txBody>
      </p:sp>
      <p:sp>
        <p:nvSpPr>
          <p:cNvPr id="5" name="Slide Number Placeholder 4">
            <a:extLst>
              <a:ext uri="{FF2B5EF4-FFF2-40B4-BE49-F238E27FC236}">
                <a16:creationId xmlns:a16="http://schemas.microsoft.com/office/drawing/2014/main" id="{853CF161-A6C1-F8C7-C9A5-5CD5BD5C176E}"/>
              </a:ext>
            </a:extLst>
          </p:cNvPr>
          <p:cNvSpPr>
            <a:spLocks noGrp="1"/>
          </p:cNvSpPr>
          <p:nvPr>
            <p:ph type="sldNum" sz="quarter" idx="12"/>
          </p:nvPr>
        </p:nvSpPr>
        <p:spPr/>
        <p:txBody>
          <a:bodyPr/>
          <a:lstStyle/>
          <a:p>
            <a:fld id="{9EA0BE3B-158A-4EDF-80DC-E394A0D1600F}" type="slidenum">
              <a:rPr lang="en-US" smtClean="0"/>
              <a:pPr/>
              <a:t>41</a:t>
            </a:fld>
            <a:endParaRPr lang="en-US" dirty="0"/>
          </a:p>
        </p:txBody>
      </p:sp>
      <p:sp>
        <p:nvSpPr>
          <p:cNvPr id="4" name="TextBox 3">
            <a:extLst>
              <a:ext uri="{FF2B5EF4-FFF2-40B4-BE49-F238E27FC236}">
                <a16:creationId xmlns:a16="http://schemas.microsoft.com/office/drawing/2014/main" id="{D857B26E-CDD9-EC46-643A-7540A6E01817}"/>
              </a:ext>
            </a:extLst>
          </p:cNvPr>
          <p:cNvSpPr txBox="1"/>
          <p:nvPr/>
        </p:nvSpPr>
        <p:spPr>
          <a:xfrm>
            <a:off x="354330" y="832783"/>
            <a:ext cx="4880610" cy="400110"/>
          </a:xfrm>
          <a:prstGeom prst="rect">
            <a:avLst/>
          </a:prstGeom>
          <a:noFill/>
        </p:spPr>
        <p:txBody>
          <a:bodyPr wrap="square" rtlCol="0">
            <a:spAutoFit/>
          </a:bodyPr>
          <a:lstStyle/>
          <a:p>
            <a:r>
              <a:rPr lang="vi-VN" sz="2000" b="0" i="0" dirty="0">
                <a:solidFill>
                  <a:srgbClr val="7030A0"/>
                </a:solidFill>
                <a:effectLst/>
                <a:latin typeface="Lato" panose="020F0502020204030203" pitchFamily="34" charset="0"/>
                <a:ea typeface="Lato" panose="020F0502020204030203" pitchFamily="34" charset="0"/>
                <a:cs typeface="Lato" panose="020F0502020204030203" pitchFamily="34" charset="0"/>
              </a:rPr>
              <a:t>Các ứng dụng thực tế ngày nay bao gồm:</a:t>
            </a:r>
            <a:endParaRPr lang="en-VN" sz="2000" dirty="0">
              <a:solidFill>
                <a:srgbClr val="7030A0"/>
              </a:solidFill>
              <a:latin typeface="Lato" panose="020F0502020204030203" pitchFamily="34" charset="0"/>
              <a:ea typeface="Lato" panose="020F0502020204030203" pitchFamily="34" charset="0"/>
              <a:cs typeface="Lato" panose="020F0502020204030203" pitchFamily="34" charset="0"/>
            </a:endParaRPr>
          </a:p>
        </p:txBody>
      </p:sp>
      <p:sp>
        <p:nvSpPr>
          <p:cNvPr id="6" name="TextBox 5">
            <a:extLst>
              <a:ext uri="{FF2B5EF4-FFF2-40B4-BE49-F238E27FC236}">
                <a16:creationId xmlns:a16="http://schemas.microsoft.com/office/drawing/2014/main" id="{0A0C6A31-8A29-4C76-FE69-27C02296F26E}"/>
              </a:ext>
            </a:extLst>
          </p:cNvPr>
          <p:cNvSpPr txBox="1"/>
          <p:nvPr/>
        </p:nvSpPr>
        <p:spPr>
          <a:xfrm>
            <a:off x="779929" y="1232893"/>
            <a:ext cx="4787153" cy="369332"/>
          </a:xfrm>
          <a:prstGeom prst="rect">
            <a:avLst/>
          </a:prstGeom>
          <a:noFill/>
        </p:spPr>
        <p:txBody>
          <a:bodyPr wrap="square" rtlCol="0">
            <a:spAutoFit/>
          </a:bodyPr>
          <a:lstStyle/>
          <a:p>
            <a:pPr algn="l" rtl="0"/>
            <a:r>
              <a:rPr lang="vi-VN" b="0" i="1" dirty="0">
                <a:effectLst/>
                <a:latin typeface="Lato" panose="020F0502020204030203" pitchFamily="34" charset="0"/>
                <a:ea typeface="Lato" panose="020F0502020204030203" pitchFamily="34" charset="0"/>
                <a:cs typeface="Lato" panose="020F0502020204030203" pitchFamily="34" charset="0"/>
              </a:rPr>
              <a:t>- </a:t>
            </a:r>
            <a:r>
              <a:rPr lang="en-US" b="0" i="1" dirty="0" err="1">
                <a:effectLst/>
                <a:latin typeface="Lato" panose="020F0502020204030203" pitchFamily="34" charset="0"/>
                <a:ea typeface="Lato" panose="020F0502020204030203" pitchFamily="34" charset="0"/>
                <a:cs typeface="Lato" panose="020F0502020204030203" pitchFamily="34" charset="0"/>
              </a:rPr>
              <a:t>Hệ</a:t>
            </a:r>
            <a:r>
              <a:rPr lang="en-US" b="0" i="1" dirty="0">
                <a:effectLst/>
                <a:latin typeface="Lato" panose="020F0502020204030203" pitchFamily="34" charset="0"/>
                <a:ea typeface="Lato" panose="020F0502020204030203" pitchFamily="34" charset="0"/>
                <a:cs typeface="Lato" panose="020F0502020204030203" pitchFamily="34" charset="0"/>
              </a:rPr>
              <a:t> </a:t>
            </a:r>
            <a:r>
              <a:rPr lang="en-US" b="0" i="1" dirty="0" err="1">
                <a:effectLst/>
                <a:latin typeface="Lato" panose="020F0502020204030203" pitchFamily="34" charset="0"/>
                <a:ea typeface="Lato" panose="020F0502020204030203" pitchFamily="34" charset="0"/>
                <a:cs typeface="Lato" panose="020F0502020204030203" pitchFamily="34" charset="0"/>
              </a:rPr>
              <a:t>điều</a:t>
            </a:r>
            <a:r>
              <a:rPr lang="en-US" b="0" i="1" dirty="0">
                <a:effectLst/>
                <a:latin typeface="Lato" panose="020F0502020204030203" pitchFamily="34" charset="0"/>
                <a:ea typeface="Lato" panose="020F0502020204030203" pitchFamily="34" charset="0"/>
                <a:cs typeface="Lato" panose="020F0502020204030203" pitchFamily="34" charset="0"/>
              </a:rPr>
              <a:t> </a:t>
            </a:r>
            <a:r>
              <a:rPr lang="en-US" b="0" i="1" dirty="0" err="1">
                <a:effectLst/>
                <a:latin typeface="Lato" panose="020F0502020204030203" pitchFamily="34" charset="0"/>
                <a:ea typeface="Lato" panose="020F0502020204030203" pitchFamily="34" charset="0"/>
                <a:cs typeface="Lato" panose="020F0502020204030203" pitchFamily="34" charset="0"/>
              </a:rPr>
              <a:t>hành</a:t>
            </a:r>
            <a:endParaRPr lang="vi-VN" b="0" i="1" dirty="0">
              <a:effectLst/>
              <a:latin typeface="Lato" panose="020F0502020204030203" pitchFamily="34" charset="0"/>
              <a:ea typeface="Lato" panose="020F0502020204030203" pitchFamily="34" charset="0"/>
              <a:cs typeface="Lato" panose="020F0502020204030203" pitchFamily="34" charset="0"/>
            </a:endParaRPr>
          </a:p>
        </p:txBody>
      </p:sp>
      <p:pic>
        <p:nvPicPr>
          <p:cNvPr id="12" name="Picture 11">
            <a:extLst>
              <a:ext uri="{FF2B5EF4-FFF2-40B4-BE49-F238E27FC236}">
                <a16:creationId xmlns:a16="http://schemas.microsoft.com/office/drawing/2014/main" id="{32746CB8-3E7D-833D-13BB-BF9D6A75A0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237531" y="1692582"/>
            <a:ext cx="4668938" cy="2797734"/>
          </a:xfrm>
          <a:prstGeom prst="rect">
            <a:avLst/>
          </a:prstGeom>
        </p:spPr>
      </p:pic>
      <p:sp>
        <p:nvSpPr>
          <p:cNvPr id="13" name="TextBox 12">
            <a:extLst>
              <a:ext uri="{FF2B5EF4-FFF2-40B4-BE49-F238E27FC236}">
                <a16:creationId xmlns:a16="http://schemas.microsoft.com/office/drawing/2014/main" id="{C8AFCE32-7E60-EB31-3F25-8CA754A8B7D0}"/>
              </a:ext>
            </a:extLst>
          </p:cNvPr>
          <p:cNvSpPr txBox="1"/>
          <p:nvPr/>
        </p:nvSpPr>
        <p:spPr>
          <a:xfrm>
            <a:off x="235077" y="4580673"/>
            <a:ext cx="8898712" cy="1600438"/>
          </a:xfrm>
          <a:prstGeom prst="rect">
            <a:avLst/>
          </a:prstGeom>
          <a:noFill/>
        </p:spPr>
        <p:txBody>
          <a:bodyPr wrap="square" rtlCol="0">
            <a:spAutoFit/>
          </a:bodyPr>
          <a:lstStyle/>
          <a:p>
            <a:pPr marL="285750" indent="-285750">
              <a:buFont typeface="Arial" panose="020B0604020202020204" pitchFamily="34" charset="0"/>
              <a:buChar char="•"/>
            </a:pPr>
            <a:r>
              <a:rPr lang="vi-VN" sz="1600" dirty="0">
                <a:latin typeface="Lato" panose="020F0502020204030203" pitchFamily="34" charset="0"/>
                <a:ea typeface="Lato" panose="020F0502020204030203" pitchFamily="34" charset="0"/>
                <a:cs typeface="Lato" panose="020F0502020204030203" pitchFamily="34" charset="0"/>
              </a:rPr>
              <a:t>Kernel dùng Red-Black Tree để quản lý vùng nhớ ảo của tiến trình, giúp việc tìm kiếm địa chỉ cực nhanh.Các phần tử luôn được duy trì </a:t>
            </a:r>
          </a:p>
          <a:p>
            <a:pPr marL="285750" indent="-285750">
              <a:buFont typeface="Arial" panose="020B0604020202020204" pitchFamily="34" charset="0"/>
              <a:buChar char="•"/>
            </a:pPr>
            <a:r>
              <a:rPr lang="vi-VN" sz="1600" dirty="0">
                <a:latin typeface="Lato" panose="020F0502020204030203" pitchFamily="34" charset="0"/>
                <a:ea typeface="Lato" panose="020F0502020204030203" pitchFamily="34" charset="0"/>
                <a:cs typeface="Lato" panose="020F0502020204030203" pitchFamily="34" charset="0"/>
              </a:rPr>
              <a:t>Trong bộ lập lịch CPU CFS, mỗi tiến trình cũng được sắp xếp trong một cây đỏ-đen theo thời gian CPU đã dùng, nhờ đó hệ thống chọn tiến trình tiếp theo công bằng hơn, với thời gian O(log n).</a:t>
            </a:r>
          </a:p>
          <a:p>
            <a:pPr marL="285750" indent="-285750">
              <a:buFont typeface="Arial" panose="020B0604020202020204" pitchFamily="34" charset="0"/>
              <a:buChar char="•"/>
            </a:pPr>
            <a:r>
              <a:rPr lang="en-US" sz="1600" dirty="0" err="1">
                <a:latin typeface="Lato" panose="020F0502020204030203" pitchFamily="34" charset="0"/>
                <a:ea typeface="Lato" panose="020F0502020204030203" pitchFamily="34" charset="0"/>
                <a:cs typeface="Lato" panose="020F0502020204030203" pitchFamily="34" charset="0"/>
              </a:rPr>
              <a:t>Trong</a:t>
            </a:r>
            <a:r>
              <a:rPr lang="en-US" sz="1600" dirty="0">
                <a:latin typeface="Lato" panose="020F0502020204030203" pitchFamily="34" charset="0"/>
                <a:ea typeface="Lato" panose="020F0502020204030203" pitchFamily="34" charset="0"/>
                <a:cs typeface="Lato" panose="020F0502020204030203" pitchFamily="34" charset="0"/>
              </a:rPr>
              <a:t> </a:t>
            </a:r>
            <a:r>
              <a:rPr lang="en-US" sz="1600" b="1" dirty="0" err="1">
                <a:latin typeface="Lato" panose="020F0502020204030203" pitchFamily="34" charset="0"/>
                <a:ea typeface="Lato" panose="020F0502020204030203" pitchFamily="34" charset="0"/>
                <a:cs typeface="Lato" panose="020F0502020204030203" pitchFamily="34" charset="0"/>
              </a:rPr>
              <a:t>hệ</a:t>
            </a:r>
            <a:r>
              <a:rPr lang="en-US" sz="1600" b="1" dirty="0">
                <a:latin typeface="Lato" panose="020F0502020204030203" pitchFamily="34" charset="0"/>
                <a:ea typeface="Lato" panose="020F0502020204030203" pitchFamily="34" charset="0"/>
                <a:cs typeface="Lato" panose="020F0502020204030203" pitchFamily="34" charset="0"/>
              </a:rPr>
              <a:t> </a:t>
            </a:r>
            <a:r>
              <a:rPr lang="en-US" sz="1600" b="1" dirty="0" err="1">
                <a:latin typeface="Lato" panose="020F0502020204030203" pitchFamily="34" charset="0"/>
                <a:ea typeface="Lato" panose="020F0502020204030203" pitchFamily="34" charset="0"/>
                <a:cs typeface="Lato" panose="020F0502020204030203" pitchFamily="34" charset="0"/>
              </a:rPr>
              <a:t>thống</a:t>
            </a:r>
            <a:r>
              <a:rPr lang="en-US" sz="1600" b="1" dirty="0">
                <a:latin typeface="Lato" panose="020F0502020204030203" pitchFamily="34" charset="0"/>
                <a:ea typeface="Lato" panose="020F0502020204030203" pitchFamily="34" charset="0"/>
                <a:cs typeface="Lato" panose="020F0502020204030203" pitchFamily="34" charset="0"/>
              </a:rPr>
              <a:t> file</a:t>
            </a:r>
            <a:r>
              <a:rPr lang="en-US" sz="1600" dirty="0">
                <a:latin typeface="Lato" panose="020F0502020204030203" pitchFamily="34" charset="0"/>
                <a:ea typeface="Lato" panose="020F0502020204030203" pitchFamily="34" charset="0"/>
                <a:cs typeface="Lato" panose="020F0502020204030203" pitchFamily="34" charset="0"/>
              </a:rPr>
              <a:t>, Red-Black Tree </a:t>
            </a:r>
            <a:r>
              <a:rPr lang="en-US" sz="1600" dirty="0" err="1">
                <a:latin typeface="Lato" panose="020F0502020204030203" pitchFamily="34" charset="0"/>
                <a:ea typeface="Lato" panose="020F0502020204030203" pitchFamily="34" charset="0"/>
                <a:cs typeface="Lato" panose="020F0502020204030203" pitchFamily="34" charset="0"/>
              </a:rPr>
              <a:t>còn</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giúp</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quản</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lý</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các</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vùng</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dữ</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liệu</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hiệu</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quả</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và</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ổn</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định</a:t>
            </a:r>
            <a:r>
              <a:rPr lang="en-US" sz="1600" dirty="0">
                <a:latin typeface="Lato" panose="020F0502020204030203" pitchFamily="34" charset="0"/>
                <a:ea typeface="Lato" panose="020F0502020204030203" pitchFamily="34" charset="0"/>
                <a:cs typeface="Lato" panose="020F0502020204030203" pitchFamily="34" charset="0"/>
              </a:rPr>
              <a:t>.</a:t>
            </a:r>
            <a:endParaRPr lang="vi-VN" sz="1600" dirty="0">
              <a:latin typeface="Lato" panose="020F0502020204030203" pitchFamily="34" charset="0"/>
              <a:ea typeface="Lato" panose="020F0502020204030203" pitchFamily="34" charset="0"/>
              <a:cs typeface="Lato" panose="020F0502020204030203" pitchFamily="34" charset="0"/>
            </a:endParaRPr>
          </a:p>
        </p:txBody>
      </p:sp>
      <p:pic>
        <p:nvPicPr>
          <p:cNvPr id="14" name="Picture 13">
            <a:extLst>
              <a:ext uri="{FF2B5EF4-FFF2-40B4-BE49-F238E27FC236}">
                <a16:creationId xmlns:a16="http://schemas.microsoft.com/office/drawing/2014/main" id="{06F7A110-06B9-C0E0-42A2-29B6177D643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338656" y="2136849"/>
            <a:ext cx="4984672" cy="2353467"/>
          </a:xfrm>
          <a:prstGeom prst="rect">
            <a:avLst/>
          </a:prstGeom>
        </p:spPr>
      </p:pic>
    </p:spTree>
    <p:extLst>
      <p:ext uri="{BB962C8B-B14F-4D97-AF65-F5344CB8AC3E}">
        <p14:creationId xmlns:p14="http://schemas.microsoft.com/office/powerpoint/2010/main" val="25741298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E207-A869-B342-B6D9-77005A268D98}"/>
              </a:ext>
            </a:extLst>
          </p:cNvPr>
          <p:cNvSpPr>
            <a:spLocks noGrp="1"/>
          </p:cNvSpPr>
          <p:nvPr>
            <p:ph type="title"/>
          </p:nvPr>
        </p:nvSpPr>
        <p:spPr/>
        <p:txBody>
          <a:bodyPr/>
          <a:lstStyle/>
          <a:p>
            <a:r>
              <a:rPr lang="en-US" dirty="0"/>
              <a:t>ỨNG DỤNG THỰC TẾ</a:t>
            </a:r>
          </a:p>
        </p:txBody>
      </p:sp>
      <p:sp>
        <p:nvSpPr>
          <p:cNvPr id="5" name="Slide Number Placeholder 4">
            <a:extLst>
              <a:ext uri="{FF2B5EF4-FFF2-40B4-BE49-F238E27FC236}">
                <a16:creationId xmlns:a16="http://schemas.microsoft.com/office/drawing/2014/main" id="{853CF161-A6C1-F8C7-C9A5-5CD5BD5C176E}"/>
              </a:ext>
            </a:extLst>
          </p:cNvPr>
          <p:cNvSpPr>
            <a:spLocks noGrp="1"/>
          </p:cNvSpPr>
          <p:nvPr>
            <p:ph type="sldNum" sz="quarter" idx="12"/>
          </p:nvPr>
        </p:nvSpPr>
        <p:spPr/>
        <p:txBody>
          <a:bodyPr/>
          <a:lstStyle/>
          <a:p>
            <a:fld id="{9EA0BE3B-158A-4EDF-80DC-E394A0D1600F}" type="slidenum">
              <a:rPr lang="en-US" smtClean="0"/>
              <a:pPr/>
              <a:t>42</a:t>
            </a:fld>
            <a:endParaRPr lang="en-US" dirty="0"/>
          </a:p>
        </p:txBody>
      </p:sp>
      <p:sp>
        <p:nvSpPr>
          <p:cNvPr id="4" name="TextBox 3">
            <a:extLst>
              <a:ext uri="{FF2B5EF4-FFF2-40B4-BE49-F238E27FC236}">
                <a16:creationId xmlns:a16="http://schemas.microsoft.com/office/drawing/2014/main" id="{D857B26E-CDD9-EC46-643A-7540A6E01817}"/>
              </a:ext>
            </a:extLst>
          </p:cNvPr>
          <p:cNvSpPr txBox="1"/>
          <p:nvPr/>
        </p:nvSpPr>
        <p:spPr>
          <a:xfrm>
            <a:off x="354330" y="832783"/>
            <a:ext cx="4880610" cy="400110"/>
          </a:xfrm>
          <a:prstGeom prst="rect">
            <a:avLst/>
          </a:prstGeom>
          <a:noFill/>
        </p:spPr>
        <p:txBody>
          <a:bodyPr wrap="square" rtlCol="0">
            <a:spAutoFit/>
          </a:bodyPr>
          <a:lstStyle/>
          <a:p>
            <a:r>
              <a:rPr lang="vi-VN" sz="2000" b="0" i="0" dirty="0">
                <a:solidFill>
                  <a:srgbClr val="7030A0"/>
                </a:solidFill>
                <a:effectLst/>
                <a:latin typeface="Lato" panose="020F0502020204030203" pitchFamily="34" charset="0"/>
                <a:ea typeface="Lato" panose="020F0502020204030203" pitchFamily="34" charset="0"/>
                <a:cs typeface="Lato" panose="020F0502020204030203" pitchFamily="34" charset="0"/>
              </a:rPr>
              <a:t>Các ứng dụng thực tế ngày nay bao gồm:</a:t>
            </a:r>
            <a:endParaRPr lang="en-VN" sz="2000" dirty="0">
              <a:solidFill>
                <a:srgbClr val="7030A0"/>
              </a:solidFill>
              <a:latin typeface="Lato" panose="020F0502020204030203" pitchFamily="34" charset="0"/>
              <a:ea typeface="Lato" panose="020F0502020204030203" pitchFamily="34" charset="0"/>
              <a:cs typeface="Lato" panose="020F0502020204030203" pitchFamily="34" charset="0"/>
            </a:endParaRPr>
          </a:p>
        </p:txBody>
      </p:sp>
      <p:sp>
        <p:nvSpPr>
          <p:cNvPr id="6" name="TextBox 5">
            <a:extLst>
              <a:ext uri="{FF2B5EF4-FFF2-40B4-BE49-F238E27FC236}">
                <a16:creationId xmlns:a16="http://schemas.microsoft.com/office/drawing/2014/main" id="{0A0C6A31-8A29-4C76-FE69-27C02296F26E}"/>
              </a:ext>
            </a:extLst>
          </p:cNvPr>
          <p:cNvSpPr txBox="1"/>
          <p:nvPr/>
        </p:nvSpPr>
        <p:spPr>
          <a:xfrm>
            <a:off x="779929" y="1232893"/>
            <a:ext cx="7011260" cy="369332"/>
          </a:xfrm>
          <a:prstGeom prst="rect">
            <a:avLst/>
          </a:prstGeom>
          <a:noFill/>
        </p:spPr>
        <p:txBody>
          <a:bodyPr wrap="square" rtlCol="0">
            <a:spAutoFit/>
          </a:bodyPr>
          <a:lstStyle/>
          <a:p>
            <a:r>
              <a:rPr lang="en-US" b="0" i="1" dirty="0">
                <a:effectLst/>
                <a:latin typeface="Lato" panose="020F0502020204030203" pitchFamily="34" charset="0"/>
                <a:ea typeface="Lato" panose="020F0502020204030203" pitchFamily="34" charset="0"/>
                <a:cs typeface="Lato" panose="020F0502020204030203" pitchFamily="34" charset="0"/>
              </a:rPr>
              <a:t>- </a:t>
            </a:r>
            <a:r>
              <a:rPr lang="en-US" b="0" i="1" dirty="0" err="1">
                <a:effectLst/>
                <a:latin typeface="Lato" panose="020F0502020204030203" pitchFamily="34" charset="0"/>
                <a:ea typeface="Lato" panose="020F0502020204030203" pitchFamily="34" charset="0"/>
                <a:cs typeface="Lato" panose="020F0502020204030203" pitchFamily="34" charset="0"/>
              </a:rPr>
              <a:t>Hệ</a:t>
            </a:r>
            <a:r>
              <a:rPr lang="en-US" b="0" i="1" dirty="0">
                <a:effectLst/>
                <a:latin typeface="Lato" panose="020F0502020204030203" pitchFamily="34" charset="0"/>
                <a:ea typeface="Lato" panose="020F0502020204030203" pitchFamily="34" charset="0"/>
                <a:cs typeface="Lato" panose="020F0502020204030203" pitchFamily="34" charset="0"/>
              </a:rPr>
              <a:t> </a:t>
            </a:r>
            <a:r>
              <a:rPr lang="en-US" b="0" i="1" dirty="0" err="1">
                <a:effectLst/>
                <a:latin typeface="Lato" panose="020F0502020204030203" pitchFamily="34" charset="0"/>
                <a:ea typeface="Lato" panose="020F0502020204030203" pitchFamily="34" charset="0"/>
                <a:cs typeface="Lato" panose="020F0502020204030203" pitchFamily="34" charset="0"/>
              </a:rPr>
              <a:t>thống</a:t>
            </a:r>
            <a:r>
              <a:rPr lang="en-US" b="0" i="1" dirty="0">
                <a:effectLst/>
                <a:latin typeface="Lato" panose="020F0502020204030203" pitchFamily="34" charset="0"/>
                <a:ea typeface="Lato" panose="020F0502020204030203" pitchFamily="34" charset="0"/>
                <a:cs typeface="Lato" panose="020F0502020204030203" pitchFamily="34" charset="0"/>
              </a:rPr>
              <a:t> </a:t>
            </a:r>
            <a:r>
              <a:rPr lang="en-US" b="0" i="1" dirty="0" err="1">
                <a:effectLst/>
                <a:latin typeface="Lato" panose="020F0502020204030203" pitchFamily="34" charset="0"/>
                <a:ea typeface="Lato" panose="020F0502020204030203" pitchFamily="34" charset="0"/>
                <a:cs typeface="Lato" panose="020F0502020204030203" pitchFamily="34" charset="0"/>
              </a:rPr>
              <a:t>máy</a:t>
            </a:r>
            <a:r>
              <a:rPr lang="en-US" b="0" i="1" dirty="0">
                <a:effectLst/>
                <a:latin typeface="Lato" panose="020F0502020204030203" pitchFamily="34" charset="0"/>
                <a:ea typeface="Lato" panose="020F0502020204030203" pitchFamily="34" charset="0"/>
                <a:cs typeface="Lato" panose="020F0502020204030203" pitchFamily="34" charset="0"/>
              </a:rPr>
              <a:t> </a:t>
            </a:r>
            <a:r>
              <a:rPr lang="en-US" b="0" i="1" dirty="0" err="1">
                <a:effectLst/>
                <a:latin typeface="Lato" panose="020F0502020204030203" pitchFamily="34" charset="0"/>
                <a:ea typeface="Lato" panose="020F0502020204030203" pitchFamily="34" charset="0"/>
                <a:cs typeface="Lato" panose="020F0502020204030203" pitchFamily="34" charset="0"/>
              </a:rPr>
              <a:t>chủ</a:t>
            </a:r>
            <a:r>
              <a:rPr lang="en-US" b="0" i="1" dirty="0">
                <a:effectLst/>
                <a:latin typeface="Lato" panose="020F0502020204030203" pitchFamily="34" charset="0"/>
                <a:ea typeface="Lato" panose="020F0502020204030203" pitchFamily="34" charset="0"/>
                <a:cs typeface="Lato" panose="020F0502020204030203" pitchFamily="34" charset="0"/>
              </a:rPr>
              <a:t> &amp; </a:t>
            </a:r>
            <a:r>
              <a:rPr lang="en-US" b="0" i="1" dirty="0" err="1">
                <a:effectLst/>
                <a:latin typeface="Lato" panose="020F0502020204030203" pitchFamily="34" charset="0"/>
                <a:ea typeface="Lato" panose="020F0502020204030203" pitchFamily="34" charset="0"/>
                <a:cs typeface="Lato" panose="020F0502020204030203" pitchFamily="34" charset="0"/>
              </a:rPr>
              <a:t>dịch</a:t>
            </a:r>
            <a:r>
              <a:rPr lang="en-US" b="0" i="1" dirty="0">
                <a:effectLst/>
                <a:latin typeface="Lato" panose="020F0502020204030203" pitchFamily="34" charset="0"/>
                <a:ea typeface="Lato" panose="020F0502020204030203" pitchFamily="34" charset="0"/>
                <a:cs typeface="Lato" panose="020F0502020204030203" pitchFamily="34" charset="0"/>
              </a:rPr>
              <a:t> </a:t>
            </a:r>
            <a:r>
              <a:rPr lang="en-US" b="0" i="1" dirty="0" err="1">
                <a:effectLst/>
                <a:latin typeface="Lato" panose="020F0502020204030203" pitchFamily="34" charset="0"/>
                <a:ea typeface="Lato" panose="020F0502020204030203" pitchFamily="34" charset="0"/>
                <a:cs typeface="Lato" panose="020F0502020204030203" pitchFamily="34" charset="0"/>
              </a:rPr>
              <a:t>vụ</a:t>
            </a:r>
            <a:r>
              <a:rPr lang="en-US" b="0" i="1" dirty="0">
                <a:effectLst/>
                <a:latin typeface="Lato" panose="020F0502020204030203" pitchFamily="34" charset="0"/>
                <a:ea typeface="Lato" panose="020F0502020204030203" pitchFamily="34" charset="0"/>
                <a:cs typeface="Lato" panose="020F0502020204030203" pitchFamily="34" charset="0"/>
              </a:rPr>
              <a:t> </a:t>
            </a:r>
            <a:r>
              <a:rPr lang="en-US" b="0" i="1" dirty="0" err="1">
                <a:effectLst/>
                <a:latin typeface="Lato" panose="020F0502020204030203" pitchFamily="34" charset="0"/>
                <a:ea typeface="Lato" panose="020F0502020204030203" pitchFamily="34" charset="0"/>
                <a:cs typeface="Lato" panose="020F0502020204030203" pitchFamily="34" charset="0"/>
              </a:rPr>
              <a:t>mạng</a:t>
            </a:r>
            <a:r>
              <a:rPr lang="en-US" b="0" i="1" dirty="0">
                <a:effectLst/>
                <a:latin typeface="Lato" panose="020F0502020204030203" pitchFamily="34" charset="0"/>
                <a:ea typeface="Lato" panose="020F0502020204030203" pitchFamily="34" charset="0"/>
                <a:cs typeface="Lato" panose="020F0502020204030203" pitchFamily="34" charset="0"/>
              </a:rPr>
              <a:t> (Networking, Server Systems)</a:t>
            </a:r>
            <a:endParaRPr lang="vi-VN" b="0" i="1" dirty="0">
              <a:effectLst/>
              <a:latin typeface="Lato" panose="020F0502020204030203" pitchFamily="34" charset="0"/>
              <a:ea typeface="Lato" panose="020F0502020204030203" pitchFamily="34" charset="0"/>
              <a:cs typeface="Lato" panose="020F0502020204030203" pitchFamily="34" charset="0"/>
            </a:endParaRPr>
          </a:p>
        </p:txBody>
      </p:sp>
      <p:pic>
        <p:nvPicPr>
          <p:cNvPr id="12" name="Picture 11">
            <a:extLst>
              <a:ext uri="{FF2B5EF4-FFF2-40B4-BE49-F238E27FC236}">
                <a16:creationId xmlns:a16="http://schemas.microsoft.com/office/drawing/2014/main" id="{32746CB8-3E7D-833D-13BB-BF9D6A75A0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87199" y="1782939"/>
            <a:ext cx="4668938" cy="2797734"/>
          </a:xfrm>
          <a:prstGeom prst="rect">
            <a:avLst/>
          </a:prstGeom>
        </p:spPr>
      </p:pic>
      <p:sp>
        <p:nvSpPr>
          <p:cNvPr id="7" name="TextBox 6">
            <a:extLst>
              <a:ext uri="{FF2B5EF4-FFF2-40B4-BE49-F238E27FC236}">
                <a16:creationId xmlns:a16="http://schemas.microsoft.com/office/drawing/2014/main" id="{092334A0-2F76-F3F2-BF11-64C94FAFDE1C}"/>
              </a:ext>
            </a:extLst>
          </p:cNvPr>
          <p:cNvSpPr txBox="1"/>
          <p:nvPr/>
        </p:nvSpPr>
        <p:spPr>
          <a:xfrm>
            <a:off x="682831" y="1658435"/>
            <a:ext cx="7778337" cy="646331"/>
          </a:xfrm>
          <a:prstGeom prst="rect">
            <a:avLst/>
          </a:prstGeom>
          <a:noFill/>
        </p:spPr>
        <p:txBody>
          <a:bodyPr wrap="square" rtlCol="0">
            <a:spAutoFit/>
          </a:bodyPr>
          <a:lstStyle/>
          <a:p>
            <a:r>
              <a:rPr lang="vi-VN" dirty="0">
                <a:solidFill>
                  <a:srgbClr val="FF0000"/>
                </a:solidFill>
                <a:latin typeface="Lato" panose="020F0502020204030203" pitchFamily="34" charset="0"/>
                <a:ea typeface="Lato" panose="020F0502020204030203" pitchFamily="34" charset="0"/>
                <a:cs typeface="Lato" panose="020F0502020204030203" pitchFamily="34" charset="0"/>
              </a:rPr>
              <a:t>Red-Black Tree </a:t>
            </a:r>
            <a:r>
              <a:rPr lang="vi-VN" dirty="0">
                <a:latin typeface="Lato" panose="020F0502020204030203" pitchFamily="34" charset="0"/>
                <a:ea typeface="Lato" panose="020F0502020204030203" pitchFamily="34" charset="0"/>
                <a:cs typeface="Lato" panose="020F0502020204030203" pitchFamily="34" charset="0"/>
              </a:rPr>
              <a:t>được dùng để quản lý </a:t>
            </a:r>
            <a:r>
              <a:rPr lang="vi-VN" b="1" dirty="0">
                <a:latin typeface="Lato" panose="020F0502020204030203" pitchFamily="34" charset="0"/>
                <a:ea typeface="Lato" panose="020F0502020204030203" pitchFamily="34" charset="0"/>
                <a:cs typeface="Lato" panose="020F0502020204030203" pitchFamily="34" charset="0"/>
              </a:rPr>
              <a:t>sự kiện theo thời gian (timer events)</a:t>
            </a:r>
            <a:r>
              <a:rPr lang="vi-VN" dirty="0">
                <a:latin typeface="Lato" panose="020F0502020204030203" pitchFamily="34" charset="0"/>
                <a:ea typeface="Lato" panose="020F0502020204030203" pitchFamily="34" charset="0"/>
                <a:cs typeface="Lato" panose="020F0502020204030203" pitchFamily="34" charset="0"/>
              </a:rPr>
              <a:t> và </a:t>
            </a:r>
            <a:r>
              <a:rPr lang="vi-VN" b="1" dirty="0">
                <a:latin typeface="Lato" panose="020F0502020204030203" pitchFamily="34" charset="0"/>
                <a:ea typeface="Lato" panose="020F0502020204030203" pitchFamily="34" charset="0"/>
                <a:cs typeface="Lato" panose="020F0502020204030203" pitchFamily="34" charset="0"/>
              </a:rPr>
              <a:t>kết nối mạng</a:t>
            </a:r>
            <a:r>
              <a:rPr lang="vi-VN" dirty="0">
                <a:latin typeface="Lato" panose="020F0502020204030203" pitchFamily="34" charset="0"/>
                <a:ea typeface="Lato" panose="020F0502020204030203" pitchFamily="34" charset="0"/>
                <a:cs typeface="Lato" panose="020F0502020204030203" pitchFamily="34" charset="0"/>
              </a:rPr>
              <a:t>.</a:t>
            </a:r>
            <a:endParaRPr lang="en-VN" dirty="0">
              <a:latin typeface="Lato" panose="020F0502020204030203" pitchFamily="34" charset="0"/>
              <a:ea typeface="Lato" panose="020F0502020204030203" pitchFamily="34" charset="0"/>
              <a:cs typeface="Lato" panose="020F0502020204030203" pitchFamily="34" charset="0"/>
            </a:endParaRPr>
          </a:p>
        </p:txBody>
      </p:sp>
      <p:sp>
        <p:nvSpPr>
          <p:cNvPr id="8" name="TextBox 7">
            <a:extLst>
              <a:ext uri="{FF2B5EF4-FFF2-40B4-BE49-F238E27FC236}">
                <a16:creationId xmlns:a16="http://schemas.microsoft.com/office/drawing/2014/main" id="{4F1D9C86-B9FA-0F72-D585-4F7CBDA9140A}"/>
              </a:ext>
            </a:extLst>
          </p:cNvPr>
          <p:cNvSpPr txBox="1"/>
          <p:nvPr/>
        </p:nvSpPr>
        <p:spPr>
          <a:xfrm>
            <a:off x="1140031" y="2410691"/>
            <a:ext cx="6388925" cy="2259658"/>
          </a:xfrm>
          <a:prstGeom prst="rect">
            <a:avLst/>
          </a:prstGeom>
          <a:noFill/>
        </p:spPr>
        <p:txBody>
          <a:bodyPr wrap="square" rtlCol="0">
            <a:spAutoFit/>
          </a:bodyPr>
          <a:lstStyle/>
          <a:p>
            <a:pPr>
              <a:lnSpc>
                <a:spcPct val="150000"/>
              </a:lnSpc>
            </a:pPr>
            <a:r>
              <a:rPr lang="vi-VN" sz="1600" b="1" dirty="0">
                <a:latin typeface="Lato" panose="020F0502020204030203" pitchFamily="34" charset="0"/>
                <a:ea typeface="Lato" panose="020F0502020204030203" pitchFamily="34" charset="0"/>
                <a:cs typeface="Lato" panose="020F0502020204030203" pitchFamily="34" charset="0"/>
              </a:rPr>
              <a:t>Ví dụ:</a:t>
            </a:r>
            <a:endParaRPr lang="vi-VN" sz="1600" dirty="0">
              <a:latin typeface="Lato" panose="020F0502020204030203" pitchFamily="34" charset="0"/>
              <a:ea typeface="Lato" panose="020F0502020204030203" pitchFamily="34" charset="0"/>
              <a:cs typeface="Lato" panose="020F0502020204030203" pitchFamily="34" charset="0"/>
            </a:endParaRPr>
          </a:p>
          <a:p>
            <a:pPr marL="285750" indent="-285750">
              <a:lnSpc>
                <a:spcPct val="150000"/>
              </a:lnSpc>
              <a:buFont typeface="Arial" panose="020B0604020202020204" pitchFamily="34" charset="0"/>
              <a:buChar char="•"/>
            </a:pPr>
            <a:r>
              <a:rPr lang="vi-VN" sz="1600" b="1" dirty="0">
                <a:latin typeface="Lato" panose="020F0502020204030203" pitchFamily="34" charset="0"/>
                <a:ea typeface="Lato" panose="020F0502020204030203" pitchFamily="34" charset="0"/>
                <a:cs typeface="Lato" panose="020F0502020204030203" pitchFamily="34" charset="0"/>
              </a:rPr>
              <a:t>Nginx</a:t>
            </a:r>
            <a:r>
              <a:rPr lang="vi-VN" sz="1600" dirty="0">
                <a:latin typeface="Lato" panose="020F0502020204030203" pitchFamily="34" charset="0"/>
                <a:ea typeface="Lato" panose="020F0502020204030203" pitchFamily="34" charset="0"/>
                <a:cs typeface="Lato" panose="020F0502020204030203" pitchFamily="34" charset="0"/>
              </a:rPr>
              <a:t> sử dụng </a:t>
            </a:r>
            <a:r>
              <a:rPr lang="vi-VN" sz="1600" b="1" dirty="0">
                <a:latin typeface="Lato" panose="020F0502020204030203" pitchFamily="34" charset="0"/>
                <a:ea typeface="Lato" panose="020F0502020204030203" pitchFamily="34" charset="0"/>
                <a:cs typeface="Lato" panose="020F0502020204030203" pitchFamily="34" charset="0"/>
              </a:rPr>
              <a:t>Red-Black Tree</a:t>
            </a:r>
            <a:r>
              <a:rPr lang="vi-VN" sz="1600" dirty="0">
                <a:latin typeface="Lato" panose="020F0502020204030203" pitchFamily="34" charset="0"/>
                <a:ea typeface="Lato" panose="020F0502020204030203" pitchFamily="34" charset="0"/>
                <a:cs typeface="Lato" panose="020F0502020204030203" pitchFamily="34" charset="0"/>
              </a:rPr>
              <a:t> để lưu trữ các </a:t>
            </a:r>
            <a:r>
              <a:rPr lang="vi-VN" sz="1600" b="1" dirty="0">
                <a:latin typeface="Lato" panose="020F0502020204030203" pitchFamily="34" charset="0"/>
                <a:ea typeface="Lato" panose="020F0502020204030203" pitchFamily="34" charset="0"/>
                <a:cs typeface="Lato" panose="020F0502020204030203" pitchFamily="34" charset="0"/>
              </a:rPr>
              <a:t>session timeout</a:t>
            </a:r>
            <a:r>
              <a:rPr lang="vi-VN" sz="1600" dirty="0">
                <a:latin typeface="Lato" panose="020F0502020204030203" pitchFamily="34" charset="0"/>
                <a:ea typeface="Lato" panose="020F0502020204030203" pitchFamily="34" charset="0"/>
                <a:cs typeface="Lato" panose="020F0502020204030203" pitchFamily="34" charset="0"/>
              </a:rPr>
              <a:t>, giúp máy chủ xử lý hàng nghìn kết nối đồng thời mà vẫn nhanh.</a:t>
            </a:r>
          </a:p>
          <a:p>
            <a:pPr marL="285750" indent="-285750">
              <a:lnSpc>
                <a:spcPct val="150000"/>
              </a:lnSpc>
              <a:buFont typeface="Arial" panose="020B0604020202020204" pitchFamily="34" charset="0"/>
              <a:buChar char="•"/>
            </a:pPr>
            <a:r>
              <a:rPr lang="vi-VN" sz="1600" b="1" dirty="0">
                <a:latin typeface="Lato" panose="020F0502020204030203" pitchFamily="34" charset="0"/>
                <a:ea typeface="Lato" panose="020F0502020204030203" pitchFamily="34" charset="0"/>
                <a:cs typeface="Lato" panose="020F0502020204030203" pitchFamily="34" charset="0"/>
              </a:rPr>
              <a:t>TCP stack</a:t>
            </a:r>
            <a:r>
              <a:rPr lang="vi-VN" sz="1600" dirty="0">
                <a:latin typeface="Lato" panose="020F0502020204030203" pitchFamily="34" charset="0"/>
                <a:ea typeface="Lato" panose="020F0502020204030203" pitchFamily="34" charset="0"/>
                <a:cs typeface="Lato" panose="020F0502020204030203" pitchFamily="34" charset="0"/>
              </a:rPr>
              <a:t> trong Linux cũng dùng RBT để sắp xếp các </a:t>
            </a:r>
            <a:r>
              <a:rPr lang="vi-VN" sz="1600" b="1" dirty="0">
                <a:latin typeface="Lato" panose="020F0502020204030203" pitchFamily="34" charset="0"/>
                <a:ea typeface="Lato" panose="020F0502020204030203" pitchFamily="34" charset="0"/>
                <a:cs typeface="Lato" panose="020F0502020204030203" pitchFamily="34" charset="0"/>
              </a:rPr>
              <a:t>socket connections</a:t>
            </a:r>
            <a:r>
              <a:rPr lang="vi-VN" sz="1600" dirty="0">
                <a:latin typeface="Lato" panose="020F0502020204030203" pitchFamily="34" charset="0"/>
                <a:ea typeface="Lato" panose="020F0502020204030203" pitchFamily="34" charset="0"/>
                <a:cs typeface="Lato" panose="020F0502020204030203" pitchFamily="34" charset="0"/>
              </a:rPr>
              <a:t> theo thời gian hoặc địa chỉ IP.</a:t>
            </a:r>
          </a:p>
          <a:p>
            <a:pPr>
              <a:lnSpc>
                <a:spcPct val="150000"/>
              </a:lnSpc>
            </a:pPr>
            <a:endParaRPr lang="en-VN" sz="1600"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1807570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E207-A869-B342-B6D9-77005A268D98}"/>
              </a:ext>
            </a:extLst>
          </p:cNvPr>
          <p:cNvSpPr>
            <a:spLocks noGrp="1"/>
          </p:cNvSpPr>
          <p:nvPr>
            <p:ph type="title"/>
          </p:nvPr>
        </p:nvSpPr>
        <p:spPr/>
        <p:txBody>
          <a:bodyPr/>
          <a:lstStyle/>
          <a:p>
            <a:r>
              <a:rPr lang="en-US" dirty="0"/>
              <a:t>ỨNG DỤNG THỰC TẾ</a:t>
            </a:r>
          </a:p>
        </p:txBody>
      </p:sp>
      <p:sp>
        <p:nvSpPr>
          <p:cNvPr id="5" name="Slide Number Placeholder 4">
            <a:extLst>
              <a:ext uri="{FF2B5EF4-FFF2-40B4-BE49-F238E27FC236}">
                <a16:creationId xmlns:a16="http://schemas.microsoft.com/office/drawing/2014/main" id="{853CF161-A6C1-F8C7-C9A5-5CD5BD5C176E}"/>
              </a:ext>
            </a:extLst>
          </p:cNvPr>
          <p:cNvSpPr>
            <a:spLocks noGrp="1"/>
          </p:cNvSpPr>
          <p:nvPr>
            <p:ph type="sldNum" sz="quarter" idx="12"/>
          </p:nvPr>
        </p:nvSpPr>
        <p:spPr/>
        <p:txBody>
          <a:bodyPr/>
          <a:lstStyle/>
          <a:p>
            <a:fld id="{9EA0BE3B-158A-4EDF-80DC-E394A0D1600F}" type="slidenum">
              <a:rPr lang="en-US" smtClean="0"/>
              <a:pPr/>
              <a:t>43</a:t>
            </a:fld>
            <a:endParaRPr lang="en-US" dirty="0"/>
          </a:p>
        </p:txBody>
      </p:sp>
      <p:sp>
        <p:nvSpPr>
          <p:cNvPr id="4" name="TextBox 3">
            <a:extLst>
              <a:ext uri="{FF2B5EF4-FFF2-40B4-BE49-F238E27FC236}">
                <a16:creationId xmlns:a16="http://schemas.microsoft.com/office/drawing/2014/main" id="{D857B26E-CDD9-EC46-643A-7540A6E01817}"/>
              </a:ext>
            </a:extLst>
          </p:cNvPr>
          <p:cNvSpPr txBox="1"/>
          <p:nvPr/>
        </p:nvSpPr>
        <p:spPr>
          <a:xfrm>
            <a:off x="354330" y="832783"/>
            <a:ext cx="4880610" cy="400110"/>
          </a:xfrm>
          <a:prstGeom prst="rect">
            <a:avLst/>
          </a:prstGeom>
          <a:noFill/>
        </p:spPr>
        <p:txBody>
          <a:bodyPr wrap="square" rtlCol="0">
            <a:spAutoFit/>
          </a:bodyPr>
          <a:lstStyle/>
          <a:p>
            <a:r>
              <a:rPr lang="vi-VN" sz="2000" b="0" i="0" dirty="0">
                <a:solidFill>
                  <a:srgbClr val="7030A0"/>
                </a:solidFill>
                <a:effectLst/>
                <a:latin typeface="Lato" panose="020F0502020204030203" pitchFamily="34" charset="0"/>
                <a:ea typeface="Lato" panose="020F0502020204030203" pitchFamily="34" charset="0"/>
                <a:cs typeface="Lato" panose="020F0502020204030203" pitchFamily="34" charset="0"/>
              </a:rPr>
              <a:t>Các ứng dụng thực tế ngày nay bao gồm:</a:t>
            </a:r>
            <a:endParaRPr lang="en-VN" sz="2000" dirty="0">
              <a:solidFill>
                <a:srgbClr val="7030A0"/>
              </a:solidFill>
              <a:latin typeface="Lato" panose="020F0502020204030203" pitchFamily="34" charset="0"/>
              <a:ea typeface="Lato" panose="020F0502020204030203" pitchFamily="34" charset="0"/>
              <a:cs typeface="Lato" panose="020F0502020204030203" pitchFamily="34" charset="0"/>
            </a:endParaRPr>
          </a:p>
        </p:txBody>
      </p:sp>
      <p:sp>
        <p:nvSpPr>
          <p:cNvPr id="6" name="TextBox 5">
            <a:extLst>
              <a:ext uri="{FF2B5EF4-FFF2-40B4-BE49-F238E27FC236}">
                <a16:creationId xmlns:a16="http://schemas.microsoft.com/office/drawing/2014/main" id="{0A0C6A31-8A29-4C76-FE69-27C02296F26E}"/>
              </a:ext>
            </a:extLst>
          </p:cNvPr>
          <p:cNvSpPr txBox="1"/>
          <p:nvPr/>
        </p:nvSpPr>
        <p:spPr>
          <a:xfrm>
            <a:off x="779929" y="1232893"/>
            <a:ext cx="7011260" cy="369332"/>
          </a:xfrm>
          <a:prstGeom prst="rect">
            <a:avLst/>
          </a:prstGeom>
          <a:noFill/>
        </p:spPr>
        <p:txBody>
          <a:bodyPr wrap="square" rtlCol="0">
            <a:spAutoFit/>
          </a:bodyPr>
          <a:lstStyle/>
          <a:p>
            <a:r>
              <a:rPr lang="en-US" b="0" i="1" dirty="0">
                <a:effectLst/>
                <a:latin typeface="Lato" panose="020F0502020204030203" pitchFamily="34" charset="0"/>
                <a:ea typeface="Lato" panose="020F0502020204030203" pitchFamily="34" charset="0"/>
                <a:cs typeface="Lato" panose="020F0502020204030203" pitchFamily="34" charset="0"/>
              </a:rPr>
              <a:t>- </a:t>
            </a:r>
            <a:r>
              <a:rPr lang="en-US" b="0" i="1" dirty="0" err="1">
                <a:effectLst/>
                <a:latin typeface="Lato" panose="020F0502020204030203" pitchFamily="34" charset="0"/>
                <a:ea typeface="Lato" panose="020F0502020204030203" pitchFamily="34" charset="0"/>
                <a:cs typeface="Lato" panose="020F0502020204030203" pitchFamily="34" charset="0"/>
              </a:rPr>
              <a:t>Trí</a:t>
            </a:r>
            <a:r>
              <a:rPr lang="en-US" b="0" i="1" dirty="0">
                <a:effectLst/>
                <a:latin typeface="Lato" panose="020F0502020204030203" pitchFamily="34" charset="0"/>
                <a:ea typeface="Lato" panose="020F0502020204030203" pitchFamily="34" charset="0"/>
                <a:cs typeface="Lato" panose="020F0502020204030203" pitchFamily="34" charset="0"/>
              </a:rPr>
              <a:t> </a:t>
            </a:r>
            <a:r>
              <a:rPr lang="en-US" b="0" i="1" dirty="0" err="1">
                <a:effectLst/>
                <a:latin typeface="Lato" panose="020F0502020204030203" pitchFamily="34" charset="0"/>
                <a:ea typeface="Lato" panose="020F0502020204030203" pitchFamily="34" charset="0"/>
                <a:cs typeface="Lato" panose="020F0502020204030203" pitchFamily="34" charset="0"/>
              </a:rPr>
              <a:t>tuệ</a:t>
            </a:r>
            <a:r>
              <a:rPr lang="en-US" b="0" i="1" dirty="0">
                <a:effectLst/>
                <a:latin typeface="Lato" panose="020F0502020204030203" pitchFamily="34" charset="0"/>
                <a:ea typeface="Lato" panose="020F0502020204030203" pitchFamily="34" charset="0"/>
                <a:cs typeface="Lato" panose="020F0502020204030203" pitchFamily="34" charset="0"/>
              </a:rPr>
              <a:t> </a:t>
            </a:r>
            <a:r>
              <a:rPr lang="en-US" b="0" i="1" dirty="0" err="1">
                <a:effectLst/>
                <a:latin typeface="Lato" panose="020F0502020204030203" pitchFamily="34" charset="0"/>
                <a:ea typeface="Lato" panose="020F0502020204030203" pitchFamily="34" charset="0"/>
                <a:cs typeface="Lato" panose="020F0502020204030203" pitchFamily="34" charset="0"/>
              </a:rPr>
              <a:t>nhân</a:t>
            </a:r>
            <a:r>
              <a:rPr lang="en-US" b="0" i="1" dirty="0">
                <a:effectLst/>
                <a:latin typeface="Lato" panose="020F0502020204030203" pitchFamily="34" charset="0"/>
                <a:ea typeface="Lato" panose="020F0502020204030203" pitchFamily="34" charset="0"/>
                <a:cs typeface="Lato" panose="020F0502020204030203" pitchFamily="34" charset="0"/>
              </a:rPr>
              <a:t> </a:t>
            </a:r>
            <a:r>
              <a:rPr lang="en-US" b="0" i="1" dirty="0" err="1">
                <a:effectLst/>
                <a:latin typeface="Lato" panose="020F0502020204030203" pitchFamily="34" charset="0"/>
                <a:ea typeface="Lato" panose="020F0502020204030203" pitchFamily="34" charset="0"/>
                <a:cs typeface="Lato" panose="020F0502020204030203" pitchFamily="34" charset="0"/>
              </a:rPr>
              <a:t>tạo</a:t>
            </a:r>
            <a:r>
              <a:rPr lang="en-US" b="0" i="1" dirty="0">
                <a:effectLst/>
                <a:latin typeface="Lato" panose="020F0502020204030203" pitchFamily="34" charset="0"/>
                <a:ea typeface="Lato" panose="020F0502020204030203" pitchFamily="34" charset="0"/>
                <a:cs typeface="Lato" panose="020F0502020204030203" pitchFamily="34" charset="0"/>
              </a:rPr>
              <a:t> &amp; </a:t>
            </a:r>
            <a:r>
              <a:rPr lang="en-US" b="0" i="1" dirty="0" err="1">
                <a:effectLst/>
                <a:latin typeface="Lato" panose="020F0502020204030203" pitchFamily="34" charset="0"/>
                <a:ea typeface="Lato" panose="020F0502020204030203" pitchFamily="34" charset="0"/>
                <a:cs typeface="Lato" panose="020F0502020204030203" pitchFamily="34" charset="0"/>
              </a:rPr>
              <a:t>Máy</a:t>
            </a:r>
            <a:r>
              <a:rPr lang="en-US" b="0" i="1" dirty="0">
                <a:effectLst/>
                <a:latin typeface="Lato" panose="020F0502020204030203" pitchFamily="34" charset="0"/>
                <a:ea typeface="Lato" panose="020F0502020204030203" pitchFamily="34" charset="0"/>
                <a:cs typeface="Lato" panose="020F0502020204030203" pitchFamily="34" charset="0"/>
              </a:rPr>
              <a:t> </a:t>
            </a:r>
            <a:r>
              <a:rPr lang="en-US" b="0" i="1" dirty="0" err="1">
                <a:effectLst/>
                <a:latin typeface="Lato" panose="020F0502020204030203" pitchFamily="34" charset="0"/>
                <a:ea typeface="Lato" panose="020F0502020204030203" pitchFamily="34" charset="0"/>
                <a:cs typeface="Lato" panose="020F0502020204030203" pitchFamily="34" charset="0"/>
              </a:rPr>
              <a:t>học</a:t>
            </a:r>
            <a:r>
              <a:rPr lang="en-US" b="0" i="1" dirty="0">
                <a:effectLst/>
                <a:latin typeface="Lato" panose="020F0502020204030203" pitchFamily="34" charset="0"/>
                <a:ea typeface="Lato" panose="020F0502020204030203" pitchFamily="34" charset="0"/>
                <a:cs typeface="Lato" panose="020F0502020204030203" pitchFamily="34" charset="0"/>
              </a:rPr>
              <a:t> (AI/ML Systems)</a:t>
            </a:r>
            <a:endParaRPr lang="vi-VN" b="0" i="1" dirty="0">
              <a:effectLst/>
              <a:latin typeface="Lato" panose="020F0502020204030203" pitchFamily="34" charset="0"/>
              <a:ea typeface="Lato" panose="020F0502020204030203" pitchFamily="34" charset="0"/>
              <a:cs typeface="Lato" panose="020F0502020204030203" pitchFamily="34" charset="0"/>
            </a:endParaRPr>
          </a:p>
        </p:txBody>
      </p:sp>
      <p:sp>
        <p:nvSpPr>
          <p:cNvPr id="7" name="TextBox 6">
            <a:extLst>
              <a:ext uri="{FF2B5EF4-FFF2-40B4-BE49-F238E27FC236}">
                <a16:creationId xmlns:a16="http://schemas.microsoft.com/office/drawing/2014/main" id="{092334A0-2F76-F3F2-BF11-64C94FAFDE1C}"/>
              </a:ext>
            </a:extLst>
          </p:cNvPr>
          <p:cNvSpPr txBox="1"/>
          <p:nvPr/>
        </p:nvSpPr>
        <p:spPr>
          <a:xfrm>
            <a:off x="682831" y="1658435"/>
            <a:ext cx="7778337" cy="923330"/>
          </a:xfrm>
          <a:prstGeom prst="rect">
            <a:avLst/>
          </a:prstGeom>
          <a:noFill/>
        </p:spPr>
        <p:txBody>
          <a:bodyPr wrap="square" rtlCol="0">
            <a:spAutoFit/>
          </a:bodyPr>
          <a:lstStyle/>
          <a:p>
            <a:r>
              <a:rPr lang="vi-VN" dirty="0">
                <a:latin typeface="Lato" panose="020F0502020204030203" pitchFamily="34" charset="0"/>
                <a:ea typeface="Lato" panose="020F0502020204030203" pitchFamily="34" charset="0"/>
                <a:cs typeface="Lato" panose="020F0502020204030203" pitchFamily="34" charset="0"/>
              </a:rPr>
              <a:t>Một số thư viện Machine Learning sử dụng Red-Black Tree để:</a:t>
            </a:r>
          </a:p>
          <a:p>
            <a:pPr marL="285750" indent="-285750">
              <a:buFont typeface="Arial" panose="020B0604020202020204" pitchFamily="34" charset="0"/>
              <a:buChar char="•"/>
            </a:pPr>
            <a:r>
              <a:rPr lang="vi-VN" dirty="0">
                <a:latin typeface="Lato" panose="020F0502020204030203" pitchFamily="34" charset="0"/>
                <a:ea typeface="Lato" panose="020F0502020204030203" pitchFamily="34" charset="0"/>
                <a:cs typeface="Lato" panose="020F0502020204030203" pitchFamily="34" charset="0"/>
              </a:rPr>
              <a:t>Sắp xếp và tìm kiếm tập dữ liệu.</a:t>
            </a:r>
          </a:p>
          <a:p>
            <a:pPr marL="285750" indent="-285750">
              <a:buFont typeface="Arial" panose="020B0604020202020204" pitchFamily="34" charset="0"/>
              <a:buChar char="•"/>
            </a:pPr>
            <a:r>
              <a:rPr lang="vi-VN" dirty="0">
                <a:latin typeface="Lato" panose="020F0502020204030203" pitchFamily="34" charset="0"/>
                <a:ea typeface="Lato" panose="020F0502020204030203" pitchFamily="34" charset="0"/>
                <a:cs typeface="Lato" panose="020F0502020204030203" pitchFamily="34" charset="0"/>
              </a:rPr>
              <a:t>Quản lý hàng đợi ưu tiên (priority queue) trong quá trình huấn luyện.</a:t>
            </a:r>
          </a:p>
        </p:txBody>
      </p:sp>
    </p:spTree>
    <p:extLst>
      <p:ext uri="{BB962C8B-B14F-4D97-AF65-F5344CB8AC3E}">
        <p14:creationId xmlns:p14="http://schemas.microsoft.com/office/powerpoint/2010/main" val="866914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A5FD9F-F079-E7CB-275B-4B407F7320C6}"/>
              </a:ext>
            </a:extLst>
          </p:cNvPr>
          <p:cNvSpPr>
            <a:spLocks noGrp="1"/>
          </p:cNvSpPr>
          <p:nvPr>
            <p:ph type="sldNum" sz="quarter" idx="12"/>
          </p:nvPr>
        </p:nvSpPr>
        <p:spPr/>
        <p:txBody>
          <a:bodyPr/>
          <a:lstStyle/>
          <a:p>
            <a:fld id="{9EA0BE3B-158A-4EDF-80DC-E394A0D1600F}" type="slidenum">
              <a:rPr lang="en-US" smtClean="0"/>
              <a:pPr/>
              <a:t>44</a:t>
            </a:fld>
            <a:endParaRPr lang="en-US" dirty="0"/>
          </a:p>
        </p:txBody>
      </p:sp>
      <p:sp>
        <p:nvSpPr>
          <p:cNvPr id="3" name="Title 2">
            <a:extLst>
              <a:ext uri="{FF2B5EF4-FFF2-40B4-BE49-F238E27FC236}">
                <a16:creationId xmlns:a16="http://schemas.microsoft.com/office/drawing/2014/main" id="{CE73DABA-0E07-DDEE-86EE-B4224D9C9822}"/>
              </a:ext>
            </a:extLst>
          </p:cNvPr>
          <p:cNvSpPr>
            <a:spLocks noGrp="1"/>
          </p:cNvSpPr>
          <p:nvPr>
            <p:ph type="title"/>
          </p:nvPr>
        </p:nvSpPr>
        <p:spPr/>
        <p:txBody>
          <a:bodyPr/>
          <a:lstStyle/>
          <a:p>
            <a:r>
              <a:rPr lang="en-US" dirty="0"/>
              <a:t>KẾT LUẬN</a:t>
            </a:r>
          </a:p>
        </p:txBody>
      </p:sp>
      <p:sp>
        <p:nvSpPr>
          <p:cNvPr id="5" name="TextBox 4">
            <a:extLst>
              <a:ext uri="{FF2B5EF4-FFF2-40B4-BE49-F238E27FC236}">
                <a16:creationId xmlns:a16="http://schemas.microsoft.com/office/drawing/2014/main" id="{C6B1641B-9286-2C10-8318-B4BCC8BBD114}"/>
              </a:ext>
            </a:extLst>
          </p:cNvPr>
          <p:cNvSpPr txBox="1"/>
          <p:nvPr/>
        </p:nvSpPr>
        <p:spPr>
          <a:xfrm>
            <a:off x="689113" y="755374"/>
            <a:ext cx="3604592" cy="400110"/>
          </a:xfrm>
          <a:prstGeom prst="rect">
            <a:avLst/>
          </a:prstGeom>
          <a:noFill/>
        </p:spPr>
        <p:txBody>
          <a:bodyPr wrap="square" rtlCol="0">
            <a:spAutoFit/>
          </a:bodyPr>
          <a:lstStyle/>
          <a:p>
            <a:r>
              <a:rPr lang="en-VN" sz="2000" b="1" dirty="0">
                <a:latin typeface="Lato" panose="020F0502020204030203" pitchFamily="34" charset="0"/>
                <a:ea typeface="Lato" panose="020F0502020204030203" pitchFamily="34" charset="0"/>
                <a:cs typeface="Lato" panose="020F0502020204030203" pitchFamily="34" charset="0"/>
              </a:rPr>
              <a:t>ƯU VÀ NHƯỢC ĐIỂM</a:t>
            </a:r>
          </a:p>
        </p:txBody>
      </p:sp>
      <p:sp>
        <p:nvSpPr>
          <p:cNvPr id="8" name="Freeform 4">
            <a:extLst>
              <a:ext uri="{FF2B5EF4-FFF2-40B4-BE49-F238E27FC236}">
                <a16:creationId xmlns:a16="http://schemas.microsoft.com/office/drawing/2014/main" id="{7890DFE7-ACAD-BF8B-8DC4-538F7D905D7A}"/>
              </a:ext>
            </a:extLst>
          </p:cNvPr>
          <p:cNvSpPr/>
          <p:nvPr/>
        </p:nvSpPr>
        <p:spPr>
          <a:xfrm>
            <a:off x="119269" y="1462442"/>
            <a:ext cx="4452731" cy="3528974"/>
          </a:xfrm>
          <a:custGeom>
            <a:avLst/>
            <a:gdLst/>
            <a:ahLst/>
            <a:cxnLst/>
            <a:rect l="l" t="t" r="r" b="b"/>
            <a:pathLst>
              <a:path w="1535289" h="1718587">
                <a:moveTo>
                  <a:pt x="67235" y="0"/>
                </a:moveTo>
                <a:lnTo>
                  <a:pt x="1468054" y="0"/>
                </a:lnTo>
                <a:cubicBezTo>
                  <a:pt x="1505187" y="0"/>
                  <a:pt x="1535289" y="30102"/>
                  <a:pt x="1535289" y="67235"/>
                </a:cubicBezTo>
                <a:lnTo>
                  <a:pt x="1535289" y="1651351"/>
                </a:lnTo>
                <a:cubicBezTo>
                  <a:pt x="1535289" y="1688484"/>
                  <a:pt x="1505187" y="1718587"/>
                  <a:pt x="1468054" y="1718587"/>
                </a:cubicBezTo>
                <a:lnTo>
                  <a:pt x="67235" y="1718587"/>
                </a:lnTo>
                <a:cubicBezTo>
                  <a:pt x="30102" y="1718587"/>
                  <a:pt x="0" y="1688484"/>
                  <a:pt x="0" y="1651351"/>
                </a:cubicBezTo>
                <a:lnTo>
                  <a:pt x="0" y="67235"/>
                </a:lnTo>
                <a:cubicBezTo>
                  <a:pt x="0" y="30102"/>
                  <a:pt x="30102" y="0"/>
                  <a:pt x="67235" y="0"/>
                </a:cubicBezTo>
                <a:close/>
              </a:path>
            </a:pathLst>
          </a:custGeom>
          <a:solidFill>
            <a:srgbClr val="0084BD">
              <a:alpha val="67059"/>
            </a:srgbClr>
          </a:solidFill>
        </p:spPr>
        <p:txBody>
          <a:bodyPr/>
          <a:lstStyle/>
          <a:p>
            <a:endParaRPr lang="en-VN" dirty="0"/>
          </a:p>
        </p:txBody>
      </p:sp>
      <p:sp>
        <p:nvSpPr>
          <p:cNvPr id="9" name="TextBox 5">
            <a:extLst>
              <a:ext uri="{FF2B5EF4-FFF2-40B4-BE49-F238E27FC236}">
                <a16:creationId xmlns:a16="http://schemas.microsoft.com/office/drawing/2014/main" id="{39E0CE83-9328-1FC9-DBF5-CA29F4920BF2}"/>
              </a:ext>
            </a:extLst>
          </p:cNvPr>
          <p:cNvSpPr txBox="1"/>
          <p:nvPr/>
        </p:nvSpPr>
        <p:spPr>
          <a:xfrm>
            <a:off x="426720" y="1359572"/>
            <a:ext cx="4145280" cy="4743054"/>
          </a:xfrm>
          <a:prstGeom prst="rect">
            <a:avLst/>
          </a:prstGeom>
        </p:spPr>
        <p:txBody>
          <a:bodyPr lIns="50800" tIns="50800" rIns="50800" bIns="50800" rtlCol="0" anchor="ctr"/>
          <a:lstStyle/>
          <a:p>
            <a:pPr algn="ctr">
              <a:lnSpc>
                <a:spcPts val="1680"/>
              </a:lnSpc>
            </a:pPr>
            <a:endParaRPr/>
          </a:p>
        </p:txBody>
      </p:sp>
      <p:sp>
        <p:nvSpPr>
          <p:cNvPr id="11" name="Freeform 8">
            <a:extLst>
              <a:ext uri="{FF2B5EF4-FFF2-40B4-BE49-F238E27FC236}">
                <a16:creationId xmlns:a16="http://schemas.microsoft.com/office/drawing/2014/main" id="{76520EEC-7D38-448E-CDA7-EF28EF705FC5}"/>
              </a:ext>
            </a:extLst>
          </p:cNvPr>
          <p:cNvSpPr/>
          <p:nvPr/>
        </p:nvSpPr>
        <p:spPr>
          <a:xfrm>
            <a:off x="4571999" y="1462442"/>
            <a:ext cx="4444467" cy="3528973"/>
          </a:xfrm>
          <a:custGeom>
            <a:avLst/>
            <a:gdLst/>
            <a:ahLst/>
            <a:cxnLst/>
            <a:rect l="l" t="t" r="r" b="b"/>
            <a:pathLst>
              <a:path w="1535289" h="1718587">
                <a:moveTo>
                  <a:pt x="67235" y="0"/>
                </a:moveTo>
                <a:lnTo>
                  <a:pt x="1468054" y="0"/>
                </a:lnTo>
                <a:cubicBezTo>
                  <a:pt x="1505187" y="0"/>
                  <a:pt x="1535289" y="30102"/>
                  <a:pt x="1535289" y="67235"/>
                </a:cubicBezTo>
                <a:lnTo>
                  <a:pt x="1535289" y="1651351"/>
                </a:lnTo>
                <a:cubicBezTo>
                  <a:pt x="1535289" y="1688484"/>
                  <a:pt x="1505187" y="1718587"/>
                  <a:pt x="1468054" y="1718587"/>
                </a:cubicBezTo>
                <a:lnTo>
                  <a:pt x="67235" y="1718587"/>
                </a:lnTo>
                <a:cubicBezTo>
                  <a:pt x="30102" y="1718587"/>
                  <a:pt x="0" y="1688484"/>
                  <a:pt x="0" y="1651351"/>
                </a:cubicBezTo>
                <a:lnTo>
                  <a:pt x="0" y="67235"/>
                </a:lnTo>
                <a:cubicBezTo>
                  <a:pt x="0" y="30102"/>
                  <a:pt x="30102" y="0"/>
                  <a:pt x="67235" y="0"/>
                </a:cubicBezTo>
                <a:close/>
              </a:path>
            </a:pathLst>
          </a:custGeom>
          <a:solidFill>
            <a:srgbClr val="DF5050">
              <a:alpha val="52157"/>
            </a:srgbClr>
          </a:solidFill>
        </p:spPr>
        <p:txBody>
          <a:bodyPr/>
          <a:lstStyle/>
          <a:p>
            <a:endParaRPr lang="en-VN"/>
          </a:p>
        </p:txBody>
      </p:sp>
      <p:sp>
        <p:nvSpPr>
          <p:cNvPr id="12" name="TextBox 9">
            <a:extLst>
              <a:ext uri="{FF2B5EF4-FFF2-40B4-BE49-F238E27FC236}">
                <a16:creationId xmlns:a16="http://schemas.microsoft.com/office/drawing/2014/main" id="{9CC79F49-1A44-0279-0083-C34C9D5A103C}"/>
              </a:ext>
            </a:extLst>
          </p:cNvPr>
          <p:cNvSpPr txBox="1"/>
          <p:nvPr/>
        </p:nvSpPr>
        <p:spPr>
          <a:xfrm>
            <a:off x="4572000" y="1359572"/>
            <a:ext cx="4145280" cy="4743054"/>
          </a:xfrm>
          <a:prstGeom prst="rect">
            <a:avLst/>
          </a:prstGeom>
        </p:spPr>
        <p:txBody>
          <a:bodyPr lIns="50800" tIns="50800" rIns="50800" bIns="50800" rtlCol="0" anchor="ctr"/>
          <a:lstStyle/>
          <a:p>
            <a:pPr algn="ctr">
              <a:lnSpc>
                <a:spcPts val="1680"/>
              </a:lnSpc>
            </a:pPr>
            <a:endParaRPr/>
          </a:p>
        </p:txBody>
      </p:sp>
      <p:sp>
        <p:nvSpPr>
          <p:cNvPr id="13" name="AutoShape 10">
            <a:extLst>
              <a:ext uri="{FF2B5EF4-FFF2-40B4-BE49-F238E27FC236}">
                <a16:creationId xmlns:a16="http://schemas.microsoft.com/office/drawing/2014/main" id="{596FA5C2-253E-45DC-DB33-C174FCA74714}"/>
              </a:ext>
            </a:extLst>
          </p:cNvPr>
          <p:cNvSpPr/>
          <p:nvPr/>
        </p:nvSpPr>
        <p:spPr>
          <a:xfrm>
            <a:off x="119269" y="2427698"/>
            <a:ext cx="8905462" cy="0"/>
          </a:xfrm>
          <a:prstGeom prst="line">
            <a:avLst/>
          </a:prstGeom>
          <a:ln w="12700" cap="rnd">
            <a:solidFill>
              <a:srgbClr val="FFFFFF"/>
            </a:solidFill>
            <a:prstDash val="sysDot"/>
            <a:headEnd type="none" w="sm" len="sm"/>
            <a:tailEnd type="none" w="sm" len="sm"/>
          </a:ln>
        </p:spPr>
        <p:txBody>
          <a:bodyPr/>
          <a:lstStyle/>
          <a:p>
            <a:endParaRPr lang="en-VN"/>
          </a:p>
        </p:txBody>
      </p:sp>
      <p:sp>
        <p:nvSpPr>
          <p:cNvPr id="16" name="AutoShape 13">
            <a:extLst>
              <a:ext uri="{FF2B5EF4-FFF2-40B4-BE49-F238E27FC236}">
                <a16:creationId xmlns:a16="http://schemas.microsoft.com/office/drawing/2014/main" id="{8B5FB6FF-9496-1E67-722E-877C4E4DE0B9}"/>
              </a:ext>
            </a:extLst>
          </p:cNvPr>
          <p:cNvSpPr/>
          <p:nvPr/>
        </p:nvSpPr>
        <p:spPr>
          <a:xfrm>
            <a:off x="800284" y="1857618"/>
            <a:ext cx="7543433" cy="0"/>
          </a:xfrm>
          <a:prstGeom prst="line">
            <a:avLst/>
          </a:prstGeom>
          <a:ln w="28575" cap="rnd">
            <a:solidFill>
              <a:srgbClr val="FFFFFF"/>
            </a:solidFill>
            <a:prstDash val="solid"/>
            <a:headEnd type="none" w="sm" len="sm"/>
            <a:tailEnd type="none" w="sm" len="sm"/>
          </a:ln>
        </p:spPr>
        <p:txBody>
          <a:bodyPr/>
          <a:lstStyle/>
          <a:p>
            <a:endParaRPr lang="en-VN"/>
          </a:p>
        </p:txBody>
      </p:sp>
      <p:sp>
        <p:nvSpPr>
          <p:cNvPr id="17" name="TextBox 16">
            <a:extLst>
              <a:ext uri="{FF2B5EF4-FFF2-40B4-BE49-F238E27FC236}">
                <a16:creationId xmlns:a16="http://schemas.microsoft.com/office/drawing/2014/main" id="{A4E6241B-A5FE-4BA7-B1FA-CEC946454AE5}"/>
              </a:ext>
            </a:extLst>
          </p:cNvPr>
          <p:cNvSpPr txBox="1"/>
          <p:nvPr/>
        </p:nvSpPr>
        <p:spPr>
          <a:xfrm>
            <a:off x="5735985" y="1539002"/>
            <a:ext cx="2536850" cy="280013"/>
          </a:xfrm>
          <a:prstGeom prst="rect">
            <a:avLst/>
          </a:prstGeom>
        </p:spPr>
        <p:txBody>
          <a:bodyPr lIns="0" tIns="0" rIns="0" bIns="0" rtlCol="0" anchor="t">
            <a:spAutoFit/>
          </a:bodyPr>
          <a:lstStyle/>
          <a:p>
            <a:pPr algn="ctr">
              <a:lnSpc>
                <a:spcPts val="2399"/>
              </a:lnSpc>
            </a:pPr>
            <a:r>
              <a:rPr lang="en-US" b="1" spc="49" dirty="0">
                <a:solidFill>
                  <a:srgbClr val="FFFFFF"/>
                </a:solidFill>
                <a:latin typeface="Lato" panose="020F0502020204030203" pitchFamily="34" charset="0"/>
                <a:ea typeface="Lato" panose="020F0502020204030203" pitchFamily="34" charset="0"/>
                <a:cs typeface="Lato" panose="020F0502020204030203" pitchFamily="34" charset="0"/>
                <a:sym typeface="Agrandir Bold"/>
              </a:rPr>
              <a:t>NHƯỢC ĐIỂM</a:t>
            </a:r>
          </a:p>
        </p:txBody>
      </p:sp>
      <p:sp>
        <p:nvSpPr>
          <p:cNvPr id="18" name="TextBox 17">
            <a:extLst>
              <a:ext uri="{FF2B5EF4-FFF2-40B4-BE49-F238E27FC236}">
                <a16:creationId xmlns:a16="http://schemas.microsoft.com/office/drawing/2014/main" id="{07B0E024-2375-63B0-A4CD-CE69538F99E1}"/>
              </a:ext>
            </a:extLst>
          </p:cNvPr>
          <p:cNvSpPr txBox="1"/>
          <p:nvPr/>
        </p:nvSpPr>
        <p:spPr>
          <a:xfrm>
            <a:off x="753712" y="1533552"/>
            <a:ext cx="2774082" cy="285463"/>
          </a:xfrm>
          <a:prstGeom prst="rect">
            <a:avLst/>
          </a:prstGeom>
        </p:spPr>
        <p:txBody>
          <a:bodyPr lIns="0" tIns="0" rIns="0" bIns="0" rtlCol="0" anchor="t">
            <a:spAutoFit/>
          </a:bodyPr>
          <a:lstStyle/>
          <a:p>
            <a:pPr algn="ctr">
              <a:lnSpc>
                <a:spcPts val="2399"/>
              </a:lnSpc>
            </a:pPr>
            <a:r>
              <a:rPr lang="en-US" b="1" spc="49" dirty="0">
                <a:solidFill>
                  <a:srgbClr val="FFFFFF"/>
                </a:solidFill>
                <a:latin typeface="Lato" panose="020F0502020204030203" pitchFamily="34" charset="0"/>
                <a:ea typeface="Lato" panose="020F0502020204030203" pitchFamily="34" charset="0"/>
                <a:cs typeface="Lato" panose="020F0502020204030203" pitchFamily="34" charset="0"/>
                <a:sym typeface="Agrandir Bold"/>
              </a:rPr>
              <a:t>ƯU ĐIỂM</a:t>
            </a:r>
          </a:p>
        </p:txBody>
      </p:sp>
      <p:grpSp>
        <p:nvGrpSpPr>
          <p:cNvPr id="19" name="Group 20">
            <a:extLst>
              <a:ext uri="{FF2B5EF4-FFF2-40B4-BE49-F238E27FC236}">
                <a16:creationId xmlns:a16="http://schemas.microsoft.com/office/drawing/2014/main" id="{6215CF81-66AE-69D6-4210-ED08A95F0036}"/>
              </a:ext>
            </a:extLst>
          </p:cNvPr>
          <p:cNvGrpSpPr/>
          <p:nvPr/>
        </p:nvGrpSpPr>
        <p:grpSpPr>
          <a:xfrm>
            <a:off x="4392833" y="1462442"/>
            <a:ext cx="386890" cy="3528974"/>
            <a:chOff x="0" y="0"/>
            <a:chExt cx="532992" cy="1718587"/>
          </a:xfrm>
        </p:grpSpPr>
        <p:sp>
          <p:nvSpPr>
            <p:cNvPr id="20" name="Freeform 21">
              <a:extLst>
                <a:ext uri="{FF2B5EF4-FFF2-40B4-BE49-F238E27FC236}">
                  <a16:creationId xmlns:a16="http://schemas.microsoft.com/office/drawing/2014/main" id="{13A9F15C-390A-BBEA-23F2-8702C92FDF51}"/>
                </a:ext>
              </a:extLst>
            </p:cNvPr>
            <p:cNvSpPr/>
            <p:nvPr/>
          </p:nvSpPr>
          <p:spPr>
            <a:xfrm>
              <a:off x="0" y="0"/>
              <a:ext cx="532992" cy="1718587"/>
            </a:xfrm>
            <a:custGeom>
              <a:avLst/>
              <a:gdLst/>
              <a:ahLst/>
              <a:cxnLst/>
              <a:rect l="l" t="t" r="r" b="b"/>
              <a:pathLst>
                <a:path w="532992" h="1718587">
                  <a:moveTo>
                    <a:pt x="0" y="0"/>
                  </a:moveTo>
                  <a:lnTo>
                    <a:pt x="532992" y="0"/>
                  </a:lnTo>
                  <a:lnTo>
                    <a:pt x="532992" y="1718587"/>
                  </a:lnTo>
                  <a:lnTo>
                    <a:pt x="0" y="1718587"/>
                  </a:lnTo>
                  <a:close/>
                </a:path>
              </a:pathLst>
            </a:custGeom>
            <a:solidFill>
              <a:srgbClr val="FFFFFF"/>
            </a:solidFill>
          </p:spPr>
          <p:txBody>
            <a:bodyPr/>
            <a:lstStyle/>
            <a:p>
              <a:endParaRPr lang="en-VN"/>
            </a:p>
          </p:txBody>
        </p:sp>
        <p:sp>
          <p:nvSpPr>
            <p:cNvPr id="21" name="TextBox 22">
              <a:extLst>
                <a:ext uri="{FF2B5EF4-FFF2-40B4-BE49-F238E27FC236}">
                  <a16:creationId xmlns:a16="http://schemas.microsoft.com/office/drawing/2014/main" id="{D25F6829-04D1-C023-64EF-96B4104AF1B4}"/>
                </a:ext>
              </a:extLst>
            </p:cNvPr>
            <p:cNvSpPr txBox="1"/>
            <p:nvPr/>
          </p:nvSpPr>
          <p:spPr>
            <a:xfrm>
              <a:off x="0" y="-38100"/>
              <a:ext cx="532992" cy="1756687"/>
            </a:xfrm>
            <a:prstGeom prst="rect">
              <a:avLst/>
            </a:prstGeom>
          </p:spPr>
          <p:txBody>
            <a:bodyPr lIns="50800" tIns="50800" rIns="50800" bIns="50800" rtlCol="0" anchor="ctr"/>
            <a:lstStyle/>
            <a:p>
              <a:pPr algn="ctr">
                <a:lnSpc>
                  <a:spcPts val="1680"/>
                </a:lnSpc>
              </a:pPr>
              <a:endParaRPr/>
            </a:p>
          </p:txBody>
        </p:sp>
      </p:grpSp>
      <p:sp>
        <p:nvSpPr>
          <p:cNvPr id="26" name="TextBox 27">
            <a:extLst>
              <a:ext uri="{FF2B5EF4-FFF2-40B4-BE49-F238E27FC236}">
                <a16:creationId xmlns:a16="http://schemas.microsoft.com/office/drawing/2014/main" id="{CFD9A773-A337-777B-9FF2-37FE33033AB1}"/>
              </a:ext>
            </a:extLst>
          </p:cNvPr>
          <p:cNvSpPr txBox="1"/>
          <p:nvPr/>
        </p:nvSpPr>
        <p:spPr>
          <a:xfrm>
            <a:off x="4447617" y="1533552"/>
            <a:ext cx="248766" cy="247650"/>
          </a:xfrm>
          <a:prstGeom prst="rect">
            <a:avLst/>
          </a:prstGeom>
        </p:spPr>
        <p:txBody>
          <a:bodyPr lIns="0" tIns="0" rIns="0" bIns="0" rtlCol="0" anchor="t">
            <a:spAutoFit/>
          </a:bodyPr>
          <a:lstStyle/>
          <a:p>
            <a:pPr algn="ctr">
              <a:lnSpc>
                <a:spcPts val="1680"/>
              </a:lnSpc>
            </a:pPr>
            <a:r>
              <a:rPr lang="en-US" sz="1400" b="1" dirty="0">
                <a:solidFill>
                  <a:srgbClr val="2D323B"/>
                </a:solidFill>
                <a:latin typeface="Agrandir Bold"/>
                <a:ea typeface="Agrandir Bold"/>
                <a:cs typeface="Agrandir Bold"/>
                <a:sym typeface="Agrandir Bold"/>
              </a:rPr>
              <a:t>VS</a:t>
            </a:r>
          </a:p>
        </p:txBody>
      </p:sp>
      <p:sp>
        <p:nvSpPr>
          <p:cNvPr id="29" name="TextBox 31">
            <a:extLst>
              <a:ext uri="{FF2B5EF4-FFF2-40B4-BE49-F238E27FC236}">
                <a16:creationId xmlns:a16="http://schemas.microsoft.com/office/drawing/2014/main" id="{C0BF13B5-D0DB-D305-646F-1EC3EF122882}"/>
              </a:ext>
            </a:extLst>
          </p:cNvPr>
          <p:cNvSpPr txBox="1"/>
          <p:nvPr/>
        </p:nvSpPr>
        <p:spPr>
          <a:xfrm>
            <a:off x="1107291" y="1940404"/>
            <a:ext cx="2234208" cy="236027"/>
          </a:xfrm>
          <a:prstGeom prst="rect">
            <a:avLst/>
          </a:prstGeom>
        </p:spPr>
        <p:txBody>
          <a:bodyPr wrap="square" lIns="0" tIns="0" rIns="0" bIns="0" rtlCol="0" anchor="t">
            <a:spAutoFit/>
          </a:bodyPr>
          <a:lstStyle/>
          <a:p>
            <a:pPr algn="ctr">
              <a:lnSpc>
                <a:spcPts val="2039"/>
              </a:lnSpc>
            </a:pPr>
            <a:r>
              <a:rPr lang="en-US" sz="1600" b="1" dirty="0" err="1">
                <a:solidFill>
                  <a:schemeClr val="bg1"/>
                </a:solidFill>
                <a:latin typeface="Lato" panose="020F0502020204030203" pitchFamily="34" charset="0"/>
                <a:ea typeface="Lato" panose="020F0502020204030203" pitchFamily="34" charset="0"/>
                <a:cs typeface="Lato" panose="020F0502020204030203" pitchFamily="34" charset="0"/>
              </a:rPr>
              <a:t>Tự</a:t>
            </a:r>
            <a:r>
              <a:rPr lang="en-US" sz="1600" b="1" dirty="0">
                <a:solidFill>
                  <a:schemeClr val="bg1"/>
                </a:solidFill>
                <a:latin typeface="Lato" panose="020F0502020204030203" pitchFamily="34" charset="0"/>
                <a:ea typeface="Lato" panose="020F0502020204030203" pitchFamily="34" charset="0"/>
                <a:cs typeface="Lato" panose="020F0502020204030203" pitchFamily="34" charset="0"/>
              </a:rPr>
              <a:t> </a:t>
            </a:r>
            <a:r>
              <a:rPr lang="en-US" sz="1600" b="1" dirty="0" err="1">
                <a:solidFill>
                  <a:schemeClr val="bg1"/>
                </a:solidFill>
                <a:latin typeface="Lato" panose="020F0502020204030203" pitchFamily="34" charset="0"/>
                <a:ea typeface="Lato" panose="020F0502020204030203" pitchFamily="34" charset="0"/>
                <a:cs typeface="Lato" panose="020F0502020204030203" pitchFamily="34" charset="0"/>
              </a:rPr>
              <a:t>cân</a:t>
            </a:r>
            <a:r>
              <a:rPr lang="en-US" sz="1600" b="1" dirty="0">
                <a:solidFill>
                  <a:schemeClr val="bg1"/>
                </a:solidFill>
                <a:latin typeface="Lato" panose="020F0502020204030203" pitchFamily="34" charset="0"/>
                <a:ea typeface="Lato" panose="020F0502020204030203" pitchFamily="34" charset="0"/>
                <a:cs typeface="Lato" panose="020F0502020204030203" pitchFamily="34" charset="0"/>
              </a:rPr>
              <a:t> </a:t>
            </a:r>
            <a:r>
              <a:rPr lang="en-US" sz="1600" b="1" dirty="0" err="1">
                <a:solidFill>
                  <a:schemeClr val="bg1"/>
                </a:solidFill>
                <a:latin typeface="Lato" panose="020F0502020204030203" pitchFamily="34" charset="0"/>
                <a:ea typeface="Lato" panose="020F0502020204030203" pitchFamily="34" charset="0"/>
                <a:cs typeface="Lato" panose="020F0502020204030203" pitchFamily="34" charset="0"/>
              </a:rPr>
              <a:t>bằng</a:t>
            </a:r>
            <a:r>
              <a:rPr lang="en-US" sz="1600" b="1" dirty="0">
                <a:solidFill>
                  <a:schemeClr val="bg1"/>
                </a:solidFill>
                <a:latin typeface="Lato" panose="020F0502020204030203" pitchFamily="34" charset="0"/>
                <a:ea typeface="Lato" panose="020F0502020204030203" pitchFamily="34" charset="0"/>
                <a:cs typeface="Lato" panose="020F0502020204030203" pitchFamily="34" charset="0"/>
              </a:rPr>
              <a:t> </a:t>
            </a:r>
            <a:r>
              <a:rPr lang="en-US" sz="1600" b="1" dirty="0" err="1">
                <a:solidFill>
                  <a:schemeClr val="bg1"/>
                </a:solidFill>
                <a:latin typeface="Lato" panose="020F0502020204030203" pitchFamily="34" charset="0"/>
                <a:ea typeface="Lato" panose="020F0502020204030203" pitchFamily="34" charset="0"/>
                <a:cs typeface="Lato" panose="020F0502020204030203" pitchFamily="34" charset="0"/>
              </a:rPr>
              <a:t>hiệu</a:t>
            </a:r>
            <a:r>
              <a:rPr lang="en-US" sz="1600" b="1" dirty="0">
                <a:solidFill>
                  <a:schemeClr val="bg1"/>
                </a:solidFill>
                <a:latin typeface="Lato" panose="020F0502020204030203" pitchFamily="34" charset="0"/>
                <a:ea typeface="Lato" panose="020F0502020204030203" pitchFamily="34" charset="0"/>
                <a:cs typeface="Lato" panose="020F0502020204030203" pitchFamily="34" charset="0"/>
              </a:rPr>
              <a:t> </a:t>
            </a:r>
            <a:r>
              <a:rPr lang="en-US" sz="1600" b="1" dirty="0" err="1">
                <a:solidFill>
                  <a:schemeClr val="bg1"/>
                </a:solidFill>
                <a:latin typeface="Lato" panose="020F0502020204030203" pitchFamily="34" charset="0"/>
                <a:ea typeface="Lato" panose="020F0502020204030203" pitchFamily="34" charset="0"/>
                <a:cs typeface="Lato" panose="020F0502020204030203" pitchFamily="34" charset="0"/>
              </a:rPr>
              <a:t>quả</a:t>
            </a:r>
            <a:endParaRPr lang="en-US" sz="1600" b="1"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39" name="AutoShape 42">
            <a:extLst>
              <a:ext uri="{FF2B5EF4-FFF2-40B4-BE49-F238E27FC236}">
                <a16:creationId xmlns:a16="http://schemas.microsoft.com/office/drawing/2014/main" id="{C984C8B8-D3EA-BF4D-6E91-E36B396E02DE}"/>
              </a:ext>
            </a:extLst>
          </p:cNvPr>
          <p:cNvSpPr/>
          <p:nvPr/>
        </p:nvSpPr>
        <p:spPr>
          <a:xfrm>
            <a:off x="4392832" y="1866584"/>
            <a:ext cx="356774" cy="0"/>
          </a:xfrm>
          <a:prstGeom prst="line">
            <a:avLst/>
          </a:prstGeom>
          <a:ln w="28575" cap="rnd">
            <a:solidFill>
              <a:srgbClr val="2D323B"/>
            </a:solidFill>
            <a:prstDash val="solid"/>
            <a:headEnd type="none" w="sm" len="sm"/>
            <a:tailEnd type="none" w="sm" len="sm"/>
          </a:ln>
        </p:spPr>
        <p:txBody>
          <a:bodyPr/>
          <a:lstStyle/>
          <a:p>
            <a:endParaRPr lang="en-VN"/>
          </a:p>
        </p:txBody>
      </p:sp>
      <p:sp>
        <p:nvSpPr>
          <p:cNvPr id="42" name="AutoShape 45">
            <a:extLst>
              <a:ext uri="{FF2B5EF4-FFF2-40B4-BE49-F238E27FC236}">
                <a16:creationId xmlns:a16="http://schemas.microsoft.com/office/drawing/2014/main" id="{69AE3D05-65BB-8F2E-F185-9D627A18A724}"/>
              </a:ext>
            </a:extLst>
          </p:cNvPr>
          <p:cNvSpPr/>
          <p:nvPr/>
        </p:nvSpPr>
        <p:spPr>
          <a:xfrm flipV="1">
            <a:off x="4392831" y="2423014"/>
            <a:ext cx="416937" cy="0"/>
          </a:xfrm>
          <a:prstGeom prst="line">
            <a:avLst/>
          </a:prstGeom>
          <a:ln w="12700" cap="rnd">
            <a:solidFill>
              <a:srgbClr val="2D323B">
                <a:alpha val="69804"/>
              </a:srgbClr>
            </a:solidFill>
            <a:prstDash val="sysDot"/>
            <a:headEnd type="none" w="sm" len="sm"/>
            <a:tailEnd type="none" w="sm" len="sm"/>
          </a:ln>
        </p:spPr>
        <p:txBody>
          <a:bodyPr/>
          <a:lstStyle/>
          <a:p>
            <a:endParaRPr lang="en-VN"/>
          </a:p>
        </p:txBody>
      </p:sp>
      <p:pic>
        <p:nvPicPr>
          <p:cNvPr id="44" name="Graphic 43" descr="Checkmark with solid fill">
            <a:extLst>
              <a:ext uri="{FF2B5EF4-FFF2-40B4-BE49-F238E27FC236}">
                <a16:creationId xmlns:a16="http://schemas.microsoft.com/office/drawing/2014/main" id="{281EF110-5C84-05BC-E4F8-2AC7282B848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26478" y="1507048"/>
            <a:ext cx="330486" cy="330486"/>
          </a:xfrm>
          <a:prstGeom prst="rect">
            <a:avLst/>
          </a:prstGeom>
        </p:spPr>
      </p:pic>
      <p:pic>
        <p:nvPicPr>
          <p:cNvPr id="46" name="Graphic 45" descr="Close with solid fill">
            <a:extLst>
              <a:ext uri="{FF2B5EF4-FFF2-40B4-BE49-F238E27FC236}">
                <a16:creationId xmlns:a16="http://schemas.microsoft.com/office/drawing/2014/main" id="{90649894-9890-C188-7078-3929B14EE09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60600" y="1529297"/>
            <a:ext cx="321489" cy="321489"/>
          </a:xfrm>
          <a:prstGeom prst="rect">
            <a:avLst/>
          </a:prstGeom>
        </p:spPr>
      </p:pic>
      <p:sp>
        <p:nvSpPr>
          <p:cNvPr id="47" name="TextBox 46">
            <a:extLst>
              <a:ext uri="{FF2B5EF4-FFF2-40B4-BE49-F238E27FC236}">
                <a16:creationId xmlns:a16="http://schemas.microsoft.com/office/drawing/2014/main" id="{ED0410DF-275A-15EE-9319-95B8B5EB1922}"/>
              </a:ext>
            </a:extLst>
          </p:cNvPr>
          <p:cNvSpPr txBox="1"/>
          <p:nvPr/>
        </p:nvSpPr>
        <p:spPr>
          <a:xfrm>
            <a:off x="206059" y="2108938"/>
            <a:ext cx="4047377" cy="276999"/>
          </a:xfrm>
          <a:prstGeom prst="rect">
            <a:avLst/>
          </a:prstGeom>
          <a:noFill/>
        </p:spPr>
        <p:txBody>
          <a:bodyPr wrap="square" rtlCol="0">
            <a:spAutoFit/>
          </a:bodyPr>
          <a:lstStyle/>
          <a:p>
            <a:pPr algn="ctr"/>
            <a:r>
              <a:rPr lang="en-US" sz="1200" i="1" dirty="0" err="1">
                <a:solidFill>
                  <a:schemeClr val="bg1"/>
                </a:solidFill>
                <a:latin typeface="Lato" panose="020F0502020204030203" pitchFamily="34" charset="0"/>
                <a:ea typeface="Lato" panose="020F0502020204030203" pitchFamily="34" charset="0"/>
                <a:cs typeface="Lato" panose="020F0502020204030203" pitchFamily="34" charset="0"/>
              </a:rPr>
              <a:t>Duy</a:t>
            </a:r>
            <a:r>
              <a:rPr lang="en-US" sz="1200" i="1" dirty="0">
                <a:solidFill>
                  <a:schemeClr val="bg1"/>
                </a:solidFill>
                <a:latin typeface="Lato" panose="020F0502020204030203" pitchFamily="34" charset="0"/>
                <a:ea typeface="Lato" panose="020F0502020204030203" pitchFamily="34" charset="0"/>
                <a:cs typeface="Lato" panose="020F0502020204030203" pitchFamily="34" charset="0"/>
              </a:rPr>
              <a:t> </a:t>
            </a:r>
            <a:r>
              <a:rPr lang="en-US" sz="1200" i="1" dirty="0" err="1">
                <a:solidFill>
                  <a:schemeClr val="bg1"/>
                </a:solidFill>
                <a:latin typeface="Lato" panose="020F0502020204030203" pitchFamily="34" charset="0"/>
                <a:ea typeface="Lato" panose="020F0502020204030203" pitchFamily="34" charset="0"/>
                <a:cs typeface="Lato" panose="020F0502020204030203" pitchFamily="34" charset="0"/>
              </a:rPr>
              <a:t>trì</a:t>
            </a:r>
            <a:r>
              <a:rPr lang="en-US" sz="1200" i="1" dirty="0">
                <a:solidFill>
                  <a:schemeClr val="bg1"/>
                </a:solidFill>
                <a:latin typeface="Lato" panose="020F0502020204030203" pitchFamily="34" charset="0"/>
                <a:ea typeface="Lato" panose="020F0502020204030203" pitchFamily="34" charset="0"/>
                <a:cs typeface="Lato" panose="020F0502020204030203" pitchFamily="34" charset="0"/>
              </a:rPr>
              <a:t> </a:t>
            </a:r>
            <a:r>
              <a:rPr lang="en-US" sz="1200" i="1" dirty="0" err="1">
                <a:solidFill>
                  <a:schemeClr val="bg1"/>
                </a:solidFill>
                <a:latin typeface="Lato" panose="020F0502020204030203" pitchFamily="34" charset="0"/>
                <a:ea typeface="Lato" panose="020F0502020204030203" pitchFamily="34" charset="0"/>
                <a:cs typeface="Lato" panose="020F0502020204030203" pitchFamily="34" charset="0"/>
              </a:rPr>
              <a:t>độ</a:t>
            </a:r>
            <a:r>
              <a:rPr lang="en-US" sz="1200" i="1" dirty="0">
                <a:solidFill>
                  <a:schemeClr val="bg1"/>
                </a:solidFill>
                <a:latin typeface="Lato" panose="020F0502020204030203" pitchFamily="34" charset="0"/>
                <a:ea typeface="Lato" panose="020F0502020204030203" pitchFamily="34" charset="0"/>
                <a:cs typeface="Lato" panose="020F0502020204030203" pitchFamily="34" charset="0"/>
              </a:rPr>
              <a:t> </a:t>
            </a:r>
            <a:r>
              <a:rPr lang="en-US" sz="1200" i="1" dirty="0" err="1">
                <a:solidFill>
                  <a:schemeClr val="bg1"/>
                </a:solidFill>
                <a:latin typeface="Lato" panose="020F0502020204030203" pitchFamily="34" charset="0"/>
                <a:ea typeface="Lato" panose="020F0502020204030203" pitchFamily="34" charset="0"/>
                <a:cs typeface="Lato" panose="020F0502020204030203" pitchFamily="34" charset="0"/>
              </a:rPr>
              <a:t>cao</a:t>
            </a:r>
            <a:r>
              <a:rPr lang="en-US" sz="1200" i="1" dirty="0">
                <a:solidFill>
                  <a:schemeClr val="bg1"/>
                </a:solidFill>
                <a:latin typeface="Lato" panose="020F0502020204030203" pitchFamily="34" charset="0"/>
                <a:ea typeface="Lato" panose="020F0502020204030203" pitchFamily="34" charset="0"/>
                <a:cs typeface="Lato" panose="020F0502020204030203" pitchFamily="34" charset="0"/>
              </a:rPr>
              <a:t> </a:t>
            </a:r>
            <a:r>
              <a:rPr lang="en-US" sz="1200" i="1" dirty="0" err="1">
                <a:solidFill>
                  <a:schemeClr val="bg1"/>
                </a:solidFill>
                <a:latin typeface="Lato" panose="020F0502020204030203" pitchFamily="34" charset="0"/>
                <a:ea typeface="Lato" panose="020F0502020204030203" pitchFamily="34" charset="0"/>
                <a:cs typeface="Lato" panose="020F0502020204030203" pitchFamily="34" charset="0"/>
              </a:rPr>
              <a:t>cây</a:t>
            </a:r>
            <a:r>
              <a:rPr lang="en-US" sz="1200" i="1" dirty="0">
                <a:solidFill>
                  <a:schemeClr val="bg1"/>
                </a:solidFill>
                <a:latin typeface="Lato" panose="020F0502020204030203" pitchFamily="34" charset="0"/>
                <a:ea typeface="Lato" panose="020F0502020204030203" pitchFamily="34" charset="0"/>
                <a:cs typeface="Lato" panose="020F0502020204030203" pitchFamily="34" charset="0"/>
              </a:rPr>
              <a:t> ≤ 2 × log₂(n+1), </a:t>
            </a:r>
            <a:r>
              <a:rPr lang="en-US" sz="1200" i="1" dirty="0" err="1">
                <a:solidFill>
                  <a:schemeClr val="bg1"/>
                </a:solidFill>
                <a:latin typeface="Lato" panose="020F0502020204030203" pitchFamily="34" charset="0"/>
                <a:ea typeface="Lato" panose="020F0502020204030203" pitchFamily="34" charset="0"/>
                <a:cs typeface="Lato" panose="020F0502020204030203" pitchFamily="34" charset="0"/>
              </a:rPr>
              <a:t>đảm</a:t>
            </a:r>
            <a:r>
              <a:rPr lang="en-US" sz="1200" i="1" dirty="0">
                <a:solidFill>
                  <a:schemeClr val="bg1"/>
                </a:solidFill>
                <a:latin typeface="Lato" panose="020F0502020204030203" pitchFamily="34" charset="0"/>
                <a:ea typeface="Lato" panose="020F0502020204030203" pitchFamily="34" charset="0"/>
                <a:cs typeface="Lato" panose="020F0502020204030203" pitchFamily="34" charset="0"/>
              </a:rPr>
              <a:t> </a:t>
            </a:r>
            <a:r>
              <a:rPr lang="en-US" sz="1200" i="1" dirty="0" err="1">
                <a:solidFill>
                  <a:schemeClr val="bg1"/>
                </a:solidFill>
                <a:latin typeface="Lato" panose="020F0502020204030203" pitchFamily="34" charset="0"/>
                <a:ea typeface="Lato" panose="020F0502020204030203" pitchFamily="34" charset="0"/>
                <a:cs typeface="Lato" panose="020F0502020204030203" pitchFamily="34" charset="0"/>
              </a:rPr>
              <a:t>bảo</a:t>
            </a:r>
            <a:r>
              <a:rPr lang="en-US" sz="1200" i="1" dirty="0">
                <a:solidFill>
                  <a:schemeClr val="bg1"/>
                </a:solidFill>
                <a:latin typeface="Lato" panose="020F0502020204030203" pitchFamily="34" charset="0"/>
                <a:ea typeface="Lato" panose="020F0502020204030203" pitchFamily="34" charset="0"/>
                <a:cs typeface="Lato" panose="020F0502020204030203" pitchFamily="34" charset="0"/>
              </a:rPr>
              <a:t> </a:t>
            </a:r>
            <a:r>
              <a:rPr lang="en-US" sz="1200" i="1" dirty="0" err="1">
                <a:solidFill>
                  <a:schemeClr val="bg1"/>
                </a:solidFill>
                <a:latin typeface="Lato" panose="020F0502020204030203" pitchFamily="34" charset="0"/>
                <a:ea typeface="Lato" panose="020F0502020204030203" pitchFamily="34" charset="0"/>
                <a:cs typeface="Lato" panose="020F0502020204030203" pitchFamily="34" charset="0"/>
              </a:rPr>
              <a:t>thao</a:t>
            </a:r>
            <a:r>
              <a:rPr lang="en-US" sz="1200" i="1" dirty="0">
                <a:solidFill>
                  <a:schemeClr val="bg1"/>
                </a:solidFill>
                <a:latin typeface="Lato" panose="020F0502020204030203" pitchFamily="34" charset="0"/>
                <a:ea typeface="Lato" panose="020F0502020204030203" pitchFamily="34" charset="0"/>
                <a:cs typeface="Lato" panose="020F0502020204030203" pitchFamily="34" charset="0"/>
              </a:rPr>
              <a:t> </a:t>
            </a:r>
            <a:r>
              <a:rPr lang="en-US" sz="1200" i="1" dirty="0" err="1">
                <a:solidFill>
                  <a:schemeClr val="bg1"/>
                </a:solidFill>
                <a:latin typeface="Lato" panose="020F0502020204030203" pitchFamily="34" charset="0"/>
                <a:ea typeface="Lato" panose="020F0502020204030203" pitchFamily="34" charset="0"/>
                <a:cs typeface="Lato" panose="020F0502020204030203" pitchFamily="34" charset="0"/>
              </a:rPr>
              <a:t>tác</a:t>
            </a:r>
            <a:r>
              <a:rPr lang="en-US" sz="1200" i="1" dirty="0">
                <a:solidFill>
                  <a:schemeClr val="bg1"/>
                </a:solidFill>
                <a:latin typeface="Lato" panose="020F0502020204030203" pitchFamily="34" charset="0"/>
                <a:ea typeface="Lato" panose="020F0502020204030203" pitchFamily="34" charset="0"/>
                <a:cs typeface="Lato" panose="020F0502020204030203" pitchFamily="34" charset="0"/>
              </a:rPr>
              <a:t> O(log n)</a:t>
            </a:r>
            <a:endParaRPr lang="en-VN" sz="1200" i="1"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48" name="TextBox 31">
            <a:extLst>
              <a:ext uri="{FF2B5EF4-FFF2-40B4-BE49-F238E27FC236}">
                <a16:creationId xmlns:a16="http://schemas.microsoft.com/office/drawing/2014/main" id="{64292A34-389F-98E2-DBF4-54CB4FBE694F}"/>
              </a:ext>
            </a:extLst>
          </p:cNvPr>
          <p:cNvSpPr txBox="1"/>
          <p:nvPr/>
        </p:nvSpPr>
        <p:spPr>
          <a:xfrm>
            <a:off x="894257" y="2488807"/>
            <a:ext cx="2659552" cy="236090"/>
          </a:xfrm>
          <a:prstGeom prst="rect">
            <a:avLst/>
          </a:prstGeom>
        </p:spPr>
        <p:txBody>
          <a:bodyPr wrap="square" lIns="0" tIns="0" rIns="0" bIns="0" rtlCol="0" anchor="t">
            <a:spAutoFit/>
          </a:bodyPr>
          <a:lstStyle/>
          <a:p>
            <a:pPr algn="ctr">
              <a:lnSpc>
                <a:spcPts val="2039"/>
              </a:lnSpc>
            </a:pPr>
            <a:r>
              <a:rPr lang="vi-VN" sz="1600" b="1" dirty="0">
                <a:solidFill>
                  <a:schemeClr val="bg1"/>
                </a:solidFill>
                <a:latin typeface="Lato" panose="020F0502020204030203" pitchFamily="34" charset="0"/>
                <a:ea typeface="Lato" panose="020F0502020204030203" pitchFamily="34" charset="0"/>
                <a:cs typeface="Lato" panose="020F0502020204030203" pitchFamily="34" charset="0"/>
              </a:rPr>
              <a:t>Ít phép quay hơn AVL Tree</a:t>
            </a:r>
            <a:endParaRPr lang="en-US" sz="1600" b="1"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49" name="TextBox 48">
            <a:extLst>
              <a:ext uri="{FF2B5EF4-FFF2-40B4-BE49-F238E27FC236}">
                <a16:creationId xmlns:a16="http://schemas.microsoft.com/office/drawing/2014/main" id="{B7669A2E-DC2E-EAC1-F2BF-3181C1565335}"/>
              </a:ext>
            </a:extLst>
          </p:cNvPr>
          <p:cNvSpPr txBox="1"/>
          <p:nvPr/>
        </p:nvSpPr>
        <p:spPr>
          <a:xfrm>
            <a:off x="66278" y="2666923"/>
            <a:ext cx="4148949" cy="461665"/>
          </a:xfrm>
          <a:prstGeom prst="rect">
            <a:avLst/>
          </a:prstGeom>
          <a:noFill/>
        </p:spPr>
        <p:txBody>
          <a:bodyPr wrap="square" rtlCol="0">
            <a:spAutoFit/>
          </a:bodyPr>
          <a:lstStyle/>
          <a:p>
            <a:pPr algn="ctr"/>
            <a:r>
              <a:rPr lang="vi-VN" sz="1200" i="1" dirty="0">
                <a:solidFill>
                  <a:schemeClr val="bg1"/>
                </a:solidFill>
                <a:latin typeface="Lato" panose="020F0502020204030203" pitchFamily="34" charset="0"/>
                <a:ea typeface="Lato" panose="020F0502020204030203" pitchFamily="34" charset="0"/>
                <a:cs typeface="Lato" panose="020F0502020204030203" pitchFamily="34" charset="0"/>
              </a:rPr>
              <a:t>Nhờ cân bằng “vừa đủ”, thao tác chèn/xóa nhanh hơn trong thực tế.</a:t>
            </a:r>
            <a:endParaRPr lang="en-VN" sz="1200" i="1"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50" name="TextBox 49">
            <a:extLst>
              <a:ext uri="{FF2B5EF4-FFF2-40B4-BE49-F238E27FC236}">
                <a16:creationId xmlns:a16="http://schemas.microsoft.com/office/drawing/2014/main" id="{0C593149-3712-1073-065C-CBB7C64EE787}"/>
              </a:ext>
            </a:extLst>
          </p:cNvPr>
          <p:cNvSpPr txBox="1"/>
          <p:nvPr/>
        </p:nvSpPr>
        <p:spPr>
          <a:xfrm>
            <a:off x="1059703" y="3133503"/>
            <a:ext cx="2329359" cy="338554"/>
          </a:xfrm>
          <a:prstGeom prst="rect">
            <a:avLst/>
          </a:prstGeom>
          <a:noFill/>
        </p:spPr>
        <p:txBody>
          <a:bodyPr wrap="square" rtlCol="0">
            <a:spAutoFit/>
          </a:bodyPr>
          <a:lstStyle/>
          <a:p>
            <a:pPr algn="ctr"/>
            <a:r>
              <a:rPr lang="en-US" sz="1600" b="1" dirty="0" err="1">
                <a:solidFill>
                  <a:schemeClr val="bg1"/>
                </a:solidFill>
                <a:latin typeface="Lato" panose="020F0502020204030203" pitchFamily="34" charset="0"/>
                <a:ea typeface="Lato" panose="020F0502020204030203" pitchFamily="34" charset="0"/>
                <a:cs typeface="Lato" panose="020F0502020204030203" pitchFamily="34" charset="0"/>
              </a:rPr>
              <a:t>Ổn</a:t>
            </a:r>
            <a:r>
              <a:rPr lang="en-US" sz="1600" b="1" dirty="0">
                <a:solidFill>
                  <a:schemeClr val="bg1"/>
                </a:solidFill>
                <a:latin typeface="Lato" panose="020F0502020204030203" pitchFamily="34" charset="0"/>
                <a:ea typeface="Lato" panose="020F0502020204030203" pitchFamily="34" charset="0"/>
                <a:cs typeface="Lato" panose="020F0502020204030203" pitchFamily="34" charset="0"/>
              </a:rPr>
              <a:t> </a:t>
            </a:r>
            <a:r>
              <a:rPr lang="en-US" sz="1600" b="1" dirty="0" err="1">
                <a:solidFill>
                  <a:schemeClr val="bg1"/>
                </a:solidFill>
                <a:latin typeface="Lato" panose="020F0502020204030203" pitchFamily="34" charset="0"/>
                <a:ea typeface="Lato" panose="020F0502020204030203" pitchFamily="34" charset="0"/>
                <a:cs typeface="Lato" panose="020F0502020204030203" pitchFamily="34" charset="0"/>
              </a:rPr>
              <a:t>định</a:t>
            </a:r>
            <a:r>
              <a:rPr lang="en-US" sz="1600" b="1" dirty="0">
                <a:solidFill>
                  <a:schemeClr val="bg1"/>
                </a:solidFill>
                <a:latin typeface="Lato" panose="020F0502020204030203" pitchFamily="34" charset="0"/>
                <a:ea typeface="Lato" panose="020F0502020204030203" pitchFamily="34" charset="0"/>
                <a:cs typeface="Lato" panose="020F0502020204030203" pitchFamily="34" charset="0"/>
              </a:rPr>
              <a:t> </a:t>
            </a:r>
            <a:r>
              <a:rPr lang="en-US" sz="1600" b="1" dirty="0" err="1">
                <a:solidFill>
                  <a:schemeClr val="bg1"/>
                </a:solidFill>
                <a:latin typeface="Lato" panose="020F0502020204030203" pitchFamily="34" charset="0"/>
                <a:ea typeface="Lato" panose="020F0502020204030203" pitchFamily="34" charset="0"/>
                <a:cs typeface="Lato" panose="020F0502020204030203" pitchFamily="34" charset="0"/>
              </a:rPr>
              <a:t>và</a:t>
            </a:r>
            <a:r>
              <a:rPr lang="en-US" sz="1600" b="1" dirty="0">
                <a:solidFill>
                  <a:schemeClr val="bg1"/>
                </a:solidFill>
                <a:latin typeface="Lato" panose="020F0502020204030203" pitchFamily="34" charset="0"/>
                <a:ea typeface="Lato" panose="020F0502020204030203" pitchFamily="34" charset="0"/>
                <a:cs typeface="Lato" panose="020F0502020204030203" pitchFamily="34" charset="0"/>
              </a:rPr>
              <a:t> </a:t>
            </a:r>
            <a:r>
              <a:rPr lang="en-US" sz="1600" b="1" dirty="0" err="1">
                <a:solidFill>
                  <a:schemeClr val="bg1"/>
                </a:solidFill>
                <a:latin typeface="Lato" panose="020F0502020204030203" pitchFamily="34" charset="0"/>
                <a:ea typeface="Lato" panose="020F0502020204030203" pitchFamily="34" charset="0"/>
                <a:cs typeface="Lato" panose="020F0502020204030203" pitchFamily="34" charset="0"/>
              </a:rPr>
              <a:t>đáng</a:t>
            </a:r>
            <a:r>
              <a:rPr lang="en-US" sz="1600" b="1" dirty="0">
                <a:solidFill>
                  <a:schemeClr val="bg1"/>
                </a:solidFill>
                <a:latin typeface="Lato" panose="020F0502020204030203" pitchFamily="34" charset="0"/>
                <a:ea typeface="Lato" panose="020F0502020204030203" pitchFamily="34" charset="0"/>
                <a:cs typeface="Lato" panose="020F0502020204030203" pitchFamily="34" charset="0"/>
              </a:rPr>
              <a:t> tin </a:t>
            </a:r>
            <a:r>
              <a:rPr lang="en-US" sz="1600" b="1" dirty="0" err="1">
                <a:solidFill>
                  <a:schemeClr val="bg1"/>
                </a:solidFill>
                <a:latin typeface="Lato" panose="020F0502020204030203" pitchFamily="34" charset="0"/>
                <a:ea typeface="Lato" panose="020F0502020204030203" pitchFamily="34" charset="0"/>
                <a:cs typeface="Lato" panose="020F0502020204030203" pitchFamily="34" charset="0"/>
              </a:rPr>
              <a:t>cậy</a:t>
            </a:r>
            <a:endParaRPr lang="en-VN" sz="1600" b="1"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51" name="AutoShape 10">
            <a:extLst>
              <a:ext uri="{FF2B5EF4-FFF2-40B4-BE49-F238E27FC236}">
                <a16:creationId xmlns:a16="http://schemas.microsoft.com/office/drawing/2014/main" id="{DE29BEEE-E7DC-DD83-E183-8CB2DBF4FC5E}"/>
              </a:ext>
            </a:extLst>
          </p:cNvPr>
          <p:cNvSpPr/>
          <p:nvPr/>
        </p:nvSpPr>
        <p:spPr>
          <a:xfrm>
            <a:off x="133547" y="3128588"/>
            <a:ext cx="8905462" cy="0"/>
          </a:xfrm>
          <a:prstGeom prst="line">
            <a:avLst/>
          </a:prstGeom>
          <a:ln w="12700" cap="rnd">
            <a:solidFill>
              <a:srgbClr val="FFFFFF"/>
            </a:solidFill>
            <a:prstDash val="sysDot"/>
            <a:headEnd type="none" w="sm" len="sm"/>
            <a:tailEnd type="none" w="sm" len="sm"/>
          </a:ln>
        </p:spPr>
        <p:txBody>
          <a:bodyPr/>
          <a:lstStyle/>
          <a:p>
            <a:endParaRPr lang="en-VN"/>
          </a:p>
        </p:txBody>
      </p:sp>
      <p:sp>
        <p:nvSpPr>
          <p:cNvPr id="52" name="TextBox 51">
            <a:extLst>
              <a:ext uri="{FF2B5EF4-FFF2-40B4-BE49-F238E27FC236}">
                <a16:creationId xmlns:a16="http://schemas.microsoft.com/office/drawing/2014/main" id="{1AAE4EBF-309A-52FE-723B-22C828C07AA0}"/>
              </a:ext>
            </a:extLst>
          </p:cNvPr>
          <p:cNvSpPr txBox="1"/>
          <p:nvPr/>
        </p:nvSpPr>
        <p:spPr>
          <a:xfrm>
            <a:off x="49571" y="3401544"/>
            <a:ext cx="4452730" cy="276999"/>
          </a:xfrm>
          <a:prstGeom prst="rect">
            <a:avLst/>
          </a:prstGeom>
          <a:noFill/>
        </p:spPr>
        <p:txBody>
          <a:bodyPr wrap="square" rtlCol="0">
            <a:spAutoFit/>
          </a:bodyPr>
          <a:lstStyle/>
          <a:p>
            <a:pPr algn="ctr"/>
            <a:r>
              <a:rPr lang="vi-VN" sz="1200" i="1" dirty="0">
                <a:solidFill>
                  <a:schemeClr val="bg1"/>
                </a:solidFill>
                <a:latin typeface="Lato" panose="020F0502020204030203" pitchFamily="34" charset="0"/>
                <a:ea typeface="Lato" panose="020F0502020204030203" pitchFamily="34" charset="0"/>
                <a:cs typeface="Lato" panose="020F0502020204030203" pitchFamily="34" charset="0"/>
              </a:rPr>
              <a:t>Hiệu suất nhất quán ngay cả với dữ liệu ngẫu nhiên hoặc tăng dần.</a:t>
            </a:r>
            <a:endParaRPr lang="en-VN" sz="1200" i="1"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53" name="AutoShape 10">
            <a:extLst>
              <a:ext uri="{FF2B5EF4-FFF2-40B4-BE49-F238E27FC236}">
                <a16:creationId xmlns:a16="http://schemas.microsoft.com/office/drawing/2014/main" id="{6771BD53-EB4F-EF57-C89C-2CCC83C14D98}"/>
              </a:ext>
            </a:extLst>
          </p:cNvPr>
          <p:cNvSpPr/>
          <p:nvPr/>
        </p:nvSpPr>
        <p:spPr>
          <a:xfrm>
            <a:off x="133547" y="3709515"/>
            <a:ext cx="8905462" cy="1"/>
          </a:xfrm>
          <a:prstGeom prst="line">
            <a:avLst/>
          </a:prstGeom>
          <a:ln w="12700" cap="rnd">
            <a:solidFill>
              <a:srgbClr val="FFFFFF"/>
            </a:solidFill>
            <a:prstDash val="sysDot"/>
            <a:headEnd type="none" w="sm" len="sm"/>
            <a:tailEnd type="none" w="sm" len="sm"/>
          </a:ln>
        </p:spPr>
        <p:txBody>
          <a:bodyPr/>
          <a:lstStyle/>
          <a:p>
            <a:endParaRPr lang="en-VN"/>
          </a:p>
        </p:txBody>
      </p:sp>
      <p:sp>
        <p:nvSpPr>
          <p:cNvPr id="54" name="TextBox 53">
            <a:extLst>
              <a:ext uri="{FF2B5EF4-FFF2-40B4-BE49-F238E27FC236}">
                <a16:creationId xmlns:a16="http://schemas.microsoft.com/office/drawing/2014/main" id="{00C4E9DA-7560-7595-1DA0-176839E6CC0D}"/>
              </a:ext>
            </a:extLst>
          </p:cNvPr>
          <p:cNvSpPr txBox="1"/>
          <p:nvPr/>
        </p:nvSpPr>
        <p:spPr>
          <a:xfrm>
            <a:off x="1302524" y="3706472"/>
            <a:ext cx="1843741" cy="338554"/>
          </a:xfrm>
          <a:prstGeom prst="rect">
            <a:avLst/>
          </a:prstGeom>
          <a:noFill/>
        </p:spPr>
        <p:txBody>
          <a:bodyPr wrap="square" rtlCol="0">
            <a:spAutoFit/>
          </a:bodyPr>
          <a:lstStyle/>
          <a:p>
            <a:pPr algn="ctr"/>
            <a:r>
              <a:rPr lang="en-US" sz="1600" b="1" dirty="0" err="1">
                <a:solidFill>
                  <a:schemeClr val="bg1"/>
                </a:solidFill>
                <a:latin typeface="Lato" panose="020F0502020204030203" pitchFamily="34" charset="0"/>
                <a:ea typeface="Lato" panose="020F0502020204030203" pitchFamily="34" charset="0"/>
                <a:cs typeface="Lato" panose="020F0502020204030203" pitchFamily="34" charset="0"/>
              </a:rPr>
              <a:t>Ứng</a:t>
            </a:r>
            <a:r>
              <a:rPr lang="en-US" sz="1600" b="1" dirty="0">
                <a:solidFill>
                  <a:schemeClr val="bg1"/>
                </a:solidFill>
                <a:latin typeface="Lato" panose="020F0502020204030203" pitchFamily="34" charset="0"/>
                <a:ea typeface="Lato" panose="020F0502020204030203" pitchFamily="34" charset="0"/>
                <a:cs typeface="Lato" panose="020F0502020204030203" pitchFamily="34" charset="0"/>
              </a:rPr>
              <a:t> </a:t>
            </a:r>
            <a:r>
              <a:rPr lang="en-US" sz="1600" b="1" dirty="0" err="1">
                <a:solidFill>
                  <a:schemeClr val="bg1"/>
                </a:solidFill>
                <a:latin typeface="Lato" panose="020F0502020204030203" pitchFamily="34" charset="0"/>
                <a:ea typeface="Lato" panose="020F0502020204030203" pitchFamily="34" charset="0"/>
                <a:cs typeface="Lato" panose="020F0502020204030203" pitchFamily="34" charset="0"/>
              </a:rPr>
              <a:t>dụng</a:t>
            </a:r>
            <a:r>
              <a:rPr lang="en-US" sz="1600" b="1" dirty="0">
                <a:solidFill>
                  <a:schemeClr val="bg1"/>
                </a:solidFill>
                <a:latin typeface="Lato" panose="020F0502020204030203" pitchFamily="34" charset="0"/>
                <a:ea typeface="Lato" panose="020F0502020204030203" pitchFamily="34" charset="0"/>
                <a:cs typeface="Lato" panose="020F0502020204030203" pitchFamily="34" charset="0"/>
              </a:rPr>
              <a:t> </a:t>
            </a:r>
            <a:r>
              <a:rPr lang="en-US" sz="1600" b="1" dirty="0" err="1">
                <a:solidFill>
                  <a:schemeClr val="bg1"/>
                </a:solidFill>
                <a:latin typeface="Lato" panose="020F0502020204030203" pitchFamily="34" charset="0"/>
                <a:ea typeface="Lato" panose="020F0502020204030203" pitchFamily="34" charset="0"/>
                <a:cs typeface="Lato" panose="020F0502020204030203" pitchFamily="34" charset="0"/>
              </a:rPr>
              <a:t>rộng</a:t>
            </a:r>
            <a:r>
              <a:rPr lang="en-US" sz="1600" b="1" dirty="0">
                <a:solidFill>
                  <a:schemeClr val="bg1"/>
                </a:solidFill>
                <a:latin typeface="Lato" panose="020F0502020204030203" pitchFamily="34" charset="0"/>
                <a:ea typeface="Lato" panose="020F0502020204030203" pitchFamily="34" charset="0"/>
                <a:cs typeface="Lato" panose="020F0502020204030203" pitchFamily="34" charset="0"/>
              </a:rPr>
              <a:t> </a:t>
            </a:r>
            <a:r>
              <a:rPr lang="en-US" sz="1600" b="1" dirty="0" err="1">
                <a:solidFill>
                  <a:schemeClr val="bg1"/>
                </a:solidFill>
                <a:latin typeface="Lato" panose="020F0502020204030203" pitchFamily="34" charset="0"/>
                <a:ea typeface="Lato" panose="020F0502020204030203" pitchFamily="34" charset="0"/>
                <a:cs typeface="Lato" panose="020F0502020204030203" pitchFamily="34" charset="0"/>
              </a:rPr>
              <a:t>rãi</a:t>
            </a:r>
            <a:endParaRPr lang="en-VN" sz="1600" b="1"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55" name="TextBox 54">
            <a:extLst>
              <a:ext uri="{FF2B5EF4-FFF2-40B4-BE49-F238E27FC236}">
                <a16:creationId xmlns:a16="http://schemas.microsoft.com/office/drawing/2014/main" id="{6E9E1531-25CD-3124-EAB0-6CCB0FCF6DE9}"/>
              </a:ext>
            </a:extLst>
          </p:cNvPr>
          <p:cNvSpPr txBox="1"/>
          <p:nvPr/>
        </p:nvSpPr>
        <p:spPr>
          <a:xfrm>
            <a:off x="29686" y="3950450"/>
            <a:ext cx="4452730" cy="461665"/>
          </a:xfrm>
          <a:prstGeom prst="rect">
            <a:avLst/>
          </a:prstGeom>
          <a:noFill/>
        </p:spPr>
        <p:txBody>
          <a:bodyPr wrap="square" rtlCol="0">
            <a:spAutoFit/>
          </a:bodyPr>
          <a:lstStyle/>
          <a:p>
            <a:pPr algn="ctr"/>
            <a:r>
              <a:rPr lang="vi-VN" sz="1200" i="1" dirty="0">
                <a:solidFill>
                  <a:schemeClr val="bg1"/>
                </a:solidFill>
                <a:latin typeface="Lato" panose="020F0502020204030203" pitchFamily="34" charset="0"/>
                <a:ea typeface="Lato" panose="020F0502020204030203" pitchFamily="34" charset="0"/>
                <a:cs typeface="Lato" panose="020F0502020204030203" pitchFamily="34" charset="0"/>
              </a:rPr>
              <a:t>Được dùng trong thư viện chuẩn (STL, Java Collection), hệ điều hành, cơ sở dữ liệu.</a:t>
            </a:r>
            <a:endParaRPr lang="en-VN" sz="1200" i="1"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56" name="AutoShape 10">
            <a:extLst>
              <a:ext uri="{FF2B5EF4-FFF2-40B4-BE49-F238E27FC236}">
                <a16:creationId xmlns:a16="http://schemas.microsoft.com/office/drawing/2014/main" id="{B0997FCD-EB1C-6230-CB0E-5E271DEBD919}"/>
              </a:ext>
            </a:extLst>
          </p:cNvPr>
          <p:cNvSpPr/>
          <p:nvPr/>
        </p:nvSpPr>
        <p:spPr>
          <a:xfrm>
            <a:off x="133547" y="4407523"/>
            <a:ext cx="8905462" cy="1"/>
          </a:xfrm>
          <a:prstGeom prst="line">
            <a:avLst/>
          </a:prstGeom>
          <a:ln w="12700" cap="rnd">
            <a:solidFill>
              <a:srgbClr val="FFFFFF"/>
            </a:solidFill>
            <a:prstDash val="sysDot"/>
            <a:headEnd type="none" w="sm" len="sm"/>
            <a:tailEnd type="none" w="sm" len="sm"/>
          </a:ln>
        </p:spPr>
        <p:txBody>
          <a:bodyPr/>
          <a:lstStyle/>
          <a:p>
            <a:endParaRPr lang="en-VN"/>
          </a:p>
        </p:txBody>
      </p:sp>
      <p:sp>
        <p:nvSpPr>
          <p:cNvPr id="57" name="TextBox 56">
            <a:extLst>
              <a:ext uri="{FF2B5EF4-FFF2-40B4-BE49-F238E27FC236}">
                <a16:creationId xmlns:a16="http://schemas.microsoft.com/office/drawing/2014/main" id="{DE4332B3-4DE8-F1D6-1D16-0BAB8F7213A3}"/>
              </a:ext>
            </a:extLst>
          </p:cNvPr>
          <p:cNvSpPr txBox="1"/>
          <p:nvPr/>
        </p:nvSpPr>
        <p:spPr>
          <a:xfrm>
            <a:off x="817049" y="4389930"/>
            <a:ext cx="2813968" cy="338554"/>
          </a:xfrm>
          <a:prstGeom prst="rect">
            <a:avLst/>
          </a:prstGeom>
          <a:noFill/>
        </p:spPr>
        <p:txBody>
          <a:bodyPr wrap="square" rtlCol="0">
            <a:spAutoFit/>
          </a:bodyPr>
          <a:lstStyle/>
          <a:p>
            <a:pPr algn="ctr"/>
            <a:r>
              <a:rPr lang="en-US" sz="1600" b="1" dirty="0" err="1">
                <a:solidFill>
                  <a:schemeClr val="bg1"/>
                </a:solidFill>
                <a:latin typeface="Lato" panose="020F0502020204030203" pitchFamily="34" charset="0"/>
                <a:ea typeface="Lato" panose="020F0502020204030203" pitchFamily="34" charset="0"/>
                <a:cs typeface="Lato" panose="020F0502020204030203" pitchFamily="34" charset="0"/>
              </a:rPr>
              <a:t>Thích</a:t>
            </a:r>
            <a:r>
              <a:rPr lang="en-US" sz="1600" b="1" dirty="0">
                <a:solidFill>
                  <a:schemeClr val="bg1"/>
                </a:solidFill>
                <a:latin typeface="Lato" panose="020F0502020204030203" pitchFamily="34" charset="0"/>
                <a:ea typeface="Lato" panose="020F0502020204030203" pitchFamily="34" charset="0"/>
                <a:cs typeface="Lato" panose="020F0502020204030203" pitchFamily="34" charset="0"/>
              </a:rPr>
              <a:t> </a:t>
            </a:r>
            <a:r>
              <a:rPr lang="en-US" sz="1600" b="1" dirty="0" err="1">
                <a:solidFill>
                  <a:schemeClr val="bg1"/>
                </a:solidFill>
                <a:latin typeface="Lato" panose="020F0502020204030203" pitchFamily="34" charset="0"/>
                <a:ea typeface="Lato" panose="020F0502020204030203" pitchFamily="34" charset="0"/>
                <a:cs typeface="Lato" panose="020F0502020204030203" pitchFamily="34" charset="0"/>
              </a:rPr>
              <a:t>hợp</a:t>
            </a:r>
            <a:r>
              <a:rPr lang="en-US" sz="1600" b="1" dirty="0">
                <a:solidFill>
                  <a:schemeClr val="bg1"/>
                </a:solidFill>
                <a:latin typeface="Lato" panose="020F0502020204030203" pitchFamily="34" charset="0"/>
                <a:ea typeface="Lato" panose="020F0502020204030203" pitchFamily="34" charset="0"/>
                <a:cs typeface="Lato" panose="020F0502020204030203" pitchFamily="34" charset="0"/>
              </a:rPr>
              <a:t> </a:t>
            </a:r>
            <a:r>
              <a:rPr lang="en-US" sz="1600" b="1" dirty="0" err="1">
                <a:solidFill>
                  <a:schemeClr val="bg1"/>
                </a:solidFill>
                <a:latin typeface="Lato" panose="020F0502020204030203" pitchFamily="34" charset="0"/>
                <a:ea typeface="Lato" panose="020F0502020204030203" pitchFamily="34" charset="0"/>
                <a:cs typeface="Lato" panose="020F0502020204030203" pitchFamily="34" charset="0"/>
              </a:rPr>
              <a:t>cho</a:t>
            </a:r>
            <a:r>
              <a:rPr lang="en-US" sz="1600" b="1" dirty="0">
                <a:solidFill>
                  <a:schemeClr val="bg1"/>
                </a:solidFill>
                <a:latin typeface="Lato" panose="020F0502020204030203" pitchFamily="34" charset="0"/>
                <a:ea typeface="Lato" panose="020F0502020204030203" pitchFamily="34" charset="0"/>
                <a:cs typeface="Lato" panose="020F0502020204030203" pitchFamily="34" charset="0"/>
              </a:rPr>
              <a:t> </a:t>
            </a:r>
            <a:r>
              <a:rPr lang="en-US" sz="1600" b="1" dirty="0" err="1">
                <a:solidFill>
                  <a:schemeClr val="bg1"/>
                </a:solidFill>
                <a:latin typeface="Lato" panose="020F0502020204030203" pitchFamily="34" charset="0"/>
                <a:ea typeface="Lato" panose="020F0502020204030203" pitchFamily="34" charset="0"/>
                <a:cs typeface="Lato" panose="020F0502020204030203" pitchFamily="34" charset="0"/>
              </a:rPr>
              <a:t>hệ</a:t>
            </a:r>
            <a:r>
              <a:rPr lang="en-US" sz="1600" b="1" dirty="0">
                <a:solidFill>
                  <a:schemeClr val="bg1"/>
                </a:solidFill>
                <a:latin typeface="Lato" panose="020F0502020204030203" pitchFamily="34" charset="0"/>
                <a:ea typeface="Lato" panose="020F0502020204030203" pitchFamily="34" charset="0"/>
                <a:cs typeface="Lato" panose="020F0502020204030203" pitchFamily="34" charset="0"/>
              </a:rPr>
              <a:t> </a:t>
            </a:r>
            <a:r>
              <a:rPr lang="en-US" sz="1600" b="1" dirty="0" err="1">
                <a:solidFill>
                  <a:schemeClr val="bg1"/>
                </a:solidFill>
                <a:latin typeface="Lato" panose="020F0502020204030203" pitchFamily="34" charset="0"/>
                <a:ea typeface="Lato" panose="020F0502020204030203" pitchFamily="34" charset="0"/>
                <a:cs typeface="Lato" panose="020F0502020204030203" pitchFamily="34" charset="0"/>
              </a:rPr>
              <a:t>thống</a:t>
            </a:r>
            <a:r>
              <a:rPr lang="en-US" sz="1600" b="1" dirty="0">
                <a:solidFill>
                  <a:schemeClr val="bg1"/>
                </a:solidFill>
                <a:latin typeface="Lato" panose="020F0502020204030203" pitchFamily="34" charset="0"/>
                <a:ea typeface="Lato" panose="020F0502020204030203" pitchFamily="34" charset="0"/>
                <a:cs typeface="Lato" panose="020F0502020204030203" pitchFamily="34" charset="0"/>
              </a:rPr>
              <a:t> </a:t>
            </a:r>
            <a:r>
              <a:rPr lang="en-US" sz="1600" b="1" dirty="0" err="1">
                <a:solidFill>
                  <a:schemeClr val="bg1"/>
                </a:solidFill>
                <a:latin typeface="Lato" panose="020F0502020204030203" pitchFamily="34" charset="0"/>
                <a:ea typeface="Lato" panose="020F0502020204030203" pitchFamily="34" charset="0"/>
                <a:cs typeface="Lato" panose="020F0502020204030203" pitchFamily="34" charset="0"/>
              </a:rPr>
              <a:t>lớn</a:t>
            </a:r>
            <a:endParaRPr lang="en-VN" sz="1600" b="1"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58" name="TextBox 57">
            <a:extLst>
              <a:ext uri="{FF2B5EF4-FFF2-40B4-BE49-F238E27FC236}">
                <a16:creationId xmlns:a16="http://schemas.microsoft.com/office/drawing/2014/main" id="{06348D9B-0ABF-BC56-B208-2A241198AC8B}"/>
              </a:ext>
            </a:extLst>
          </p:cNvPr>
          <p:cNvSpPr txBox="1"/>
          <p:nvPr/>
        </p:nvSpPr>
        <p:spPr>
          <a:xfrm>
            <a:off x="-1971" y="4643866"/>
            <a:ext cx="4452730" cy="276999"/>
          </a:xfrm>
          <a:prstGeom prst="rect">
            <a:avLst/>
          </a:prstGeom>
          <a:noFill/>
        </p:spPr>
        <p:txBody>
          <a:bodyPr wrap="square" rtlCol="0">
            <a:spAutoFit/>
          </a:bodyPr>
          <a:lstStyle/>
          <a:p>
            <a:pPr algn="ctr"/>
            <a:r>
              <a:rPr lang="vi-VN" sz="1200" i="1" dirty="0">
                <a:solidFill>
                  <a:schemeClr val="bg1"/>
                </a:solidFill>
                <a:latin typeface="Lato" panose="020F0502020204030203" pitchFamily="34" charset="0"/>
                <a:ea typeface="Lato" panose="020F0502020204030203" pitchFamily="34" charset="0"/>
                <a:cs typeface="Lato" panose="020F0502020204030203" pitchFamily="34" charset="0"/>
              </a:rPr>
              <a:t>Hiệu năng ổn định, cấu trúc đơn giản hơn so với AVL.</a:t>
            </a:r>
            <a:endParaRPr lang="en-VN" sz="1200" i="1"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59" name="TextBox 58">
            <a:extLst>
              <a:ext uri="{FF2B5EF4-FFF2-40B4-BE49-F238E27FC236}">
                <a16:creationId xmlns:a16="http://schemas.microsoft.com/office/drawing/2014/main" id="{94804840-963C-77B0-4A49-411474D99E2F}"/>
              </a:ext>
            </a:extLst>
          </p:cNvPr>
          <p:cNvSpPr txBox="1"/>
          <p:nvPr/>
        </p:nvSpPr>
        <p:spPr>
          <a:xfrm>
            <a:off x="4779723" y="1889140"/>
            <a:ext cx="4236743" cy="338554"/>
          </a:xfrm>
          <a:prstGeom prst="rect">
            <a:avLst/>
          </a:prstGeom>
          <a:noFill/>
        </p:spPr>
        <p:txBody>
          <a:bodyPr wrap="square" rtlCol="0">
            <a:spAutoFit/>
          </a:bodyPr>
          <a:lstStyle/>
          <a:p>
            <a:pPr algn="ctr"/>
            <a:r>
              <a:rPr lang="en-VN" sz="1600" b="1" dirty="0">
                <a:solidFill>
                  <a:schemeClr val="bg1"/>
                </a:solidFill>
                <a:latin typeface="Lato" panose="020F0502020204030203" pitchFamily="34" charset="0"/>
                <a:ea typeface="Lato" panose="020F0502020204030203" pitchFamily="34" charset="0"/>
                <a:cs typeface="Lato" panose="020F0502020204030203" pitchFamily="34" charset="0"/>
              </a:rPr>
              <a:t>Cài đặt phức tạp hơn BST thông thường </a:t>
            </a:r>
          </a:p>
        </p:txBody>
      </p:sp>
      <p:sp>
        <p:nvSpPr>
          <p:cNvPr id="64" name="TextBox 63">
            <a:extLst>
              <a:ext uri="{FF2B5EF4-FFF2-40B4-BE49-F238E27FC236}">
                <a16:creationId xmlns:a16="http://schemas.microsoft.com/office/drawing/2014/main" id="{A1D7E513-9926-0CB5-D3A8-586C0BAAE8C1}"/>
              </a:ext>
            </a:extLst>
          </p:cNvPr>
          <p:cNvSpPr txBox="1"/>
          <p:nvPr/>
        </p:nvSpPr>
        <p:spPr>
          <a:xfrm>
            <a:off x="4693240" y="2108938"/>
            <a:ext cx="4452730" cy="276999"/>
          </a:xfrm>
          <a:prstGeom prst="rect">
            <a:avLst/>
          </a:prstGeom>
          <a:noFill/>
        </p:spPr>
        <p:txBody>
          <a:bodyPr wrap="square" rtlCol="0">
            <a:spAutoFit/>
          </a:bodyPr>
          <a:lstStyle/>
          <a:p>
            <a:pPr algn="ctr"/>
            <a:r>
              <a:rPr lang="vi-VN" sz="1200" i="1" dirty="0">
                <a:solidFill>
                  <a:schemeClr val="bg1"/>
                </a:solidFill>
                <a:latin typeface="Lato" panose="020F0502020204030203" pitchFamily="34" charset="0"/>
                <a:ea typeface="Lato" panose="020F0502020204030203" pitchFamily="34" charset="0"/>
                <a:cs typeface="Lato" panose="020F0502020204030203" pitchFamily="34" charset="0"/>
              </a:rPr>
              <a:t>Việc xử lý xoay cây và đổi màu đòi hỏi nhiều điều kiện hơn</a:t>
            </a:r>
            <a:endParaRPr lang="en-VN" sz="1200" i="1"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65" name="TextBox 64">
            <a:extLst>
              <a:ext uri="{FF2B5EF4-FFF2-40B4-BE49-F238E27FC236}">
                <a16:creationId xmlns:a16="http://schemas.microsoft.com/office/drawing/2014/main" id="{468071FF-C71B-A44A-A573-3FE8774ED21F}"/>
              </a:ext>
            </a:extLst>
          </p:cNvPr>
          <p:cNvSpPr txBox="1"/>
          <p:nvPr/>
        </p:nvSpPr>
        <p:spPr>
          <a:xfrm>
            <a:off x="4939273" y="2413193"/>
            <a:ext cx="3856220" cy="338554"/>
          </a:xfrm>
          <a:prstGeom prst="rect">
            <a:avLst/>
          </a:prstGeom>
          <a:noFill/>
        </p:spPr>
        <p:txBody>
          <a:bodyPr wrap="square" rtlCol="0">
            <a:spAutoFit/>
          </a:bodyPr>
          <a:lstStyle/>
          <a:p>
            <a:pPr algn="ctr"/>
            <a:r>
              <a:rPr lang="en-US" sz="1600" b="1" dirty="0" err="1">
                <a:solidFill>
                  <a:schemeClr val="bg1"/>
                </a:solidFill>
                <a:latin typeface="Lato" panose="020F0502020204030203" pitchFamily="34" charset="0"/>
                <a:ea typeface="Lato" panose="020F0502020204030203" pitchFamily="34" charset="0"/>
                <a:cs typeface="Lato" panose="020F0502020204030203" pitchFamily="34" charset="0"/>
              </a:rPr>
              <a:t>Khó</a:t>
            </a:r>
            <a:r>
              <a:rPr lang="en-US" sz="1600" b="1" dirty="0">
                <a:solidFill>
                  <a:schemeClr val="bg1"/>
                </a:solidFill>
                <a:latin typeface="Lato" panose="020F0502020204030203" pitchFamily="34" charset="0"/>
                <a:ea typeface="Lato" panose="020F0502020204030203" pitchFamily="34" charset="0"/>
                <a:cs typeface="Lato" panose="020F0502020204030203" pitchFamily="34" charset="0"/>
              </a:rPr>
              <a:t> </a:t>
            </a:r>
            <a:r>
              <a:rPr lang="en-US" sz="1600" b="1" dirty="0" err="1">
                <a:solidFill>
                  <a:schemeClr val="bg1"/>
                </a:solidFill>
                <a:latin typeface="Lato" panose="020F0502020204030203" pitchFamily="34" charset="0"/>
                <a:ea typeface="Lato" panose="020F0502020204030203" pitchFamily="34" charset="0"/>
                <a:cs typeface="Lato" panose="020F0502020204030203" pitchFamily="34" charset="0"/>
              </a:rPr>
              <a:t>trực</a:t>
            </a:r>
            <a:r>
              <a:rPr lang="en-US" sz="1600" b="1" dirty="0">
                <a:solidFill>
                  <a:schemeClr val="bg1"/>
                </a:solidFill>
                <a:latin typeface="Lato" panose="020F0502020204030203" pitchFamily="34" charset="0"/>
                <a:ea typeface="Lato" panose="020F0502020204030203" pitchFamily="34" charset="0"/>
                <a:cs typeface="Lato" panose="020F0502020204030203" pitchFamily="34" charset="0"/>
              </a:rPr>
              <a:t> </a:t>
            </a:r>
            <a:r>
              <a:rPr lang="en-US" sz="1600" b="1" dirty="0" err="1">
                <a:solidFill>
                  <a:schemeClr val="bg1"/>
                </a:solidFill>
                <a:latin typeface="Lato" panose="020F0502020204030203" pitchFamily="34" charset="0"/>
                <a:ea typeface="Lato" panose="020F0502020204030203" pitchFamily="34" charset="0"/>
                <a:cs typeface="Lato" panose="020F0502020204030203" pitchFamily="34" charset="0"/>
              </a:rPr>
              <a:t>quan</a:t>
            </a:r>
            <a:r>
              <a:rPr lang="en-US" sz="1600" b="1" dirty="0">
                <a:solidFill>
                  <a:schemeClr val="bg1"/>
                </a:solidFill>
                <a:latin typeface="Lato" panose="020F0502020204030203" pitchFamily="34" charset="0"/>
                <a:ea typeface="Lato" panose="020F0502020204030203" pitchFamily="34" charset="0"/>
                <a:cs typeface="Lato" panose="020F0502020204030203" pitchFamily="34" charset="0"/>
              </a:rPr>
              <a:t> </a:t>
            </a:r>
            <a:r>
              <a:rPr lang="en-US" sz="1600" b="1" dirty="0" err="1">
                <a:solidFill>
                  <a:schemeClr val="bg1"/>
                </a:solidFill>
                <a:latin typeface="Lato" panose="020F0502020204030203" pitchFamily="34" charset="0"/>
                <a:ea typeface="Lato" panose="020F0502020204030203" pitchFamily="34" charset="0"/>
                <a:cs typeface="Lato" panose="020F0502020204030203" pitchFamily="34" charset="0"/>
              </a:rPr>
              <a:t>hóa</a:t>
            </a:r>
            <a:r>
              <a:rPr lang="en-US" sz="1600" b="1" dirty="0">
                <a:solidFill>
                  <a:schemeClr val="bg1"/>
                </a:solidFill>
                <a:latin typeface="Lato" panose="020F0502020204030203" pitchFamily="34" charset="0"/>
                <a:ea typeface="Lato" panose="020F0502020204030203" pitchFamily="34" charset="0"/>
                <a:cs typeface="Lato" panose="020F0502020204030203" pitchFamily="34" charset="0"/>
              </a:rPr>
              <a:t> </a:t>
            </a:r>
            <a:r>
              <a:rPr lang="en-US" sz="1600" b="1" dirty="0" err="1">
                <a:solidFill>
                  <a:schemeClr val="bg1"/>
                </a:solidFill>
                <a:latin typeface="Lato" panose="020F0502020204030203" pitchFamily="34" charset="0"/>
                <a:ea typeface="Lato" panose="020F0502020204030203" pitchFamily="34" charset="0"/>
                <a:cs typeface="Lato" panose="020F0502020204030203" pitchFamily="34" charset="0"/>
              </a:rPr>
              <a:t>và</a:t>
            </a:r>
            <a:r>
              <a:rPr lang="en-US" sz="1600" b="1" dirty="0">
                <a:solidFill>
                  <a:schemeClr val="bg1"/>
                </a:solidFill>
                <a:latin typeface="Lato" panose="020F0502020204030203" pitchFamily="34" charset="0"/>
                <a:ea typeface="Lato" panose="020F0502020204030203" pitchFamily="34" charset="0"/>
                <a:cs typeface="Lato" panose="020F0502020204030203" pitchFamily="34" charset="0"/>
              </a:rPr>
              <a:t> debug</a:t>
            </a:r>
            <a:endParaRPr lang="en-VN" sz="1600" b="1"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68" name="TextBox 67">
            <a:extLst>
              <a:ext uri="{FF2B5EF4-FFF2-40B4-BE49-F238E27FC236}">
                <a16:creationId xmlns:a16="http://schemas.microsoft.com/office/drawing/2014/main" id="{3160C6D6-F981-8FC6-F88B-BA6D2BFE704A}"/>
              </a:ext>
            </a:extLst>
          </p:cNvPr>
          <p:cNvSpPr txBox="1"/>
          <p:nvPr/>
        </p:nvSpPr>
        <p:spPr>
          <a:xfrm>
            <a:off x="4661583" y="2645056"/>
            <a:ext cx="4452730" cy="461665"/>
          </a:xfrm>
          <a:prstGeom prst="rect">
            <a:avLst/>
          </a:prstGeom>
          <a:noFill/>
        </p:spPr>
        <p:txBody>
          <a:bodyPr wrap="square" rtlCol="0">
            <a:spAutoFit/>
          </a:bodyPr>
          <a:lstStyle/>
          <a:p>
            <a:pPr algn="ctr"/>
            <a:r>
              <a:rPr lang="vi-VN" sz="1200" i="1" dirty="0">
                <a:solidFill>
                  <a:schemeClr val="bg1"/>
                </a:solidFill>
                <a:latin typeface="Lato" panose="020F0502020204030203" pitchFamily="34" charset="0"/>
                <a:ea typeface="Lato" panose="020F0502020204030203" pitchFamily="34" charset="0"/>
                <a:cs typeface="Lato" panose="020F0502020204030203" pitchFamily="34" charset="0"/>
              </a:rPr>
              <a:t>Khi xảy ra lỗi logic, việc xác định vi phạm quy tắc (red-red, black-height) khó hơn.</a:t>
            </a:r>
            <a:endParaRPr lang="en-VN" sz="1200" i="1"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69" name="TextBox 68">
            <a:extLst>
              <a:ext uri="{FF2B5EF4-FFF2-40B4-BE49-F238E27FC236}">
                <a16:creationId xmlns:a16="http://schemas.microsoft.com/office/drawing/2014/main" id="{E32C49A3-1101-DD4D-1949-FAA1B10650CF}"/>
              </a:ext>
            </a:extLst>
          </p:cNvPr>
          <p:cNvSpPr txBox="1"/>
          <p:nvPr/>
        </p:nvSpPr>
        <p:spPr>
          <a:xfrm>
            <a:off x="4711397" y="3103918"/>
            <a:ext cx="4341890" cy="338554"/>
          </a:xfrm>
          <a:prstGeom prst="rect">
            <a:avLst/>
          </a:prstGeom>
          <a:noFill/>
        </p:spPr>
        <p:txBody>
          <a:bodyPr wrap="square" rtlCol="0">
            <a:spAutoFit/>
          </a:bodyPr>
          <a:lstStyle/>
          <a:p>
            <a:pPr algn="ctr"/>
            <a:r>
              <a:rPr lang="en-US" sz="1600" b="1" dirty="0" err="1">
                <a:solidFill>
                  <a:schemeClr val="bg1"/>
                </a:solidFill>
                <a:latin typeface="Lato" panose="020F0502020204030203" pitchFamily="34" charset="0"/>
                <a:ea typeface="Lato" panose="020F0502020204030203" pitchFamily="34" charset="0"/>
                <a:cs typeface="Lato" panose="020F0502020204030203" pitchFamily="34" charset="0"/>
              </a:rPr>
              <a:t>Không</a:t>
            </a:r>
            <a:r>
              <a:rPr lang="en-US" sz="1600" b="1" dirty="0">
                <a:solidFill>
                  <a:schemeClr val="bg1"/>
                </a:solidFill>
                <a:latin typeface="Lato" panose="020F0502020204030203" pitchFamily="34" charset="0"/>
                <a:ea typeface="Lato" panose="020F0502020204030203" pitchFamily="34" charset="0"/>
                <a:cs typeface="Lato" panose="020F0502020204030203" pitchFamily="34" charset="0"/>
              </a:rPr>
              <a:t> </a:t>
            </a:r>
            <a:r>
              <a:rPr lang="en-US" sz="1600" b="1" dirty="0" err="1">
                <a:solidFill>
                  <a:schemeClr val="bg1"/>
                </a:solidFill>
                <a:latin typeface="Lato" panose="020F0502020204030203" pitchFamily="34" charset="0"/>
                <a:ea typeface="Lato" panose="020F0502020204030203" pitchFamily="34" charset="0"/>
                <a:cs typeface="Lato" panose="020F0502020204030203" pitchFamily="34" charset="0"/>
              </a:rPr>
              <a:t>cân</a:t>
            </a:r>
            <a:r>
              <a:rPr lang="en-US" sz="1600" b="1" dirty="0">
                <a:solidFill>
                  <a:schemeClr val="bg1"/>
                </a:solidFill>
                <a:latin typeface="Lato" panose="020F0502020204030203" pitchFamily="34" charset="0"/>
                <a:ea typeface="Lato" panose="020F0502020204030203" pitchFamily="34" charset="0"/>
                <a:cs typeface="Lato" panose="020F0502020204030203" pitchFamily="34" charset="0"/>
              </a:rPr>
              <a:t> </a:t>
            </a:r>
            <a:r>
              <a:rPr lang="en-US" sz="1600" b="1" dirty="0" err="1">
                <a:solidFill>
                  <a:schemeClr val="bg1"/>
                </a:solidFill>
                <a:latin typeface="Lato" panose="020F0502020204030203" pitchFamily="34" charset="0"/>
                <a:ea typeface="Lato" panose="020F0502020204030203" pitchFamily="34" charset="0"/>
                <a:cs typeface="Lato" panose="020F0502020204030203" pitchFamily="34" charset="0"/>
              </a:rPr>
              <a:t>bằng</a:t>
            </a:r>
            <a:r>
              <a:rPr lang="en-US" sz="1600" b="1" dirty="0">
                <a:solidFill>
                  <a:schemeClr val="bg1"/>
                </a:solidFill>
                <a:latin typeface="Lato" panose="020F0502020204030203" pitchFamily="34" charset="0"/>
                <a:ea typeface="Lato" panose="020F0502020204030203" pitchFamily="34" charset="0"/>
                <a:cs typeface="Lato" panose="020F0502020204030203" pitchFamily="34" charset="0"/>
              </a:rPr>
              <a:t> </a:t>
            </a:r>
            <a:r>
              <a:rPr lang="en-US" sz="1600" b="1" dirty="0" err="1">
                <a:solidFill>
                  <a:schemeClr val="bg1"/>
                </a:solidFill>
                <a:latin typeface="Lato" panose="020F0502020204030203" pitchFamily="34" charset="0"/>
                <a:ea typeface="Lato" panose="020F0502020204030203" pitchFamily="34" charset="0"/>
                <a:cs typeface="Lato" panose="020F0502020204030203" pitchFamily="34" charset="0"/>
              </a:rPr>
              <a:t>tuyệt</a:t>
            </a:r>
            <a:r>
              <a:rPr lang="en-US" sz="1600" b="1" dirty="0">
                <a:solidFill>
                  <a:schemeClr val="bg1"/>
                </a:solidFill>
                <a:latin typeface="Lato" panose="020F0502020204030203" pitchFamily="34" charset="0"/>
                <a:ea typeface="Lato" panose="020F0502020204030203" pitchFamily="34" charset="0"/>
                <a:cs typeface="Lato" panose="020F0502020204030203" pitchFamily="34" charset="0"/>
              </a:rPr>
              <a:t> </a:t>
            </a:r>
            <a:r>
              <a:rPr lang="en-US" sz="1600" b="1" dirty="0" err="1">
                <a:solidFill>
                  <a:schemeClr val="bg1"/>
                </a:solidFill>
                <a:latin typeface="Lato" panose="020F0502020204030203" pitchFamily="34" charset="0"/>
                <a:ea typeface="Lato" panose="020F0502020204030203" pitchFamily="34" charset="0"/>
                <a:cs typeface="Lato" panose="020F0502020204030203" pitchFamily="34" charset="0"/>
              </a:rPr>
              <a:t>đối</a:t>
            </a:r>
            <a:endParaRPr lang="en-VN" sz="1600" b="1"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70" name="TextBox 69">
            <a:extLst>
              <a:ext uri="{FF2B5EF4-FFF2-40B4-BE49-F238E27FC236}">
                <a16:creationId xmlns:a16="http://schemas.microsoft.com/office/drawing/2014/main" id="{EDE21151-BCE3-1AD4-5DFC-60297ECE55C5}"/>
              </a:ext>
            </a:extLst>
          </p:cNvPr>
          <p:cNvSpPr txBox="1"/>
          <p:nvPr/>
        </p:nvSpPr>
        <p:spPr>
          <a:xfrm>
            <a:off x="4679907" y="3395439"/>
            <a:ext cx="4452730" cy="276999"/>
          </a:xfrm>
          <a:prstGeom prst="rect">
            <a:avLst/>
          </a:prstGeom>
          <a:noFill/>
        </p:spPr>
        <p:txBody>
          <a:bodyPr wrap="square" rtlCol="0">
            <a:spAutoFit/>
          </a:bodyPr>
          <a:lstStyle/>
          <a:p>
            <a:pPr algn="ctr"/>
            <a:r>
              <a:rPr lang="vi-VN" sz="1200" i="1" dirty="0">
                <a:solidFill>
                  <a:schemeClr val="bg1"/>
                </a:solidFill>
                <a:latin typeface="Lato" panose="020F0502020204030203" pitchFamily="34" charset="0"/>
                <a:ea typeface="Lato" panose="020F0502020204030203" pitchFamily="34" charset="0"/>
                <a:cs typeface="Lato" panose="020F0502020204030203" pitchFamily="34" charset="0"/>
              </a:rPr>
              <a:t>Một số thao tác có thể chậm hơn AVL trong trường hợp đặc biệt.</a:t>
            </a:r>
            <a:endParaRPr lang="en-VN" sz="1200" i="1"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71" name="TextBox 70">
            <a:extLst>
              <a:ext uri="{FF2B5EF4-FFF2-40B4-BE49-F238E27FC236}">
                <a16:creationId xmlns:a16="http://schemas.microsoft.com/office/drawing/2014/main" id="{B3D4E06D-09B5-A5DB-F0FD-AF3B135A2D93}"/>
              </a:ext>
            </a:extLst>
          </p:cNvPr>
          <p:cNvSpPr txBox="1"/>
          <p:nvPr/>
        </p:nvSpPr>
        <p:spPr>
          <a:xfrm>
            <a:off x="4836516" y="3694115"/>
            <a:ext cx="4341890" cy="338554"/>
          </a:xfrm>
          <a:prstGeom prst="rect">
            <a:avLst/>
          </a:prstGeom>
          <a:noFill/>
        </p:spPr>
        <p:txBody>
          <a:bodyPr wrap="square" rtlCol="0">
            <a:spAutoFit/>
          </a:bodyPr>
          <a:lstStyle/>
          <a:p>
            <a:pPr algn="ctr"/>
            <a:r>
              <a:rPr lang="vi-VN" sz="1600" b="1" dirty="0">
                <a:solidFill>
                  <a:schemeClr val="bg1"/>
                </a:solidFill>
                <a:latin typeface="Lato" panose="020F0502020204030203" pitchFamily="34" charset="0"/>
                <a:ea typeface="Lato" panose="020F0502020204030203" pitchFamily="34" charset="0"/>
                <a:cs typeface="Lato" panose="020F0502020204030203" pitchFamily="34" charset="0"/>
              </a:rPr>
              <a:t>Không tối ưu cho truy cập tuần tự</a:t>
            </a:r>
            <a:endParaRPr lang="en-VN" sz="1600" b="1"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72" name="TextBox 71">
            <a:extLst>
              <a:ext uri="{FF2B5EF4-FFF2-40B4-BE49-F238E27FC236}">
                <a16:creationId xmlns:a16="http://schemas.microsoft.com/office/drawing/2014/main" id="{43FE6AEA-995C-D84B-EDEB-C00D0E02E93E}"/>
              </a:ext>
            </a:extLst>
          </p:cNvPr>
          <p:cNvSpPr txBox="1"/>
          <p:nvPr/>
        </p:nvSpPr>
        <p:spPr>
          <a:xfrm>
            <a:off x="4635203" y="3949395"/>
            <a:ext cx="4452730" cy="461665"/>
          </a:xfrm>
          <a:prstGeom prst="rect">
            <a:avLst/>
          </a:prstGeom>
          <a:noFill/>
        </p:spPr>
        <p:txBody>
          <a:bodyPr wrap="square" rtlCol="0">
            <a:spAutoFit/>
          </a:bodyPr>
          <a:lstStyle/>
          <a:p>
            <a:pPr algn="ctr"/>
            <a:r>
              <a:rPr lang="vi-VN" sz="1200" i="1" dirty="0">
                <a:solidFill>
                  <a:schemeClr val="bg1"/>
                </a:solidFill>
                <a:latin typeface="Lato" panose="020F0502020204030203" pitchFamily="34" charset="0"/>
                <a:ea typeface="Lato" panose="020F0502020204030203" pitchFamily="34" charset="0"/>
                <a:cs typeface="Lato" panose="020F0502020204030203" pitchFamily="34" charset="0"/>
              </a:rPr>
              <a:t>Nếu truy xuất tuần tự liên tục, cấu trúc tuyến tính (như mảng) sẽ nhanh hơn</a:t>
            </a:r>
            <a:endParaRPr lang="en-VN" sz="1200" i="1"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73" name="TextBox 72">
            <a:extLst>
              <a:ext uri="{FF2B5EF4-FFF2-40B4-BE49-F238E27FC236}">
                <a16:creationId xmlns:a16="http://schemas.microsoft.com/office/drawing/2014/main" id="{29FC576E-EE41-3C21-1022-A72975D9AF3D}"/>
              </a:ext>
            </a:extLst>
          </p:cNvPr>
          <p:cNvSpPr txBox="1"/>
          <p:nvPr/>
        </p:nvSpPr>
        <p:spPr>
          <a:xfrm>
            <a:off x="4723500" y="4412343"/>
            <a:ext cx="4341890" cy="338554"/>
          </a:xfrm>
          <a:prstGeom prst="rect">
            <a:avLst/>
          </a:prstGeom>
          <a:noFill/>
        </p:spPr>
        <p:txBody>
          <a:bodyPr wrap="square" rtlCol="0">
            <a:spAutoFit/>
          </a:bodyPr>
          <a:lstStyle/>
          <a:p>
            <a:pPr algn="ctr"/>
            <a:r>
              <a:rPr lang="vi-VN" sz="1600" b="1" dirty="0">
                <a:solidFill>
                  <a:schemeClr val="bg1"/>
                </a:solidFill>
                <a:latin typeface="Lato" panose="020F0502020204030203" pitchFamily="34" charset="0"/>
                <a:ea typeface="Lato" panose="020F0502020204030203" pitchFamily="34" charset="0"/>
                <a:cs typeface="Lato" panose="020F0502020204030203" pitchFamily="34" charset="0"/>
              </a:rPr>
              <a:t>Không tối ưu cho truy cập tuần tự</a:t>
            </a:r>
            <a:endParaRPr lang="en-VN" sz="1600" b="1"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74" name="TextBox 73">
            <a:extLst>
              <a:ext uri="{FF2B5EF4-FFF2-40B4-BE49-F238E27FC236}">
                <a16:creationId xmlns:a16="http://schemas.microsoft.com/office/drawing/2014/main" id="{A2DB1356-5112-81CB-EFBB-6C81C2F2C6CB}"/>
              </a:ext>
            </a:extLst>
          </p:cNvPr>
          <p:cNvSpPr txBox="1"/>
          <p:nvPr/>
        </p:nvSpPr>
        <p:spPr>
          <a:xfrm>
            <a:off x="4777489" y="4641607"/>
            <a:ext cx="4238977" cy="276999"/>
          </a:xfrm>
          <a:prstGeom prst="rect">
            <a:avLst/>
          </a:prstGeom>
          <a:noFill/>
        </p:spPr>
        <p:txBody>
          <a:bodyPr wrap="square" rtlCol="0">
            <a:spAutoFit/>
          </a:bodyPr>
          <a:lstStyle/>
          <a:p>
            <a:pPr algn="ctr"/>
            <a:r>
              <a:rPr lang="vi-VN" sz="1200" i="1" dirty="0">
                <a:solidFill>
                  <a:schemeClr val="bg1"/>
                </a:solidFill>
                <a:latin typeface="Lato" panose="020F0502020204030203" pitchFamily="34" charset="0"/>
                <a:ea typeface="Lato" panose="020F0502020204030203" pitchFamily="34" charset="0"/>
                <a:cs typeface="Lato" panose="020F0502020204030203" pitchFamily="34" charset="0"/>
              </a:rPr>
              <a:t>Mỗi node phải lưu thêm thông tin màu (RED/BLACK)</a:t>
            </a:r>
            <a:endParaRPr lang="en-VN" sz="1200" i="1"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75" name="AutoShape 45">
            <a:extLst>
              <a:ext uri="{FF2B5EF4-FFF2-40B4-BE49-F238E27FC236}">
                <a16:creationId xmlns:a16="http://schemas.microsoft.com/office/drawing/2014/main" id="{61A40B72-FDD1-A783-5D77-575EEF6F2F2D}"/>
              </a:ext>
            </a:extLst>
          </p:cNvPr>
          <p:cNvSpPr/>
          <p:nvPr/>
        </p:nvSpPr>
        <p:spPr>
          <a:xfrm flipV="1">
            <a:off x="4363530" y="3134914"/>
            <a:ext cx="416937" cy="0"/>
          </a:xfrm>
          <a:prstGeom prst="line">
            <a:avLst/>
          </a:prstGeom>
          <a:ln w="12700" cap="rnd">
            <a:solidFill>
              <a:srgbClr val="2D323B">
                <a:alpha val="69804"/>
              </a:srgbClr>
            </a:solidFill>
            <a:prstDash val="sysDot"/>
            <a:headEnd type="none" w="sm" len="sm"/>
            <a:tailEnd type="none" w="sm" len="sm"/>
          </a:ln>
        </p:spPr>
        <p:txBody>
          <a:bodyPr/>
          <a:lstStyle/>
          <a:p>
            <a:endParaRPr lang="en-VN"/>
          </a:p>
        </p:txBody>
      </p:sp>
      <p:sp>
        <p:nvSpPr>
          <p:cNvPr id="76" name="AutoShape 45">
            <a:extLst>
              <a:ext uri="{FF2B5EF4-FFF2-40B4-BE49-F238E27FC236}">
                <a16:creationId xmlns:a16="http://schemas.microsoft.com/office/drawing/2014/main" id="{B2FDE2EB-B2A4-1F80-A354-F890FDB8F166}"/>
              </a:ext>
            </a:extLst>
          </p:cNvPr>
          <p:cNvSpPr/>
          <p:nvPr/>
        </p:nvSpPr>
        <p:spPr>
          <a:xfrm flipV="1">
            <a:off x="4392831" y="3710964"/>
            <a:ext cx="416937" cy="0"/>
          </a:xfrm>
          <a:prstGeom prst="line">
            <a:avLst/>
          </a:prstGeom>
          <a:ln w="12700" cap="rnd">
            <a:solidFill>
              <a:srgbClr val="2D323B">
                <a:alpha val="69804"/>
              </a:srgbClr>
            </a:solidFill>
            <a:prstDash val="sysDot"/>
            <a:headEnd type="none" w="sm" len="sm"/>
            <a:tailEnd type="none" w="sm" len="sm"/>
          </a:ln>
        </p:spPr>
        <p:txBody>
          <a:bodyPr/>
          <a:lstStyle/>
          <a:p>
            <a:endParaRPr lang="en-VN"/>
          </a:p>
        </p:txBody>
      </p:sp>
      <p:sp>
        <p:nvSpPr>
          <p:cNvPr id="77" name="AutoShape 45">
            <a:extLst>
              <a:ext uri="{FF2B5EF4-FFF2-40B4-BE49-F238E27FC236}">
                <a16:creationId xmlns:a16="http://schemas.microsoft.com/office/drawing/2014/main" id="{5979987B-F9AE-6DF0-60F1-E3D6ED500749}"/>
              </a:ext>
            </a:extLst>
          </p:cNvPr>
          <p:cNvSpPr/>
          <p:nvPr/>
        </p:nvSpPr>
        <p:spPr>
          <a:xfrm flipV="1">
            <a:off x="4372952" y="4412015"/>
            <a:ext cx="416937" cy="0"/>
          </a:xfrm>
          <a:prstGeom prst="line">
            <a:avLst/>
          </a:prstGeom>
          <a:ln w="12700" cap="rnd">
            <a:solidFill>
              <a:srgbClr val="2D323B">
                <a:alpha val="69804"/>
              </a:srgbClr>
            </a:solidFill>
            <a:prstDash val="sysDot"/>
            <a:headEnd type="none" w="sm" len="sm"/>
            <a:tailEnd type="none" w="sm" len="sm"/>
          </a:ln>
        </p:spPr>
        <p:txBody>
          <a:bodyPr/>
          <a:lstStyle/>
          <a:p>
            <a:endParaRPr lang="en-VN"/>
          </a:p>
        </p:txBody>
      </p:sp>
      <p:sp>
        <p:nvSpPr>
          <p:cNvPr id="78" name="TextBox 77">
            <a:extLst>
              <a:ext uri="{FF2B5EF4-FFF2-40B4-BE49-F238E27FC236}">
                <a16:creationId xmlns:a16="http://schemas.microsoft.com/office/drawing/2014/main" id="{9DB69297-C4A3-BC7F-5C60-AC93E49B5E05}"/>
              </a:ext>
            </a:extLst>
          </p:cNvPr>
          <p:cNvSpPr txBox="1"/>
          <p:nvPr/>
        </p:nvSpPr>
        <p:spPr>
          <a:xfrm>
            <a:off x="1523530" y="5208772"/>
            <a:ext cx="7501201" cy="923330"/>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rtlCol="0">
            <a:spAutoFit/>
          </a:bodyPr>
          <a:lstStyle/>
          <a:p>
            <a:r>
              <a:rPr lang="vi-VN" i="1" dirty="0">
                <a:solidFill>
                  <a:schemeClr val="tx1"/>
                </a:solidFill>
                <a:latin typeface="Lato" panose="020F0502020204030203" pitchFamily="34" charset="0"/>
                <a:ea typeface="Lato" panose="020F0502020204030203" pitchFamily="34" charset="0"/>
                <a:cs typeface="Lato" panose="020F0502020204030203" pitchFamily="34" charset="0"/>
              </a:rPr>
              <a:t>“Điểm yếu lớn nhất của Red-Black Tree là </a:t>
            </a:r>
            <a:r>
              <a:rPr lang="vi-VN" b="1" i="1" dirty="0">
                <a:solidFill>
                  <a:schemeClr val="tx1"/>
                </a:solidFill>
                <a:latin typeface="Lato" panose="020F0502020204030203" pitchFamily="34" charset="0"/>
                <a:ea typeface="Lato" panose="020F0502020204030203" pitchFamily="34" charset="0"/>
                <a:cs typeface="Lato" panose="020F0502020204030203" pitchFamily="34" charset="0"/>
              </a:rPr>
              <a:t>độ phức tạp trong cài đặt và bảo trì</a:t>
            </a:r>
            <a:r>
              <a:rPr lang="vi-VN" i="1" dirty="0">
                <a:solidFill>
                  <a:schemeClr val="tx1"/>
                </a:solidFill>
                <a:latin typeface="Lato" panose="020F0502020204030203" pitchFamily="34" charset="0"/>
                <a:ea typeface="Lato" panose="020F0502020204030203" pitchFamily="34" charset="0"/>
                <a:cs typeface="Lato" panose="020F0502020204030203" pitchFamily="34" charset="0"/>
              </a:rPr>
              <a:t>, nhưng đổi lại, ta có được </a:t>
            </a:r>
            <a:r>
              <a:rPr lang="vi-VN" b="1" i="1" dirty="0">
                <a:solidFill>
                  <a:schemeClr val="tx1"/>
                </a:solidFill>
                <a:latin typeface="Lato" panose="020F0502020204030203" pitchFamily="34" charset="0"/>
                <a:ea typeface="Lato" panose="020F0502020204030203" pitchFamily="34" charset="0"/>
                <a:cs typeface="Lato" panose="020F0502020204030203" pitchFamily="34" charset="0"/>
              </a:rPr>
              <a:t>một cấu trúc cực kỳ ổn định và đáng tin cậy</a:t>
            </a:r>
            <a:r>
              <a:rPr lang="vi-VN" i="1" dirty="0">
                <a:solidFill>
                  <a:schemeClr val="tx1"/>
                </a:solidFill>
                <a:latin typeface="Lato" panose="020F0502020204030203" pitchFamily="34" charset="0"/>
                <a:ea typeface="Lato" panose="020F0502020204030203" pitchFamily="34" charset="0"/>
                <a:cs typeface="Lato" panose="020F0502020204030203" pitchFamily="34" charset="0"/>
              </a:rPr>
              <a:t> trong hệ thống lớn.”</a:t>
            </a:r>
            <a:endParaRPr lang="en-VN" i="1" dirty="0">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79" name="Right Arrow 78">
            <a:extLst>
              <a:ext uri="{FF2B5EF4-FFF2-40B4-BE49-F238E27FC236}">
                <a16:creationId xmlns:a16="http://schemas.microsoft.com/office/drawing/2014/main" id="{404FD824-1478-BAF9-C0F0-A09F3F449787}"/>
              </a:ext>
            </a:extLst>
          </p:cNvPr>
          <p:cNvSpPr/>
          <p:nvPr/>
        </p:nvSpPr>
        <p:spPr>
          <a:xfrm>
            <a:off x="397772" y="5524717"/>
            <a:ext cx="965001" cy="293041"/>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VN"/>
          </a:p>
        </p:txBody>
      </p:sp>
    </p:spTree>
    <p:extLst>
      <p:ext uri="{BB962C8B-B14F-4D97-AF65-F5344CB8AC3E}">
        <p14:creationId xmlns:p14="http://schemas.microsoft.com/office/powerpoint/2010/main" val="644728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nodePh="1">
                                  <p:stCondLst>
                                    <p:cond delay="0"/>
                                  </p:stCondLst>
                                  <p:endCondLst>
                                    <p:cond evt="begin" delay="0">
                                      <p:tn val="29"/>
                                    </p:cond>
                                  </p:end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2" grpId="0"/>
      <p:bldP spid="17" grpId="0"/>
      <p:bldP spid="18" grpId="0"/>
      <p:bldP spid="26" grpId="0"/>
      <p:bldP spid="29" grpId="0"/>
      <p:bldP spid="39" grpId="0" animBg="1"/>
      <p:bldP spid="42" grpId="0" animBg="1"/>
      <p:bldP spid="47" grpId="0"/>
      <p:bldP spid="48" grpId="0"/>
      <p:bldP spid="49" grpId="0"/>
      <p:bldP spid="50" grpId="0"/>
      <p:bldP spid="54" grpId="0"/>
      <p:bldP spid="57" grpId="0"/>
      <p:bldP spid="59" grpId="0"/>
      <p:bldP spid="65" grpId="0"/>
      <p:bldP spid="68" grpId="0"/>
      <p:bldP spid="69" grpId="0"/>
      <p:bldP spid="72" grpId="0"/>
      <p:bldP spid="73" grpId="0"/>
      <p:bldP spid="74" grpId="0"/>
      <p:bldP spid="75" grpId="0" animBg="1"/>
      <p:bldP spid="76" grpId="0" animBg="1"/>
      <p:bldP spid="77" grpId="0" animBg="1"/>
      <p:bldP spid="78" grpId="0" animBg="1"/>
      <p:bldP spid="7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E207-A869-B342-B6D9-77005A268D98}"/>
              </a:ext>
            </a:extLst>
          </p:cNvPr>
          <p:cNvSpPr>
            <a:spLocks noGrp="1"/>
          </p:cNvSpPr>
          <p:nvPr>
            <p:ph type="title"/>
          </p:nvPr>
        </p:nvSpPr>
        <p:spPr/>
        <p:txBody>
          <a:bodyPr/>
          <a:lstStyle/>
          <a:p>
            <a:r>
              <a:rPr lang="en-US" dirty="0"/>
              <a:t>TÀI LIỆU THAM KHẢO</a:t>
            </a:r>
          </a:p>
        </p:txBody>
      </p:sp>
      <p:sp>
        <p:nvSpPr>
          <p:cNvPr id="5" name="Slide Number Placeholder 4">
            <a:extLst>
              <a:ext uri="{FF2B5EF4-FFF2-40B4-BE49-F238E27FC236}">
                <a16:creationId xmlns:a16="http://schemas.microsoft.com/office/drawing/2014/main" id="{853CF161-A6C1-F8C7-C9A5-5CD5BD5C176E}"/>
              </a:ext>
            </a:extLst>
          </p:cNvPr>
          <p:cNvSpPr>
            <a:spLocks noGrp="1"/>
          </p:cNvSpPr>
          <p:nvPr>
            <p:ph type="sldNum" sz="quarter" idx="12"/>
          </p:nvPr>
        </p:nvSpPr>
        <p:spPr/>
        <p:txBody>
          <a:bodyPr/>
          <a:lstStyle/>
          <a:p>
            <a:fld id="{9EA0BE3B-158A-4EDF-80DC-E394A0D1600F}" type="slidenum">
              <a:rPr lang="en-US" smtClean="0"/>
              <a:pPr/>
              <a:t>45</a:t>
            </a:fld>
            <a:endParaRPr lang="en-US" dirty="0"/>
          </a:p>
        </p:txBody>
      </p:sp>
      <p:sp>
        <p:nvSpPr>
          <p:cNvPr id="7" name="TextBox 6">
            <a:extLst>
              <a:ext uri="{FF2B5EF4-FFF2-40B4-BE49-F238E27FC236}">
                <a16:creationId xmlns:a16="http://schemas.microsoft.com/office/drawing/2014/main" id="{092334A0-2F76-F3F2-BF11-64C94FAFDE1C}"/>
              </a:ext>
            </a:extLst>
          </p:cNvPr>
          <p:cNvSpPr txBox="1"/>
          <p:nvPr/>
        </p:nvSpPr>
        <p:spPr>
          <a:xfrm>
            <a:off x="682831" y="1658435"/>
            <a:ext cx="7778337" cy="2862322"/>
          </a:xfrm>
          <a:prstGeom prst="rect">
            <a:avLst/>
          </a:prstGeom>
          <a:noFill/>
        </p:spPr>
        <p:txBody>
          <a:bodyPr wrap="square" rtlCol="0">
            <a:spAutoFit/>
          </a:bodyPr>
          <a:lstStyle/>
          <a:p>
            <a:pPr marL="342900" indent="-342900">
              <a:buFont typeface="+mj-lt"/>
              <a:buAutoNum type="arabicPeriod"/>
            </a:pPr>
            <a:r>
              <a:rPr lang="en-US" sz="2000" dirty="0">
                <a:latin typeface="Lato" panose="020F0502020204030203" pitchFamily="34" charset="0"/>
                <a:ea typeface="Lato" panose="020F0502020204030203" pitchFamily="34" charset="0"/>
                <a:cs typeface="Lato" panose="020F0502020204030203" pitchFamily="34" charset="0"/>
              </a:rPr>
              <a:t>Thomas H. </a:t>
            </a:r>
            <a:r>
              <a:rPr lang="en-US" sz="2000" dirty="0" err="1">
                <a:latin typeface="Lato" panose="020F0502020204030203" pitchFamily="34" charset="0"/>
                <a:ea typeface="Lato" panose="020F0502020204030203" pitchFamily="34" charset="0"/>
                <a:cs typeface="Lato" panose="020F0502020204030203" pitchFamily="34" charset="0"/>
              </a:rPr>
              <a:t>Cormen</a:t>
            </a:r>
            <a:r>
              <a:rPr lang="en-US" sz="2000" dirty="0">
                <a:latin typeface="Lato" panose="020F0502020204030203" pitchFamily="34" charset="0"/>
                <a:ea typeface="Lato" panose="020F0502020204030203" pitchFamily="34" charset="0"/>
                <a:cs typeface="Lato" panose="020F0502020204030203" pitchFamily="34" charset="0"/>
              </a:rPr>
              <a:t>, Charles E. </a:t>
            </a:r>
            <a:r>
              <a:rPr lang="en-US" sz="2000" dirty="0" err="1">
                <a:latin typeface="Lato" panose="020F0502020204030203" pitchFamily="34" charset="0"/>
                <a:ea typeface="Lato" panose="020F0502020204030203" pitchFamily="34" charset="0"/>
                <a:cs typeface="Lato" panose="020F0502020204030203" pitchFamily="34" charset="0"/>
              </a:rPr>
              <a:t>Leiserson</a:t>
            </a:r>
            <a:r>
              <a:rPr lang="en-US" sz="2000" dirty="0">
                <a:latin typeface="Lato" panose="020F0502020204030203" pitchFamily="34" charset="0"/>
                <a:ea typeface="Lato" panose="020F0502020204030203" pitchFamily="34" charset="0"/>
                <a:cs typeface="Lato" panose="020F0502020204030203" pitchFamily="34" charset="0"/>
              </a:rPr>
              <a:t>, Ronald L. Rivest, Clifford Stein, </a:t>
            </a:r>
            <a:r>
              <a:rPr lang="en-US" sz="2000" i="1" dirty="0" err="1">
                <a:latin typeface="Lato" panose="020F0502020204030203" pitchFamily="34" charset="0"/>
                <a:ea typeface="Lato" panose="020F0502020204030203" pitchFamily="34" charset="0"/>
                <a:cs typeface="Lato" panose="020F0502020204030203" pitchFamily="34" charset="0"/>
              </a:rPr>
              <a:t>Giới</a:t>
            </a:r>
            <a:r>
              <a:rPr lang="en-US" sz="2000" i="1" dirty="0">
                <a:latin typeface="Lato" panose="020F0502020204030203" pitchFamily="34" charset="0"/>
                <a:ea typeface="Lato" panose="020F0502020204030203" pitchFamily="34" charset="0"/>
                <a:cs typeface="Lato" panose="020F0502020204030203" pitchFamily="34" charset="0"/>
              </a:rPr>
              <a:t> </a:t>
            </a:r>
            <a:r>
              <a:rPr lang="en-US" sz="2000" i="1" dirty="0" err="1">
                <a:latin typeface="Lato" panose="020F0502020204030203" pitchFamily="34" charset="0"/>
                <a:ea typeface="Lato" panose="020F0502020204030203" pitchFamily="34" charset="0"/>
                <a:cs typeface="Lato" panose="020F0502020204030203" pitchFamily="34" charset="0"/>
              </a:rPr>
              <a:t>thiệu</a:t>
            </a:r>
            <a:r>
              <a:rPr lang="en-US" sz="2000" i="1" dirty="0">
                <a:latin typeface="Lato" panose="020F0502020204030203" pitchFamily="34" charset="0"/>
                <a:ea typeface="Lato" panose="020F0502020204030203" pitchFamily="34" charset="0"/>
                <a:cs typeface="Lato" panose="020F0502020204030203" pitchFamily="34" charset="0"/>
              </a:rPr>
              <a:t> </a:t>
            </a:r>
            <a:r>
              <a:rPr lang="en-US" sz="2000" i="1" dirty="0" err="1">
                <a:latin typeface="Lato" panose="020F0502020204030203" pitchFamily="34" charset="0"/>
                <a:ea typeface="Lato" panose="020F0502020204030203" pitchFamily="34" charset="0"/>
                <a:cs typeface="Lato" panose="020F0502020204030203" pitchFamily="34" charset="0"/>
              </a:rPr>
              <a:t>về</a:t>
            </a:r>
            <a:r>
              <a:rPr lang="en-US" sz="2000" i="1" dirty="0">
                <a:latin typeface="Lato" panose="020F0502020204030203" pitchFamily="34" charset="0"/>
                <a:ea typeface="Lato" panose="020F0502020204030203" pitchFamily="34" charset="0"/>
                <a:cs typeface="Lato" panose="020F0502020204030203" pitchFamily="34" charset="0"/>
              </a:rPr>
              <a:t> </a:t>
            </a:r>
            <a:r>
              <a:rPr lang="en-US" sz="2000" i="1" dirty="0" err="1">
                <a:latin typeface="Lato" panose="020F0502020204030203" pitchFamily="34" charset="0"/>
                <a:ea typeface="Lato" panose="020F0502020204030203" pitchFamily="34" charset="0"/>
                <a:cs typeface="Lato" panose="020F0502020204030203" pitchFamily="34" charset="0"/>
              </a:rPr>
              <a:t>Giải</a:t>
            </a:r>
            <a:r>
              <a:rPr lang="en-US" sz="2000" i="1" dirty="0">
                <a:latin typeface="Lato" panose="020F0502020204030203" pitchFamily="34" charset="0"/>
                <a:ea typeface="Lato" panose="020F0502020204030203" pitchFamily="34" charset="0"/>
                <a:cs typeface="Lato" panose="020F0502020204030203" pitchFamily="34" charset="0"/>
              </a:rPr>
              <a:t> </a:t>
            </a:r>
            <a:r>
              <a:rPr lang="en-US" sz="2000" i="1" dirty="0" err="1">
                <a:latin typeface="Lato" panose="020F0502020204030203" pitchFamily="34" charset="0"/>
                <a:ea typeface="Lato" panose="020F0502020204030203" pitchFamily="34" charset="0"/>
                <a:cs typeface="Lato" panose="020F0502020204030203" pitchFamily="34" charset="0"/>
              </a:rPr>
              <a:t>thuật</a:t>
            </a:r>
            <a:r>
              <a:rPr lang="en-US" sz="2000" i="1" dirty="0">
                <a:latin typeface="Lato" panose="020F0502020204030203" pitchFamily="34" charset="0"/>
                <a:ea typeface="Lato" panose="020F0502020204030203" pitchFamily="34" charset="0"/>
                <a:cs typeface="Lato" panose="020F0502020204030203" pitchFamily="34" charset="0"/>
              </a:rPr>
              <a:t> (Introduction to Algorithms)</a:t>
            </a:r>
            <a:r>
              <a:rPr lang="en-US" sz="2000" dirty="0">
                <a:latin typeface="Lato" panose="020F0502020204030203" pitchFamily="34" charset="0"/>
                <a:ea typeface="Lato" panose="020F0502020204030203" pitchFamily="34" charset="0"/>
                <a:cs typeface="Lato" panose="020F0502020204030203" pitchFamily="34" charset="0"/>
              </a:rPr>
              <a:t>, 3rd Edition, The MIT Press, 2009.</a:t>
            </a:r>
          </a:p>
          <a:p>
            <a:pPr marL="342900" indent="-342900">
              <a:buFont typeface="+mj-lt"/>
              <a:buAutoNum type="arabicPeriod"/>
            </a:pPr>
            <a:r>
              <a:rPr lang="en-US" sz="2000" dirty="0">
                <a:latin typeface="Lato" panose="020F0502020204030203" pitchFamily="34" charset="0"/>
                <a:ea typeface="Lato" panose="020F0502020204030203" pitchFamily="34" charset="0"/>
                <a:cs typeface="Lato" panose="020F0502020204030203" pitchFamily="34" charset="0"/>
              </a:rPr>
              <a:t>T</a:t>
            </a:r>
            <a:r>
              <a:rPr lang="vi-VN" sz="2000" dirty="0">
                <a:latin typeface="Lato" panose="020F0502020204030203" pitchFamily="34" charset="0"/>
                <a:ea typeface="Lato" panose="020F0502020204030203" pitchFamily="34" charset="0"/>
                <a:cs typeface="Lato" panose="020F0502020204030203" pitchFamily="34" charset="0"/>
              </a:rPr>
              <a:t>ài liệu bài giảng môn </a:t>
            </a:r>
            <a:r>
              <a:rPr lang="vi-VN" sz="2000" b="1" dirty="0">
                <a:latin typeface="Lato" panose="020F0502020204030203" pitchFamily="34" charset="0"/>
                <a:ea typeface="Lato" panose="020F0502020204030203" pitchFamily="34" charset="0"/>
                <a:cs typeface="Lato" panose="020F0502020204030203" pitchFamily="34" charset="0"/>
              </a:rPr>
              <a:t>Cấu trúc dữ liệu &amp; Giải thuật</a:t>
            </a:r>
            <a:r>
              <a:rPr lang="vi-VN" sz="2000" dirty="0">
                <a:latin typeface="Lato" panose="020F0502020204030203" pitchFamily="34" charset="0"/>
                <a:ea typeface="Lato" panose="020F0502020204030203" pitchFamily="34" charset="0"/>
                <a:cs typeface="Lato" panose="020F0502020204030203" pitchFamily="34" charset="0"/>
              </a:rPr>
              <a:t>, Đại học Bách Khoa Hà Nội.</a:t>
            </a:r>
          </a:p>
          <a:p>
            <a:pPr marL="342900" indent="-342900">
              <a:buFont typeface="+mj-lt"/>
              <a:buAutoNum type="arabicPeriod"/>
            </a:pPr>
            <a:r>
              <a:rPr lang="en-US" sz="2000" dirty="0">
                <a:latin typeface="Lato" panose="020F0502020204030203" pitchFamily="34" charset="0"/>
                <a:ea typeface="Lato" panose="020F0502020204030203" pitchFamily="34" charset="0"/>
                <a:cs typeface="Lato" panose="020F0502020204030203" pitchFamily="34" charset="0"/>
              </a:rPr>
              <a:t>Website </a:t>
            </a:r>
            <a:r>
              <a:rPr lang="en-US" sz="2000" dirty="0" err="1">
                <a:latin typeface="Lato" panose="020F0502020204030203" pitchFamily="34" charset="0"/>
                <a:ea typeface="Lato" panose="020F0502020204030203" pitchFamily="34" charset="0"/>
                <a:cs typeface="Lato" panose="020F0502020204030203" pitchFamily="34" charset="0"/>
              </a:rPr>
              <a:t>tham</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err="1">
                <a:latin typeface="Lato" panose="020F0502020204030203" pitchFamily="34" charset="0"/>
                <a:ea typeface="Lato" panose="020F0502020204030203" pitchFamily="34" charset="0"/>
                <a:cs typeface="Lato" panose="020F0502020204030203" pitchFamily="34" charset="0"/>
              </a:rPr>
              <a:t>khảo</a:t>
            </a:r>
            <a:r>
              <a:rPr lang="en-US" sz="2000" dirty="0">
                <a:latin typeface="Lato" panose="020F0502020204030203" pitchFamily="34" charset="0"/>
                <a:ea typeface="Lato" panose="020F0502020204030203" pitchFamily="34" charset="0"/>
                <a:cs typeface="Lato" panose="020F0502020204030203" pitchFamily="34" charset="0"/>
              </a:rPr>
              <a:t>: </a:t>
            </a:r>
          </a:p>
          <a:p>
            <a:pPr marL="742950" lvl="1" indent="-285750">
              <a:buFont typeface="Arial" panose="020B0604020202020204" pitchFamily="34" charset="0"/>
              <a:buChar char="•"/>
            </a:pPr>
            <a:r>
              <a:rPr lang="en-US" sz="2000" dirty="0" err="1">
                <a:latin typeface="Lato" panose="020F0502020204030203" pitchFamily="34" charset="0"/>
                <a:ea typeface="Lato" panose="020F0502020204030203" pitchFamily="34" charset="0"/>
                <a:cs typeface="Lato" panose="020F0502020204030203" pitchFamily="34" charset="0"/>
              </a:rPr>
              <a:t>Visualgo</a:t>
            </a:r>
            <a:r>
              <a:rPr lang="en-US" sz="2000" dirty="0">
                <a:latin typeface="Lato" panose="020F0502020204030203" pitchFamily="34" charset="0"/>
                <a:ea typeface="Lato" panose="020F0502020204030203" pitchFamily="34" charset="0"/>
                <a:cs typeface="Lato" panose="020F0502020204030203" pitchFamily="34" charset="0"/>
              </a:rPr>
              <a:t> – </a:t>
            </a:r>
            <a:r>
              <a:rPr lang="en-US" sz="2000" dirty="0">
                <a:latin typeface="Lato" panose="020F0502020204030203" pitchFamily="34" charset="0"/>
                <a:ea typeface="Lato" panose="020F0502020204030203" pitchFamily="34" charset="0"/>
                <a:cs typeface="Lato" panose="020F0502020204030203" pitchFamily="34" charset="0"/>
                <a:hlinkClick r:id="rId2"/>
              </a:rPr>
              <a:t>Red-Black Tree Animation</a:t>
            </a:r>
            <a:endParaRPr lang="en-US" sz="2000" dirty="0">
              <a:latin typeface="Lato" panose="020F0502020204030203" pitchFamily="34" charset="0"/>
              <a:ea typeface="Lato" panose="020F0502020204030203" pitchFamily="34" charset="0"/>
              <a:cs typeface="Lato" panose="020F0502020204030203" pitchFamily="34" charset="0"/>
            </a:endParaRPr>
          </a:p>
          <a:p>
            <a:pPr marL="742950" lvl="1" indent="-285750">
              <a:buFont typeface="Arial" panose="020B0604020202020204" pitchFamily="34" charset="0"/>
              <a:buChar char="•"/>
            </a:pPr>
            <a:r>
              <a:rPr lang="en-US" sz="2000" dirty="0" err="1">
                <a:latin typeface="Lato" panose="020F0502020204030203" pitchFamily="34" charset="0"/>
                <a:ea typeface="Lato" panose="020F0502020204030203" pitchFamily="34" charset="0"/>
                <a:cs typeface="Lato" panose="020F0502020204030203" pitchFamily="34" charset="0"/>
              </a:rPr>
              <a:t>Programiz</a:t>
            </a:r>
            <a:r>
              <a:rPr lang="en-US" sz="2000" dirty="0">
                <a:latin typeface="Lato" panose="020F0502020204030203" pitchFamily="34" charset="0"/>
                <a:ea typeface="Lato" panose="020F0502020204030203" pitchFamily="34" charset="0"/>
                <a:cs typeface="Lato" panose="020F0502020204030203" pitchFamily="34" charset="0"/>
              </a:rPr>
              <a:t> – </a:t>
            </a:r>
            <a:r>
              <a:rPr lang="en-US" sz="2000" dirty="0">
                <a:latin typeface="Lato" panose="020F0502020204030203" pitchFamily="34" charset="0"/>
                <a:ea typeface="Lato" panose="020F0502020204030203" pitchFamily="34" charset="0"/>
                <a:cs typeface="Lato" panose="020F0502020204030203" pitchFamily="34" charset="0"/>
                <a:hlinkClick r:id="rId3"/>
              </a:rPr>
              <a:t>Red-Black Tree</a:t>
            </a:r>
            <a:endParaRPr lang="en-US" sz="2000" dirty="0">
              <a:latin typeface="Lato" panose="020F0502020204030203" pitchFamily="34" charset="0"/>
              <a:ea typeface="Lato" panose="020F0502020204030203" pitchFamily="34" charset="0"/>
              <a:cs typeface="Lato" panose="020F0502020204030203" pitchFamily="34" charset="0"/>
            </a:endParaRPr>
          </a:p>
          <a:p>
            <a:pPr marL="742950" lvl="1" indent="-285750">
              <a:buFont typeface="Arial" panose="020B0604020202020204" pitchFamily="34" charset="0"/>
              <a:buChar char="•"/>
            </a:pPr>
            <a:r>
              <a:rPr lang="en-US" sz="2000" dirty="0">
                <a:latin typeface="Lato" panose="020F0502020204030203" pitchFamily="34" charset="0"/>
                <a:ea typeface="Lato" panose="020F0502020204030203" pitchFamily="34" charset="0"/>
                <a:cs typeface="Lato" panose="020F0502020204030203" pitchFamily="34" charset="0"/>
              </a:rPr>
              <a:t>Wikipedia – </a:t>
            </a:r>
            <a:r>
              <a:rPr lang="en-US" sz="2000" dirty="0">
                <a:latin typeface="Lato" panose="020F0502020204030203" pitchFamily="34" charset="0"/>
                <a:ea typeface="Lato" panose="020F0502020204030203" pitchFamily="34" charset="0"/>
                <a:cs typeface="Lato" panose="020F0502020204030203" pitchFamily="34" charset="0"/>
                <a:hlinkClick r:id="rId4"/>
              </a:rPr>
              <a:t>Red-Black Tree</a:t>
            </a:r>
            <a:endParaRPr lang="en-US" sz="2000"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35617782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46</a:t>
            </a:fld>
            <a:endParaRPr lang="en-US" dirty="0"/>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dirty="0"/>
              <a:t>THANK YOU !</a:t>
            </a:r>
          </a:p>
        </p:txBody>
      </p:sp>
    </p:spTree>
    <p:extLst>
      <p:ext uri="{BB962C8B-B14F-4D97-AF65-F5344CB8AC3E}">
        <p14:creationId xmlns:p14="http://schemas.microsoft.com/office/powerpoint/2010/main" val="28305356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1504</TotalTime>
  <Words>3257</Words>
  <Application>Microsoft Macintosh PowerPoint</Application>
  <PresentationFormat>On-screen Show (4:3)</PresentationFormat>
  <Paragraphs>578</Paragraphs>
  <Slides>46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Agrandir Bold</vt:lpstr>
      <vt:lpstr>Arial</vt:lpstr>
      <vt:lpstr>Calibri</vt:lpstr>
      <vt:lpstr>Cambria Math</vt:lpstr>
      <vt:lpstr>Lato</vt:lpstr>
      <vt:lpstr>Wingdings</vt:lpstr>
      <vt:lpstr>Office Theme</vt:lpstr>
      <vt:lpstr>PowerPoint Presentation</vt:lpstr>
      <vt:lpstr>PROJECT 1</vt:lpstr>
      <vt:lpstr>PowerPoint Presentation</vt:lpstr>
      <vt:lpstr>ĐẶT VẤN ĐỀ</vt:lpstr>
      <vt:lpstr>ĐẶT VẤN ĐỀ</vt:lpstr>
      <vt:lpstr>ĐẶT VẤN ĐỀ</vt:lpstr>
      <vt:lpstr>ĐẶT VẤN ĐỀ</vt:lpstr>
      <vt:lpstr>ĐỊNH NGHĨA VỀ CÂY ĐỎ ĐEN</vt:lpstr>
      <vt:lpstr>ĐỊNH NGHĨA VỀ CÂY ĐỎ ĐEN</vt:lpstr>
      <vt:lpstr>CẤU TRÚC VÀ TÍNH CHẤT</vt:lpstr>
      <vt:lpstr>CẤU TRÚC VÀ TÍNH CHẤT</vt:lpstr>
      <vt:lpstr>CẤU TRÚC VÀ TÍNH CHẤT</vt:lpstr>
      <vt:lpstr>THAO TÁC CƠ BẢN</vt:lpstr>
      <vt:lpstr>THAO TÁC CƠ BẢN</vt:lpstr>
      <vt:lpstr>THAO TÁC CƠ BẢN</vt:lpstr>
      <vt:lpstr>THAO TÁC CƠ BẢN</vt:lpstr>
      <vt:lpstr>THAO TÁC CƠ BẢN</vt:lpstr>
      <vt:lpstr>THAO TÁC CƠ BẢN</vt:lpstr>
      <vt:lpstr>THAO TÁC CƠ BẢN</vt:lpstr>
      <vt:lpstr>THAO TÁC CƠ BẢN</vt:lpstr>
      <vt:lpstr>THAO TÁC CƠ BẢN</vt:lpstr>
      <vt:lpstr>THAO TÁC CƠ BẢN</vt:lpstr>
      <vt:lpstr>THAO TÁC CƠ BẢN</vt:lpstr>
      <vt:lpstr>THAO TÁC CƠ BẢN</vt:lpstr>
      <vt:lpstr>THAO TÁC CƠ BẢN</vt:lpstr>
      <vt:lpstr>THAO TÁC CƠ BẢN</vt:lpstr>
      <vt:lpstr>THAO TÁC CƠ BẢN</vt:lpstr>
      <vt:lpstr>THAO TÁC CƠ BẢN</vt:lpstr>
      <vt:lpstr>THAO TÁC CƠ BẢN</vt:lpstr>
      <vt:lpstr>THAO TÁC CƠ BẢN</vt:lpstr>
      <vt:lpstr>THAO TÁC CƠ BẢN</vt:lpstr>
      <vt:lpstr>THAO TÁC CƠ BẢN</vt:lpstr>
      <vt:lpstr>THAO TÁC CƠ BẢN</vt:lpstr>
      <vt:lpstr>THAO TÁC CƠ BẢN</vt:lpstr>
      <vt:lpstr>THAO TÁC CƠ BẢN</vt:lpstr>
      <vt:lpstr>THAO TÁC CƠ BẢN</vt:lpstr>
      <vt:lpstr>ỨNG DỤNG THỰC TẾ</vt:lpstr>
      <vt:lpstr>ỨNG DỤNG THỰC TẾ</vt:lpstr>
      <vt:lpstr>ỨNG DỤNG THỰC TẾ</vt:lpstr>
      <vt:lpstr>ỨNG DỤNG THỰC TẾ</vt:lpstr>
      <vt:lpstr>ỨNG DỤNG THỰC TẾ</vt:lpstr>
      <vt:lpstr>ỨNG DỤNG THỰC TẾ</vt:lpstr>
      <vt:lpstr>ỨNG DỤNG THỰC TẾ</vt:lpstr>
      <vt:lpstr>KẾT LUẬN</vt:lpstr>
      <vt:lpstr>TÀI LIỆU THAM KHẢO</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Loc Thi Van Anh 20215523</cp:lastModifiedBy>
  <cp:revision>27</cp:revision>
  <cp:lastPrinted>2025-10-23T09:33:38Z</cp:lastPrinted>
  <dcterms:created xsi:type="dcterms:W3CDTF">2021-05-28T04:32:29Z</dcterms:created>
  <dcterms:modified xsi:type="dcterms:W3CDTF">2025-10-29T12:25:50Z</dcterms:modified>
</cp:coreProperties>
</file>